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docProps/custom.xml" ContentType="application/vnd.openxmlformats-officedocument.custom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s/slide21.xml" ContentType="application/vnd.openxmlformats-officedocument.presentationml.slide+xml"/>
  <Override PartName="/ppt/slides/slide1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slides/slide15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2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8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9.xml" ContentType="application/vnd.openxmlformats-officedocument.presentationml.slid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1" Type="http://schemas.openxmlformats.org/package/2006/relationships/metadata/core-properties" Target="docProps/core.xml" /><Relationship Id="rId0" Type="http://schemas.openxmlformats.org/officeDocument/2006/relationships/officeDocument" Target="ppt/presentation.xml" /><Relationship Id="rId2" Type="http://schemas.openxmlformats.org/officeDocument/2006/relationships/extended-properties" Target="docProps/app.xml" /><Relationship Id="rId3" Type="http://schemas.openxmlformats.org/officeDocument/2006/relationships/custom-properties" Target="docProps/custom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24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24" Type="http://schemas.openxmlformats.org/officeDocument/2006/relationships/notesMaster" Target="notesMasters/notesMaster1.xml" /><Relationship Id="rId0" Type="http://schemas.openxmlformats.org/officeDocument/2006/relationships/slideMaster" Target="slideMasters/slideMaster1.xml" /><Relationship Id="rId1" Type="http://schemas.openxmlformats.org/officeDocument/2006/relationships/slide" Target="slides/slide1.xml" /><Relationship Id="rId12" Type="http://schemas.openxmlformats.org/officeDocument/2006/relationships/slide" Target="slides/slide12.xml" /><Relationship Id="rId11" Type="http://schemas.openxmlformats.org/officeDocument/2006/relationships/slide" Target="slides/slide11.xml" /><Relationship Id="rId10" Type="http://schemas.openxmlformats.org/officeDocument/2006/relationships/slide" Target="slides/slide10.xml" /><Relationship Id="rId15" Type="http://schemas.openxmlformats.org/officeDocument/2006/relationships/slide" Target="slides/slide15.xml" /><Relationship Id="rId13" Type="http://schemas.openxmlformats.org/officeDocument/2006/relationships/slide" Target="slides/slide13.xml" /><Relationship Id="rId14" Type="http://schemas.openxmlformats.org/officeDocument/2006/relationships/slide" Target="slides/slide14.xml" /><Relationship Id="rId6" Type="http://schemas.openxmlformats.org/officeDocument/2006/relationships/slide" Target="slides/slide6.xml" /><Relationship Id="rId16" Type="http://schemas.openxmlformats.org/officeDocument/2006/relationships/slide" Target="slides/slide16.xml" /><Relationship Id="rId17" Type="http://schemas.openxmlformats.org/officeDocument/2006/relationships/slide" Target="slides/slide17.xml" /><Relationship Id="rId25" Type="http://schemas.openxmlformats.org/officeDocument/2006/relationships/presProps" Target="presProps.xml" /><Relationship Id="rId18" Type="http://schemas.openxmlformats.org/officeDocument/2006/relationships/slide" Target="slides/slide18.xml" /><Relationship Id="rId19" Type="http://schemas.openxmlformats.org/officeDocument/2006/relationships/slide" Target="slides/slide19.xml" /><Relationship Id="rId2" Type="http://schemas.openxmlformats.org/officeDocument/2006/relationships/slide" Target="slides/slide2.xml" /><Relationship Id="rId20" Type="http://schemas.openxmlformats.org/officeDocument/2006/relationships/slide" Target="slides/slide20.xml" /><Relationship Id="rId21" Type="http://schemas.openxmlformats.org/officeDocument/2006/relationships/slide" Target="slides/slide21.xml" /><Relationship Id="rId8" Type="http://schemas.openxmlformats.org/officeDocument/2006/relationships/slide" Target="slides/slide8.xml" /><Relationship Id="rId22" Type="http://schemas.openxmlformats.org/officeDocument/2006/relationships/slide" Target="slides/slide22.xml" /><Relationship Id="rId3" Type="http://schemas.openxmlformats.org/officeDocument/2006/relationships/slide" Target="slides/slide3.xml" /><Relationship Id="rId23" Type="http://schemas.openxmlformats.org/officeDocument/2006/relationships/slide" Target="slides/slide23.xml" /><Relationship Id="rId26" Type="http://schemas.openxmlformats.org/officeDocument/2006/relationships/tableStyles" Target="tableStyles.xml" /><Relationship Id="rId27" Type="http://schemas.openxmlformats.org/officeDocument/2006/relationships/viewProps" Target="viewProps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7" Type="http://schemas.openxmlformats.org/officeDocument/2006/relationships/slide" Target="slides/slide7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0.png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1.png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png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.png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3.png" /></Relationships>
</file>

<file path=ppt/slides/_rels/slide1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image" Target="media/image4.png" /><Relationship Id="rId0" Type="http://schemas.openxmlformats.org/officeDocument/2006/relationships/slideLayout" Target="../slideLayouts/slideLayout1.xml" /></Relationships>
</file>

<file path=ppt/slides/_rels/slide1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png" /></Relationships>
</file>

<file path=ppt/slides/_rels/slide1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6.png" /></Relationships>
</file>

<file path=ppt/slides/_rels/slide1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7.png" /></Relationships>
</file>

<file path=ppt/slides/_rels/slide1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8.png" /><Relationship Id="rId2" Type="http://schemas.openxmlformats.org/officeDocument/2006/relationships/image" Target="media/image9.png" /></Relationships>
</file>

<file path=ppt/slides/_rels/slide2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B1220"/>
              </a:gs>
              <a:gs pos="100000">
                <a:srgbClr val="16203A"/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3" name=""/>
          <p:cNvSpPr/>
          <p:nvPr/>
        </p:nvSpPr>
        <p:spPr>
          <a:xfrm rot="0" flipH="0" flipV="0">
            <a:off x="7048500" y="0"/>
            <a:ext cx="5143500" cy="5143500"/>
          </a:xfrm>
          <a:prstGeom prst="rect">
            <a:avLst/>
          </a:prstGeom>
          <a:gradFill>
            <a:gsLst>
              <a:gs pos="0">
                <a:srgbClr val="38BDF8">
                  <a:alpha val="14000"/>
                </a:srgbClr>
              </a:gs>
              <a:gs pos="70000">
                <a:srgbClr val="FFFF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/>
          <a:p>
            <a:pPr/>
            <a:endParaRPr/>
          </a:p>
        </p:txBody>
      </p:sp>
      <p:sp>
        <p:nvSpPr>
          <p:cNvPr id="4" name=""/>
          <p:cNvSpPr/>
          <p:nvPr/>
        </p:nvSpPr>
        <p:spPr>
          <a:xfrm rot="0" flipH="0" flipV="0">
            <a:off x="-666750" y="4095750"/>
            <a:ext cx="3619500" cy="3619500"/>
          </a:xfrm>
          <a:prstGeom prst="rect">
            <a:avLst/>
          </a:prstGeom>
          <a:gradFill>
            <a:gsLst>
              <a:gs pos="0">
                <a:srgbClr val="F97316">
                  <a:alpha val="12000"/>
                </a:srgbClr>
              </a:gs>
              <a:gs pos="70000">
                <a:srgbClr val="FFFF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/>
          <a:p>
            <a:pPr/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1828800"/>
            <a:ext cx="109728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 spc="375">
                <a:solidFill>
                  <a:srgbClr val="94A3B8"/>
                </a:solidFill>
                <a:latin typeface="Microsoft YaHei"/>
                <a:ea typeface="Microsoft YaHei"/>
              </a:rPr>
              <a:t>VECTOR · CANoe AI MASTERCLASS</a:t>
            </a:r>
            <a:endParaRPr/>
          </a:p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609600" y="2228850"/>
            <a:ext cx="10972800" cy="847725"/>
          </a:xfrm>
          <a:prstGeom prst="rect"/>
        </p:spPr>
        <p:txBody>
          <a:bodyPr wrap="none" lIns="0" tIns="0" rIns="0" bIns="0"/>
          <a:p>
            <a:pPr>
              <a:lnSpc>
                <a:spcPct val="112000"/>
              </a:lnSpc>
            </a:pPr>
            <a:r>
              <a:rPr lang="zh-CN" sz="4950" b="1">
                <a:solidFill>
                  <a:srgbClr val="E5EDF7"/>
                </a:solidFill>
                <a:latin typeface="Microsoft YaHei"/>
                <a:ea typeface="Microsoft YaHei"/>
              </a:rPr>
              <a:t>用</a:t>
            </a:r>
            <a:r>
              <a:rPr lang="en-US" sz="4950" b="1">
                <a:solidFill>
                  <a:srgbClr val="E5EDF7"/>
                </a:solidFill>
                <a:latin typeface="Microsoft YaHei"/>
                <a:ea typeface="Microsoft YaHei"/>
              </a:rPr>
              <a:t xml:space="preserve"> AI </a:t>
            </a:r>
            <a:r>
              <a:rPr lang="zh-CN" sz="4950" b="1">
                <a:solidFill>
                  <a:srgbClr val="E5EDF7"/>
                </a:solidFill>
                <a:latin typeface="Microsoft YaHei"/>
                <a:ea typeface="Microsoft YaHei"/>
              </a:rPr>
              <a:t>加速</a:t>
            </a:r>
            <a:r>
              <a:rPr lang="en-US" sz="4950" b="1">
                <a:solidFill>
                  <a:srgbClr val="E5EDF7"/>
                </a:solidFill>
                <a:latin typeface="Microsoft YaHei"/>
                <a:ea typeface="Microsoft YaHei"/>
              </a:rPr>
              <a:t xml:space="preserve"> CANoe </a:t>
            </a:r>
            <a:r>
              <a:rPr lang="zh-CN" sz="4950" b="1">
                <a:solidFill>
                  <a:srgbClr val="E5EDF7"/>
                </a:solidFill>
                <a:latin typeface="Microsoft YaHei"/>
                <a:ea typeface="Microsoft YaHei"/>
              </a:rPr>
              <a:t>工作流</a:t>
            </a:r>
            <a:endParaRPr/>
          </a:p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3248025"/>
            <a:ext cx="109728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00" b="1">
                <a:solidFill>
                  <a:srgbClr val="38BDF8"/>
                </a:solidFill>
                <a:latin typeface="Microsoft YaHei"/>
                <a:ea typeface="Microsoft YaHei"/>
              </a:rPr>
              <a:t>Accelerate Your Workflows in CANoe with AI &amp; MCP</a:t>
            </a:r>
            <a:endParaRPr/>
          </a:p>
        </p:txBody>
      </p:sp>
      <p:sp>
        <p:nvSpPr>
          <p:cNvPr id="8" name=""/>
          <p:cNvSpPr/>
          <p:nvPr/>
        </p:nvSpPr>
        <p:spPr>
          <a:xfrm rot="0" flipH="0" flipV="0">
            <a:off x="609600" y="3800475"/>
            <a:ext cx="1143000" cy="38100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p>
            <a:pPr/>
            <a:endParaRPr/>
          </a:p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609600" y="4086225"/>
            <a:ext cx="10972800" cy="4095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650">
                <a:solidFill>
                  <a:srgbClr val="94A3B8"/>
                </a:solidFill>
                <a:latin typeface="Microsoft YaHei"/>
                <a:ea typeface="Microsoft YaHei"/>
              </a:rPr>
              <a:t>网络研讨会纪要分享</a:t>
            </a:r>
            <a:r>
              <a:rPr lang="en-US" sz="1650">
                <a:solidFill>
                  <a:srgbClr val="94A3B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650">
                <a:solidFill>
                  <a:srgbClr val="94A3B8"/>
                </a:solidFill>
                <a:latin typeface="Microsoft YaHei"/>
                <a:ea typeface="Microsoft YaHei"/>
              </a:rPr>
              <a:t>团队技术复盘</a:t>
            </a:r>
            <a:r>
              <a:rPr lang="en-US" sz="1650">
                <a:solidFill>
                  <a:srgbClr val="94A3B8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650">
                <a:solidFill>
                  <a:srgbClr val="94A3B8"/>
                </a:solidFill>
                <a:latin typeface="Microsoft YaHei"/>
                <a:ea typeface="Microsoft YaHei"/>
              </a:rPr>
              <a:t>个人存档</a:t>
            </a:r>
            <a:endParaRPr/>
          </a:p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609600" y="4800600"/>
            <a:ext cx="15049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E5EDF7"/>
                </a:solidFill>
                <a:latin typeface="Microsoft YaHei"/>
                <a:ea typeface="Microsoft YaHei"/>
              </a:rPr>
              <a:t>日期</a:t>
            </a:r>
            <a:r>
              <a:rPr lang="en-US" sz="1500">
                <a:solidFill>
                  <a:srgbClr val="E5EDF7"/>
                </a:solidFill>
                <a:latin typeface="Microsoft YaHei"/>
                <a:ea typeface="Microsoft YaHei"/>
              </a:rPr>
              <a:t xml:space="preserve"> 2026-10-13</a:t>
            </a:r>
            <a:endParaRPr/>
          </a:p>
        </p:txBody>
      </p:sp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2419350" y="4800600"/>
            <a:ext cx="18573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E5EDF7"/>
                </a:solidFill>
                <a:latin typeface="Microsoft YaHei"/>
                <a:ea typeface="Microsoft YaHei"/>
              </a:rPr>
              <a:t>主讲</a:t>
            </a:r>
            <a:r>
              <a:rPr lang="en-US" sz="1500">
                <a:solidFill>
                  <a:srgbClr val="E5EDF7"/>
                </a:solidFill>
                <a:latin typeface="Microsoft YaHei"/>
                <a:ea typeface="Microsoft YaHei"/>
              </a:rPr>
              <a:t xml:space="preserve"> Daniela · Tobias</a:t>
            </a:r>
            <a:endParaRPr/>
          </a:p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4581525" y="4800600"/>
            <a:ext cx="15240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E5EDF7"/>
                </a:solidFill>
                <a:latin typeface="Microsoft YaHei"/>
                <a:ea typeface="Microsoft YaHei"/>
              </a:rPr>
              <a:t>答疑</a:t>
            </a:r>
            <a:r>
              <a:rPr lang="en-US" sz="1500">
                <a:solidFill>
                  <a:srgbClr val="E5EDF7"/>
                </a:solidFill>
                <a:latin typeface="Microsoft YaHei"/>
                <a:ea typeface="Microsoft YaHei"/>
              </a:rPr>
              <a:t xml:space="preserve"> David Kruse</a:t>
            </a:r>
            <a:endParaRPr/>
          </a:p>
        </p:txBody>
      </p:sp>
      <p:sp>
        <p:nvSpPr>
          <p:cNvPr id="13" name=""/>
          <p:cNvSpPr/>
          <p:nvPr/>
        </p:nvSpPr>
        <p:spPr>
          <a:xfrm rot="0" flipH="0" flipV="0">
            <a:off x="609600" y="6200775"/>
            <a:ext cx="10972800" cy="342900"/>
          </a:xfrm>
          <a:custGeom>
            <a:pathLst>
              <a:path w="1152" h="36">
                <a:moveTo>
                  <a:pt x="0" y="0"/>
                </a:moveTo>
                <a:lnTo>
                  <a:pt x="1152" y="0"/>
                </a:lnTo>
                <a:lnTo>
                  <a:pt x="1152" y="1"/>
                </a:lnTo>
                <a:lnTo>
                  <a:pt x="0" y="1"/>
                </a:lnTo>
                <a:close/>
              </a:path>
            </a:pathLst>
          </a:custGeom>
          <a:solidFill>
            <a:srgbClr val="94A3B8">
              <a:alpha val="25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609600" y="6343650"/>
            <a:ext cx="23145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Vector Informatik ·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汽车工业软件</a:t>
            </a:r>
            <a:endParaRPr/>
          </a:p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8086725" y="6343650"/>
            <a:ext cx="34956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Next Horizons · 11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月开放报名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nexthorizons.com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9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>
            <a:pPr/>
            <a:endParaRPr/>
          </a:p>
        </p:txBody>
      </p:sp>
      <p:sp>
        <p:nvSpPr>
          <p:cNvPr id="192" name=""/>
          <p:cNvSpPr/>
          <p:nvPr/>
        </p:nvSpPr>
        <p:spPr>
          <a:xfrm rot="0" flipH="0" flipV="0">
            <a:off x="609600" y="504825"/>
            <a:ext cx="1362075" cy="638175"/>
          </a:xfrm>
          <a:custGeom>
            <a:pathLst>
              <a:path w="143" h="67">
                <a:moveTo>
                  <a:pt x="0" y="0"/>
                </a:moveTo>
                <a:lnTo>
                  <a:pt x="6" y="0"/>
                </a:lnTo>
                <a:lnTo>
                  <a:pt x="6" y="67"/>
                </a:lnTo>
                <a:lnTo>
                  <a:pt x="0" y="67"/>
                </a:lnTo>
                <a:close/>
              </a:path>
            </a:pathLst>
          </a:custGeom>
          <a:solidFill>
            <a:srgbClr val="38BDF8"/>
          </a:solidFill>
          <a:ln/>
        </p:spPr>
        <p:txBody>
          <a:bodyPr/>
          <a:p>
            <a:pPr/>
            <a:endParaRPr/>
          </a:p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838200" y="504825"/>
            <a:ext cx="107632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E5EDF7"/>
                </a:solidFill>
                <a:latin typeface="Microsoft YaHei"/>
                <a:ea typeface="Microsoft YaHei"/>
              </a:rPr>
              <a:t>目录</a:t>
            </a:r>
            <a:endParaRPr/>
          </a:p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838200" y="933450"/>
            <a:ext cx="10763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spc="150">
                <a:solidFill>
                  <a:srgbClr val="94A3B8"/>
                </a:solidFill>
                <a:latin typeface="Microsoft YaHei"/>
                <a:ea typeface="Microsoft YaHei"/>
              </a:rPr>
              <a:t>CONTENTS</a:t>
            </a:r>
            <a:endParaRPr/>
          </a:p>
        </p:txBody>
      </p:sp>
      <p:sp>
        <p:nvSpPr>
          <p:cNvPr id="195" name="" descr="{&quot;isTemplate&quot;:true,&quot;type&quot;:&quot;text&quot;}"/>
          <p:cNvSpPr txBox="1"/>
          <p:nvPr/>
        </p:nvSpPr>
        <p:spPr>
          <a:xfrm rot="0" flipH="0" flipV="0">
            <a:off x="609600" y="2876550"/>
            <a:ext cx="3400425" cy="1371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0" b="1">
                <a:solidFill>
                  <a:srgbClr val="16203A"/>
                </a:solidFill>
                <a:latin typeface="Microsoft YaHei"/>
                <a:ea typeface="Microsoft YaHei"/>
              </a:rPr>
              <a:t>05</a:t>
            </a:r>
            <a:endParaRPr/>
          </a:p>
        </p:txBody>
      </p:sp>
      <p:sp>
        <p:nvSpPr>
          <p:cNvPr id="196" name="" descr="{&quot;isTemplate&quot;:true,&quot;type&quot;:&quot;text&quot;}"/>
          <p:cNvSpPr txBox="1"/>
          <p:nvPr/>
        </p:nvSpPr>
        <p:spPr>
          <a:xfrm rot="0" flipH="0" flipV="0">
            <a:off x="609600" y="4324350"/>
            <a:ext cx="34004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94A3B8"/>
                </a:solidFill>
                <a:latin typeface="Microsoft YaHei"/>
                <a:ea typeface="Microsoft YaHei"/>
              </a:rPr>
              <a:t>五大章节</a:t>
            </a:r>
            <a:r>
              <a:rPr lang="en-US" sz="1500">
                <a:solidFill>
                  <a:srgbClr val="94A3B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500">
                <a:solidFill>
                  <a:srgbClr val="94A3B8"/>
                </a:solidFill>
                <a:latin typeface="Microsoft YaHei"/>
                <a:ea typeface="Microsoft YaHei"/>
              </a:rPr>
              <a:t>从背景到路线图</a:t>
            </a:r>
            <a:endParaRPr/>
          </a:p>
        </p:txBody>
      </p:sp>
      <p:sp>
        <p:nvSpPr>
          <p:cNvPr id="197" name="" descr="{&quot;isTemplate&quot;:true,&quot;type&quot;:&quot;text&quot;}"/>
          <p:cNvSpPr txBox="1"/>
          <p:nvPr/>
        </p:nvSpPr>
        <p:spPr>
          <a:xfrm rot="0" flipH="0" flipV="0">
            <a:off x="4352925" y="2314575"/>
            <a:ext cx="3619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38BDF8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198" name="" descr="{&quot;isTemplate&quot;:true,&quot;type&quot;:&quot;text&quot;}"/>
          <p:cNvSpPr txBox="1"/>
          <p:nvPr/>
        </p:nvSpPr>
        <p:spPr>
          <a:xfrm rot="0" flipH="0" flipV="0">
            <a:off x="4867275" y="2257425"/>
            <a:ext cx="29527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E5EDF7"/>
                </a:solidFill>
                <a:latin typeface="Microsoft YaHei"/>
                <a:ea typeface="Microsoft YaHei"/>
              </a:rPr>
              <a:t>背景与愿景</a:t>
            </a:r>
            <a:endParaRPr/>
          </a:p>
        </p:txBody>
      </p:sp>
      <p:sp>
        <p:nvSpPr>
          <p:cNvPr id="199" name="" descr="{&quot;isTemplate&quot;:true,&quot;type&quot;:&quot;text&quot;}"/>
          <p:cNvSpPr txBox="1"/>
          <p:nvPr/>
        </p:nvSpPr>
        <p:spPr>
          <a:xfrm rot="0" flipH="0" flipV="0">
            <a:off x="4867275" y="2514600"/>
            <a:ext cx="29527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Vector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定位、使命公式与工程团队五大挑战</a:t>
            </a:r>
            <a:endParaRPr/>
          </a:p>
        </p:txBody>
      </p:sp>
      <p:sp>
        <p:nvSpPr>
          <p:cNvPr id="200" name="" descr="{&quot;isTemplate&quot;:true,&quot;type&quot;:&quot;text&quot;}"/>
          <p:cNvSpPr txBox="1"/>
          <p:nvPr/>
        </p:nvSpPr>
        <p:spPr>
          <a:xfrm rot="0" flipH="0" flipV="0">
            <a:off x="4352925" y="2933700"/>
            <a:ext cx="3619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38BDF8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201" name="" descr="{&quot;isTemplate&quot;:true,&quot;type&quot;:&quot;text&quot;}"/>
          <p:cNvSpPr txBox="1"/>
          <p:nvPr/>
        </p:nvSpPr>
        <p:spPr>
          <a:xfrm rot="0" flipH="0" flipV="0">
            <a:off x="4867275" y="2876550"/>
            <a:ext cx="29813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E5EDF7"/>
                </a:solidFill>
                <a:latin typeface="Microsoft YaHei"/>
                <a:ea typeface="Microsoft YaHei"/>
              </a:rPr>
              <a:t>解决方案</a:t>
            </a:r>
            <a:r>
              <a:rPr lang="en-US" sz="1650" b="1">
                <a:solidFill>
                  <a:srgbClr val="E5EDF7"/>
                </a:solidFill>
                <a:latin typeface="Microsoft YaHei"/>
                <a:ea typeface="Microsoft YaHei"/>
              </a:rPr>
              <a:t xml:space="preserve"> · MCP </a:t>
            </a:r>
            <a:r>
              <a:rPr lang="zh-CN" sz="1650" b="1">
                <a:solidFill>
                  <a:srgbClr val="E5EDF7"/>
                </a:solidFill>
                <a:latin typeface="Microsoft YaHei"/>
                <a:ea typeface="Microsoft YaHei"/>
              </a:rPr>
              <a:t>与架构</a:t>
            </a:r>
            <a:endParaRPr/>
          </a:p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4867275" y="3133725"/>
            <a:ext cx="29813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MCP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协议、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CANoe AI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架构与两种使用方式</a:t>
            </a:r>
            <a:endParaRPr/>
          </a:p>
        </p:txBody>
      </p:sp>
      <p:sp>
        <p:nvSpPr>
          <p:cNvPr id="203" name="" descr="{&quot;isTemplate&quot;:true,&quot;type&quot;:&quot;text&quot;}"/>
          <p:cNvSpPr txBox="1"/>
          <p:nvPr/>
        </p:nvSpPr>
        <p:spPr>
          <a:xfrm rot="0" flipH="0" flipV="0">
            <a:off x="4352925" y="3552825"/>
            <a:ext cx="3619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38BDF8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204" name="" descr="{&quot;isTemplate&quot;:true,&quot;type&quot;:&quot;text&quot;}"/>
          <p:cNvSpPr txBox="1"/>
          <p:nvPr/>
        </p:nvSpPr>
        <p:spPr>
          <a:xfrm rot="0" flipH="0" flipV="0">
            <a:off x="4867275" y="3495675"/>
            <a:ext cx="3390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E5EDF7"/>
                </a:solidFill>
                <a:latin typeface="Microsoft YaHei"/>
                <a:ea typeface="Microsoft YaHei"/>
              </a:rPr>
              <a:t>核心组件</a:t>
            </a:r>
            <a:endParaRPr/>
          </a:p>
        </p:txBody>
      </p:sp>
      <p:sp>
        <p:nvSpPr>
          <p:cNvPr id="205" name="" descr="{&quot;isTemplate&quot;:true,&quot;type&quot;:&quot;text&quot;}"/>
          <p:cNvSpPr txBox="1"/>
          <p:nvPr/>
        </p:nvSpPr>
        <p:spPr>
          <a:xfrm rot="0" flipH="0" flipV="0">
            <a:off x="4867275" y="3752850"/>
            <a:ext cx="3390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>Knowledge Server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、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AI Package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与四大代理交付</a:t>
            </a:r>
            <a:endParaRPr/>
          </a:p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4352925" y="4171950"/>
            <a:ext cx="3619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38BDF8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207" name="" descr="{&quot;isTemplate&quot;:true,&quot;type&quot;:&quot;text&quot;}"/>
          <p:cNvSpPr txBox="1"/>
          <p:nvPr/>
        </p:nvSpPr>
        <p:spPr>
          <a:xfrm rot="0" flipH="0" flipV="0">
            <a:off x="4867275" y="4114800"/>
            <a:ext cx="28956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E5EDF7"/>
                </a:solidFill>
                <a:latin typeface="Microsoft YaHei"/>
                <a:ea typeface="Microsoft YaHei"/>
              </a:rPr>
              <a:t>实战演示</a:t>
            </a:r>
            <a:endParaRPr/>
          </a:p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4867275" y="4371975"/>
            <a:ext cx="2895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安装配置、分析工作流、配置扩展与编排器</a:t>
            </a:r>
            <a:endParaRPr/>
          </a:p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4352925" y="4791075"/>
            <a:ext cx="3619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38BDF8"/>
                </a:solidFill>
                <a:latin typeface="Microsoft YaHei"/>
                <a:ea typeface="Microsoft YaHei"/>
              </a:rPr>
              <a:t>05</a:t>
            </a:r>
            <a:endParaRPr/>
          </a:p>
        </p:txBody>
      </p:sp>
      <p:sp>
        <p:nvSpPr>
          <p:cNvPr id="210" name="" descr="{&quot;isTemplate&quot;:true,&quot;type&quot;:&quot;text&quot;}"/>
          <p:cNvSpPr txBox="1"/>
          <p:nvPr/>
        </p:nvSpPr>
        <p:spPr>
          <a:xfrm rot="0" flipH="0" flipV="0">
            <a:off x="4867275" y="4733925"/>
            <a:ext cx="21336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E5EDF7"/>
                </a:solidFill>
                <a:latin typeface="Microsoft YaHei"/>
                <a:ea typeface="Microsoft YaHei"/>
              </a:rPr>
              <a:t>路线图与问答</a:t>
            </a:r>
            <a:endParaRPr/>
          </a:p>
        </p:txBody>
      </p:sp>
      <p:sp>
        <p:nvSpPr>
          <p:cNvPr id="211" name="" descr="{&quot;isTemplate&quot;:true,&quot;type&quot;:&quot;text&quot;}"/>
          <p:cNvSpPr txBox="1"/>
          <p:nvPr/>
        </p:nvSpPr>
        <p:spPr>
          <a:xfrm rot="0" flipH="0" flipV="0">
            <a:off x="4867275" y="4991100"/>
            <a:ext cx="2133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产品路线图、精选问答与术语表</a:t>
            </a:r>
            <a:endParaRPr/>
          </a:p>
        </p:txBody>
      </p:sp>
      <p:sp>
        <p:nvSpPr>
          <p:cNvPr id="212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18573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 xml:space="preserve">Vector CANoe AI · </a:t>
            </a:r>
            <a:r>
              <a:rPr lang="zh-CN" sz="1050">
                <a:solidFill>
                  <a:srgbClr val="94A3B8"/>
                </a:solidFill>
                <a:latin typeface="Microsoft YaHei"/>
                <a:ea typeface="Microsoft YaHei"/>
              </a:rPr>
              <a:t>研讨会分享</a:t>
            </a:r>
            <a:endParaRPr/>
          </a:p>
        </p:txBody>
      </p:sp>
      <p:sp>
        <p:nvSpPr>
          <p:cNvPr id="213" name="" descr="{&quot;isTemplate&quot;:true,&quot;type&quot;:&quot;text&quot;}"/>
          <p:cNvSpPr txBox="1"/>
          <p:nvPr/>
        </p:nvSpPr>
        <p:spPr>
          <a:xfrm rot="0" flipH="0" flipV="0">
            <a:off x="11125200" y="640080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>02 / 23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28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B1220"/>
              </a:gs>
              <a:gs pos="100000">
                <a:srgbClr val="16203A"/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290" name=""/>
          <p:cNvSpPr/>
          <p:nvPr/>
        </p:nvSpPr>
        <p:spPr>
          <a:xfrm rot="0" flipH="0" flipV="0">
            <a:off x="8763000" y="-571500"/>
            <a:ext cx="4000500" cy="4000500"/>
          </a:xfrm>
          <a:prstGeom prst="rect">
            <a:avLst/>
          </a:prstGeom>
          <a:gradFill>
            <a:gsLst>
              <a:gs pos="0">
                <a:srgbClr val="38BDF8">
                  <a:alpha val="12000"/>
                </a:srgbClr>
              </a:gs>
              <a:gs pos="70000">
                <a:srgbClr val="FFFF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/>
          <a:p>
            <a:pPr/>
            <a:endParaRPr/>
          </a:p>
        </p:txBody>
      </p:sp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6791325" y="1428750"/>
            <a:ext cx="5172075" cy="5029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0" b="1">
                <a:solidFill>
                  <a:srgbClr val="38BDF8">
                    <a:alpha val="20000"/>
                  </a:srgbClr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292" name="" descr="{&quot;isTemplate&quot;:true,&quot;type&quot;:&quot;text&quot;}"/>
          <p:cNvSpPr txBox="1"/>
          <p:nvPr/>
        </p:nvSpPr>
        <p:spPr>
          <a:xfrm rot="0" flipH="0" flipV="0">
            <a:off x="914400" y="2657475"/>
            <a:ext cx="5600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 spc="300">
                <a:solidFill>
                  <a:srgbClr val="38BDF8"/>
                </a:solidFill>
                <a:latin typeface="Microsoft YaHei"/>
                <a:ea typeface="Microsoft YaHei"/>
              </a:rPr>
              <a:t>CHAPTER 01</a:t>
            </a:r>
            <a:endParaRPr/>
          </a:p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914400" y="3048000"/>
            <a:ext cx="5600700" cy="685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4500" b="1">
                <a:solidFill>
                  <a:srgbClr val="E5EDF7"/>
                </a:solidFill>
                <a:latin typeface="Microsoft YaHei"/>
                <a:ea typeface="Microsoft YaHei"/>
              </a:rPr>
              <a:t>背景与愿景</a:t>
            </a:r>
            <a:endParaRPr/>
          </a:p>
        </p:txBody>
      </p:sp>
      <p:sp>
        <p:nvSpPr>
          <p:cNvPr id="294" name="" descr="{&quot;isTemplate&quot;:true,&quot;type&quot;:&quot;text&quot;}"/>
          <p:cNvSpPr txBox="1"/>
          <p:nvPr/>
        </p:nvSpPr>
        <p:spPr>
          <a:xfrm rot="0" flipH="0" flipV="0">
            <a:off x="914400" y="3943350"/>
            <a:ext cx="5600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94A3B8"/>
                </a:solidFill>
                <a:latin typeface="Microsoft YaHei"/>
                <a:ea typeface="Microsoft YaHei"/>
              </a:rPr>
              <a:t xml:space="preserve">Vector </a:t>
            </a:r>
            <a:r>
              <a:rPr lang="zh-CN" sz="1650">
                <a:solidFill>
                  <a:srgbClr val="94A3B8"/>
                </a:solidFill>
                <a:latin typeface="Microsoft YaHei"/>
                <a:ea typeface="Microsoft YaHei"/>
              </a:rPr>
              <a:t>的定位、使命公式与工程团队的真实挑战</a:t>
            </a:r>
            <a:endParaRPr/>
          </a:p>
        </p:txBody>
      </p:sp>
      <p:sp>
        <p:nvSpPr>
          <p:cNvPr id="295" name=""/>
          <p:cNvSpPr/>
          <p:nvPr/>
        </p:nvSpPr>
        <p:spPr>
          <a:xfrm rot="0" flipH="0" flipV="0">
            <a:off x="609600" y="6200775"/>
            <a:ext cx="10972800" cy="342900"/>
          </a:xfrm>
          <a:custGeom>
            <a:pathLst>
              <a:path w="1152" h="36">
                <a:moveTo>
                  <a:pt x="0" y="0"/>
                </a:moveTo>
                <a:lnTo>
                  <a:pt x="1152" y="0"/>
                </a:lnTo>
                <a:lnTo>
                  <a:pt x="1152" y="1"/>
                </a:lnTo>
                <a:lnTo>
                  <a:pt x="0" y="1"/>
                </a:lnTo>
                <a:close/>
              </a:path>
            </a:pathLst>
          </a:custGeom>
          <a:solidFill>
            <a:srgbClr val="94A3B8">
              <a:alpha val="25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296" name="" descr="{&quot;isTemplate&quot;:true,&quot;type&quot;:&quot;text&quot;}"/>
          <p:cNvSpPr txBox="1"/>
          <p:nvPr/>
        </p:nvSpPr>
        <p:spPr>
          <a:xfrm rot="0" flipH="0" flipV="0">
            <a:off x="609600" y="6343650"/>
            <a:ext cx="26384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第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章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为什么需要把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AI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带进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CANoe</a:t>
            </a:r>
            <a:endParaRPr/>
          </a:p>
        </p:txBody>
      </p:sp>
      <p:sp>
        <p:nvSpPr>
          <p:cNvPr id="297" name="" descr="{&quot;isTemplate&quot;:true,&quot;type&quot;:&quot;text&quot;}"/>
          <p:cNvSpPr txBox="1"/>
          <p:nvPr/>
        </p:nvSpPr>
        <p:spPr>
          <a:xfrm rot="0" flipH="0" flipV="0">
            <a:off x="10315575" y="6343650"/>
            <a:ext cx="12668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>Vector Informatik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29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>
            <a:pPr/>
            <a:endParaRPr/>
          </a:p>
        </p:txBody>
      </p:sp>
      <p:sp>
        <p:nvSpPr>
          <p:cNvPr id="300" name=""/>
          <p:cNvSpPr/>
          <p:nvPr/>
        </p:nvSpPr>
        <p:spPr>
          <a:xfrm rot="0" flipH="0" flipV="0">
            <a:off x="609600" y="190500"/>
            <a:ext cx="11029950" cy="952500"/>
          </a:xfrm>
          <a:custGeom>
            <a:pathLst>
              <a:path w="1158" h="100">
                <a:moveTo>
                  <a:pt x="0" y="0"/>
                </a:moveTo>
                <a:lnTo>
                  <a:pt x="6" y="0"/>
                </a:lnTo>
                <a:lnTo>
                  <a:pt x="6" y="100"/>
                </a:lnTo>
                <a:lnTo>
                  <a:pt x="0" y="100"/>
                </a:lnTo>
                <a:close/>
              </a:path>
            </a:pathLst>
          </a:custGeom>
          <a:solidFill>
            <a:srgbClr val="38BDF8"/>
          </a:solidFill>
          <a:ln/>
        </p:spPr>
        <p:txBody>
          <a:bodyPr/>
          <a:p>
            <a:pPr/>
            <a:endParaRPr/>
          </a:p>
        </p:txBody>
      </p:sp>
      <p:sp>
        <p:nvSpPr>
          <p:cNvPr id="301" name="" descr="{&quot;isTemplate&quot;:true,&quot;type&quot;:&quot;text&quot;}"/>
          <p:cNvSpPr txBox="1"/>
          <p:nvPr/>
        </p:nvSpPr>
        <p:spPr>
          <a:xfrm rot="0" flipH="0" flipV="0">
            <a:off x="838200" y="476250"/>
            <a:ext cx="107442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E5EDF7"/>
                </a:solidFill>
                <a:latin typeface="Microsoft YaHei"/>
                <a:ea typeface="Microsoft YaHei"/>
              </a:rPr>
              <a:t xml:space="preserve">Vector </a:t>
            </a:r>
            <a:r>
              <a:rPr lang="zh-CN" sz="2550" b="1">
                <a:solidFill>
                  <a:srgbClr val="E5EDF7"/>
                </a:solidFill>
                <a:latin typeface="Microsoft YaHei"/>
                <a:ea typeface="Microsoft YaHei"/>
              </a:rPr>
              <a:t>的定位与愿景</a:t>
            </a:r>
            <a:endParaRPr/>
          </a:p>
        </p:txBody>
      </p:sp>
      <p:sp>
        <p:nvSpPr>
          <p:cNvPr id="302" name="" descr="{&quot;isTemplate&quot;:true,&quot;type&quot;:&quot;text&quot;}"/>
          <p:cNvSpPr txBox="1"/>
          <p:nvPr/>
        </p:nvSpPr>
        <p:spPr>
          <a:xfrm rot="0" flipH="0" flipV="0">
            <a:off x="609600" y="1143000"/>
            <a:ext cx="1419225" cy="1371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0" b="1">
                <a:solidFill>
                  <a:srgbClr val="F97316"/>
                </a:solidFill>
                <a:latin typeface="Microsoft YaHei"/>
                <a:ea typeface="Microsoft YaHei"/>
              </a:rPr>
              <a:t>40</a:t>
            </a:r>
            <a:endParaRPr/>
          </a:p>
        </p:txBody>
      </p:sp>
      <p:sp>
        <p:nvSpPr>
          <p:cNvPr id="303" name="" descr="{&quot;isTemplate&quot;:true,&quot;type&quot;:&quot;text&quot;}"/>
          <p:cNvSpPr txBox="1"/>
          <p:nvPr/>
        </p:nvSpPr>
        <p:spPr>
          <a:xfrm rot="0" flipH="0" flipV="0">
            <a:off x="609600" y="2552700"/>
            <a:ext cx="14192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>
                <a:solidFill>
                  <a:srgbClr val="E5EDF7"/>
                </a:solidFill>
                <a:latin typeface="Microsoft YaHei"/>
                <a:ea typeface="Microsoft YaHei"/>
              </a:rPr>
              <a:t>年</a:t>
            </a:r>
            <a:endParaRPr/>
          </a:p>
        </p:txBody>
      </p:sp>
      <p:sp>
        <p:nvSpPr>
          <p:cNvPr id="304" name="" descr="{&quot;isTemplate&quot;:true,&quot;type&quot;:&quot;text&quot;}"/>
          <p:cNvSpPr txBox="1"/>
          <p:nvPr/>
        </p:nvSpPr>
        <p:spPr>
          <a:xfrm rot="0" flipH="0" flipV="0">
            <a:off x="609600" y="5553075"/>
            <a:ext cx="2590800" cy="7334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500">
                <a:solidFill>
                  <a:srgbClr val="94A3B8"/>
                </a:solidFill>
                <a:latin typeface="Microsoft YaHei"/>
                <a:ea typeface="Microsoft YaHei"/>
              </a:rPr>
              <a:t>深耕汽车相关领域，</a:t>
            </a:r>
            <a:endParaRPr/>
          </a:p>
          <a:p>
            <a:pPr>
              <a:lnSpc>
                <a:spcPct val="160000"/>
              </a:lnSpc>
            </a:pPr>
            <a:r>
              <a:rPr lang="zh-CN" sz="1500">
                <a:solidFill>
                  <a:srgbClr val="94A3B8"/>
                </a:solidFill>
                <a:latin typeface="Microsoft YaHei"/>
                <a:ea typeface="Microsoft YaHei"/>
              </a:rPr>
              <a:t>把</a:t>
            </a:r>
            <a:r>
              <a:rPr lang="en-US" sz="1500">
                <a:solidFill>
                  <a:srgbClr val="94A3B8"/>
                </a:solidFill>
                <a:latin typeface="Microsoft YaHei"/>
                <a:ea typeface="Microsoft YaHei"/>
              </a:rPr>
              <a:t xml:space="preserve"> AI </a:t>
            </a:r>
            <a:r>
              <a:rPr lang="zh-CN" sz="1500">
                <a:solidFill>
                  <a:srgbClr val="94A3B8"/>
                </a:solidFill>
                <a:latin typeface="Microsoft YaHei"/>
                <a:ea typeface="Microsoft YaHei"/>
              </a:rPr>
              <a:t>融入你已在用的工具链。</a:t>
            </a:r>
            <a:endParaRPr/>
          </a:p>
        </p:txBody>
      </p:sp>
      <p:sp>
        <p:nvSpPr>
          <p:cNvPr id="305" name="" descr="{&quot;isTemplate&quot;:true,&quot;type&quot;:&quot;text&quot;}"/>
          <p:cNvSpPr txBox="1"/>
          <p:nvPr/>
        </p:nvSpPr>
        <p:spPr>
          <a:xfrm rot="0" flipH="0" flipV="0">
            <a:off x="4638675" y="1143000"/>
            <a:ext cx="6943725" cy="8096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650">
                <a:solidFill>
                  <a:srgbClr val="E5EDF7"/>
                </a:solidFill>
                <a:latin typeface="Microsoft YaHei"/>
                <a:ea typeface="Microsoft YaHei"/>
              </a:rPr>
              <a:t>核心公式：</a:t>
            </a:r>
            <a:r>
              <a:rPr lang="zh-CN" sz="1650" b="1">
                <a:solidFill>
                  <a:srgbClr val="38BDF8"/>
                </a:solidFill>
                <a:latin typeface="Microsoft YaHei"/>
                <a:ea typeface="Microsoft YaHei"/>
              </a:rPr>
              <a:t>领域专长</a:t>
            </a:r>
            <a:r>
              <a:rPr lang="en-US" sz="1650" b="1">
                <a:solidFill>
                  <a:srgbClr val="38BDF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650" b="1">
                <a:solidFill>
                  <a:srgbClr val="38BDF8"/>
                </a:solidFill>
                <a:latin typeface="Microsoft YaHei"/>
                <a:ea typeface="Microsoft YaHei"/>
              </a:rPr>
              <a:t>＋</a:t>
            </a:r>
            <a:r>
              <a:rPr lang="en-US" sz="1650" b="1">
                <a:solidFill>
                  <a:srgbClr val="38BDF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650" b="1">
                <a:solidFill>
                  <a:srgbClr val="38BDF8"/>
                </a:solidFill>
                <a:latin typeface="Microsoft YaHei"/>
                <a:ea typeface="Microsoft YaHei"/>
              </a:rPr>
              <a:t>你的数据</a:t>
            </a:r>
            <a:r>
              <a:rPr lang="en-US" sz="1650" b="1">
                <a:solidFill>
                  <a:srgbClr val="38BDF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650" b="1">
                <a:solidFill>
                  <a:srgbClr val="38BDF8"/>
                </a:solidFill>
                <a:latin typeface="Microsoft YaHei"/>
                <a:ea typeface="Microsoft YaHei"/>
              </a:rPr>
              <a:t>＋</a:t>
            </a:r>
            <a:r>
              <a:rPr lang="en-US" sz="1650" b="1">
                <a:solidFill>
                  <a:srgbClr val="38BDF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650" b="1">
                <a:solidFill>
                  <a:srgbClr val="38BDF8"/>
                </a:solidFill>
                <a:latin typeface="Microsoft YaHei"/>
                <a:ea typeface="Microsoft YaHei"/>
              </a:rPr>
              <a:t>你已信任的</a:t>
            </a:r>
            <a:r>
              <a:rPr lang="en-US" sz="1650" b="1">
                <a:solidFill>
                  <a:srgbClr val="38BDF8"/>
                </a:solidFill>
                <a:latin typeface="Microsoft YaHei"/>
                <a:ea typeface="Microsoft YaHei"/>
              </a:rPr>
              <a:t xml:space="preserve"> Vector </a:t>
            </a:r>
            <a:r>
              <a:rPr lang="zh-CN" sz="1650" b="1">
                <a:solidFill>
                  <a:srgbClr val="38BDF8"/>
                </a:solidFill>
                <a:latin typeface="Microsoft YaHei"/>
                <a:ea typeface="Microsoft YaHei"/>
              </a:rPr>
              <a:t>工具</a:t>
            </a:r>
            <a:r>
              <a:rPr lang="en-US" sz="1650" b="1">
                <a:solidFill>
                  <a:srgbClr val="38BDF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650" b="1">
                <a:solidFill>
                  <a:srgbClr val="38BDF8"/>
                </a:solidFill>
                <a:latin typeface="Microsoft YaHei"/>
                <a:ea typeface="Microsoft YaHei"/>
              </a:rPr>
              <a:t>＝</a:t>
            </a:r>
            <a:r>
              <a:rPr lang="en-US" sz="1650" b="1">
                <a:solidFill>
                  <a:srgbClr val="38BDF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650" b="1">
                <a:solidFill>
                  <a:srgbClr val="38BDF8"/>
                </a:solidFill>
                <a:latin typeface="Microsoft YaHei"/>
                <a:ea typeface="Microsoft YaHei"/>
              </a:rPr>
              <a:t>融入工作流的</a:t>
            </a:r>
            <a:r>
              <a:rPr lang="en-US" sz="1650" b="1">
                <a:solidFill>
                  <a:srgbClr val="38BDF8"/>
                </a:solidFill>
                <a:latin typeface="Microsoft YaHei"/>
                <a:ea typeface="Microsoft YaHei"/>
              </a:rPr>
              <a:t xml:space="preserve"> AI</a:t>
            </a:r>
            <a:endParaRPr/>
          </a:p>
        </p:txBody>
      </p:sp>
      <p:sp>
        <p:nvSpPr>
          <p:cNvPr id="306" name="" descr="{&quot;isTemplate&quot;:true,&quot;type&quot;:&quot;text&quot;}"/>
          <p:cNvSpPr txBox="1"/>
          <p:nvPr/>
        </p:nvSpPr>
        <p:spPr>
          <a:xfrm rot="0" flipH="0" flipV="0">
            <a:off x="4638675" y="2552700"/>
            <a:ext cx="6943725" cy="3714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500">
                <a:solidFill>
                  <a:srgbClr val="94A3B8"/>
                </a:solidFill>
                <a:latin typeface="Microsoft YaHei"/>
                <a:ea typeface="Microsoft YaHei"/>
              </a:rPr>
              <a:t>目标：把复杂变为进展（</a:t>
            </a:r>
            <a:r>
              <a:rPr lang="en-US" sz="1500">
                <a:solidFill>
                  <a:srgbClr val="94A3B8"/>
                </a:solidFill>
                <a:latin typeface="Microsoft YaHei"/>
                <a:ea typeface="Microsoft YaHei"/>
              </a:rPr>
              <a:t>turning complexity into progress</a:t>
            </a:r>
            <a:r>
              <a:rPr lang="zh-CN" sz="1500">
                <a:solidFill>
                  <a:srgbClr val="94A3B8"/>
                </a:solidFill>
                <a:latin typeface="Microsoft YaHei"/>
                <a:ea typeface="Microsoft YaHei"/>
              </a:rPr>
              <a:t>）。</a:t>
            </a:r>
            <a:endParaRPr/>
          </a:p>
        </p:txBody>
      </p:sp>
      <p:sp>
        <p:nvSpPr>
          <p:cNvPr id="307" name=""/>
          <p:cNvSpPr/>
          <p:nvPr/>
        </p:nvSpPr>
        <p:spPr>
          <a:xfrm rot="0" flipH="0" flipV="0">
            <a:off x="4676775" y="3533775"/>
            <a:ext cx="6943725" cy="1485900"/>
          </a:xfrm>
          <a:prstGeom prst="roundRect">
            <a:avLst>
              <a:gd name="adj" fmla="val 7692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sp>
        <p:nvSpPr>
          <p:cNvPr id="308" name=""/>
          <p:cNvSpPr/>
          <p:nvPr/>
        </p:nvSpPr>
        <p:spPr>
          <a:xfrm rot="0" flipH="0" flipV="0">
            <a:off x="4676775" y="3533775"/>
            <a:ext cx="6943725" cy="1485900"/>
          </a:xfrm>
          <a:custGeom>
            <a:pathLst>
              <a:path w="729" h="156">
                <a:moveTo>
                  <a:pt x="11" y="0"/>
                </a:moveTo>
                <a:cubicBezTo>
                  <a:pt x="7" y="0"/>
                  <a:pt x="4" y="4"/>
                  <a:pt x="4" y="8"/>
                </a:cubicBezTo>
                <a:lnTo>
                  <a:pt x="4" y="148"/>
                </a:lnTo>
                <a:cubicBezTo>
                  <a:pt x="4" y="152"/>
                  <a:pt x="7" y="155"/>
                  <a:pt x="10" y="156"/>
                </a:cubicBezTo>
                <a:cubicBezTo>
                  <a:pt x="4" y="155"/>
                  <a:pt x="0" y="150"/>
                  <a:pt x="0" y="144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38BDF8"/>
          </a:solidFill>
          <a:ln/>
        </p:spPr>
        <p:txBody>
          <a:bodyPr/>
          <a:p>
            <a:pPr/>
            <a:endParaRPr/>
          </a:p>
        </p:txBody>
      </p:sp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4867275" y="3724275"/>
            <a:ext cx="6524625" cy="1104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500">
                <a:solidFill>
                  <a:srgbClr val="E5EDF7"/>
                </a:solidFill>
                <a:latin typeface="Microsoft YaHei"/>
                <a:ea typeface="Microsoft YaHei"/>
              </a:rPr>
              <a:t>未来已来：以</a:t>
            </a:r>
            <a:r>
              <a:rPr lang="en-US" sz="1500">
                <a:solidFill>
                  <a:srgbClr val="E5EDF7"/>
                </a:solidFill>
                <a:latin typeface="Microsoft YaHei"/>
                <a:ea typeface="Microsoft YaHei"/>
              </a:rPr>
              <a:t>"</a:t>
            </a:r>
            <a:r>
              <a:rPr lang="zh-CN" sz="1500">
                <a:solidFill>
                  <a:srgbClr val="E5EDF7"/>
                </a:solidFill>
                <a:latin typeface="Microsoft YaHei"/>
                <a:ea typeface="Microsoft YaHei"/>
              </a:rPr>
              <a:t>霹雳游侠（</a:t>
            </a:r>
            <a:r>
              <a:rPr lang="en-US" sz="1500">
                <a:solidFill>
                  <a:srgbClr val="E5EDF7"/>
                </a:solidFill>
                <a:latin typeface="Microsoft YaHei"/>
                <a:ea typeface="Microsoft YaHei"/>
              </a:rPr>
              <a:t>Knight Rider</a:t>
            </a:r>
            <a:r>
              <a:rPr lang="zh-CN" sz="1500">
                <a:solidFill>
                  <a:srgbClr val="E5EDF7"/>
                </a:solidFill>
                <a:latin typeface="Microsoft YaHei"/>
                <a:ea typeface="Microsoft YaHei"/>
              </a:rPr>
              <a:t>）</a:t>
            </a:r>
            <a:r>
              <a:rPr lang="en-US" sz="1500">
                <a:solidFill>
                  <a:srgbClr val="E5EDF7"/>
                </a:solidFill>
                <a:latin typeface="Microsoft YaHei"/>
                <a:ea typeface="Microsoft YaHei"/>
              </a:rPr>
              <a:t>"</a:t>
            </a:r>
            <a:r>
              <a:rPr lang="zh-CN" sz="1500">
                <a:solidFill>
                  <a:srgbClr val="E5EDF7"/>
                </a:solidFill>
                <a:latin typeface="Microsoft YaHei"/>
                <a:ea typeface="Microsoft YaHei"/>
              </a:rPr>
              <a:t>应用为例的端到端</a:t>
            </a:r>
            <a:r>
              <a:rPr lang="en-US" sz="1500">
                <a:solidFill>
                  <a:srgbClr val="E5EDF7"/>
                </a:solidFill>
                <a:latin typeface="Microsoft YaHei"/>
                <a:ea typeface="Microsoft YaHei"/>
              </a:rPr>
              <a:t xml:space="preserve"> AI </a:t>
            </a:r>
            <a:r>
              <a:rPr lang="zh-CN" sz="1500">
                <a:solidFill>
                  <a:srgbClr val="E5EDF7"/>
                </a:solidFill>
                <a:latin typeface="Microsoft YaHei"/>
                <a:ea typeface="Microsoft YaHei"/>
              </a:rPr>
              <a:t>工作流——从需求文件自动生成单元测试与虚拟</a:t>
            </a:r>
            <a:r>
              <a:rPr lang="en-US" sz="1500">
                <a:solidFill>
                  <a:srgbClr val="E5EDF7"/>
                </a:solidFill>
                <a:latin typeface="Microsoft YaHei"/>
                <a:ea typeface="Microsoft YaHei"/>
              </a:rPr>
              <a:t xml:space="preserve"> ECU </a:t>
            </a:r>
            <a:r>
              <a:rPr lang="zh-CN" sz="1500">
                <a:solidFill>
                  <a:srgbClr val="E5EDF7"/>
                </a:solidFill>
                <a:latin typeface="Microsoft YaHei"/>
                <a:ea typeface="Microsoft YaHei"/>
              </a:rPr>
              <a:t>代码、跑小规模测试、分析高亮报告、经</a:t>
            </a:r>
            <a:r>
              <a:rPr lang="en-US" sz="1500">
                <a:solidFill>
                  <a:srgbClr val="E5EDF7"/>
                </a:solidFill>
                <a:latin typeface="Microsoft YaHei"/>
                <a:ea typeface="Microsoft YaHei"/>
              </a:rPr>
              <a:t xml:space="preserve"> SDX </a:t>
            </a:r>
            <a:r>
              <a:rPr lang="zh-CN" sz="1500">
                <a:solidFill>
                  <a:srgbClr val="E5EDF7"/>
                </a:solidFill>
                <a:latin typeface="Microsoft YaHei"/>
                <a:ea typeface="Microsoft YaHei"/>
              </a:rPr>
              <a:t>部署运行，贯穿整个</a:t>
            </a:r>
            <a:r>
              <a:rPr lang="en-US" sz="1500">
                <a:solidFill>
                  <a:srgbClr val="E5EDF7"/>
                </a:solidFill>
                <a:latin typeface="Microsoft YaHei"/>
                <a:ea typeface="Microsoft YaHei"/>
              </a:rPr>
              <a:t xml:space="preserve"> Vector </a:t>
            </a:r>
            <a:r>
              <a:rPr lang="zh-CN" sz="1500">
                <a:solidFill>
                  <a:srgbClr val="E5EDF7"/>
                </a:solidFill>
                <a:latin typeface="Microsoft YaHei"/>
                <a:ea typeface="Microsoft YaHei"/>
              </a:rPr>
              <a:t>工具链。</a:t>
            </a:r>
            <a:endParaRPr/>
          </a:p>
        </p:txBody>
      </p:sp>
      <p:sp>
        <p:nvSpPr>
          <p:cNvPr id="310" name="" descr="{&quot;isTemplate&quot;:true,&quot;type&quot;:&quot;text&quot;}"/>
          <p:cNvSpPr txBox="1"/>
          <p:nvPr/>
        </p:nvSpPr>
        <p:spPr>
          <a:xfrm rot="0" flipH="0" flipV="0">
            <a:off x="4638675" y="5619750"/>
            <a:ext cx="6943725" cy="666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350">
                <a:solidFill>
                  <a:srgbClr val="94A3B8"/>
                </a:solidFill>
                <a:latin typeface="Microsoft YaHei"/>
                <a:ea typeface="Microsoft YaHei"/>
              </a:rPr>
              <a:t>工作模式：把任务交给</a:t>
            </a:r>
            <a:r>
              <a:rPr lang="zh-CN" sz="1350" b="1">
                <a:solidFill>
                  <a:srgbClr val="38BDF8"/>
                </a:solidFill>
                <a:latin typeface="Microsoft YaHei"/>
                <a:ea typeface="Microsoft YaHei"/>
              </a:rPr>
              <a:t>编排器（</a:t>
            </a:r>
            <a:r>
              <a:rPr lang="en-US" sz="1350" b="1">
                <a:solidFill>
                  <a:srgbClr val="38BDF8"/>
                </a:solidFill>
                <a:latin typeface="Microsoft YaHei"/>
                <a:ea typeface="Microsoft YaHei"/>
              </a:rPr>
              <a:t>orchestrator</a:t>
            </a:r>
            <a:r>
              <a:rPr lang="zh-CN" sz="1350" b="1">
                <a:solidFill>
                  <a:srgbClr val="38BDF8"/>
                </a:solidFill>
                <a:latin typeface="Microsoft YaHei"/>
                <a:ea typeface="Microsoft YaHei"/>
              </a:rPr>
              <a:t>）</a:t>
            </a:r>
            <a:r>
              <a:rPr lang="zh-CN" sz="1350">
                <a:solidFill>
                  <a:srgbClr val="94A3B8"/>
                </a:solidFill>
                <a:latin typeface="Microsoft YaHei"/>
                <a:ea typeface="Microsoft YaHei"/>
              </a:rPr>
              <a:t>，由其调度专用代理并管理交接，可选</a:t>
            </a:r>
            <a:r>
              <a:rPr lang="zh-CN" sz="1350" b="1">
                <a:solidFill>
                  <a:srgbClr val="38BDF8"/>
                </a:solidFill>
                <a:latin typeface="Microsoft YaHei"/>
                <a:ea typeface="Microsoft YaHei"/>
              </a:rPr>
              <a:t>观察者</a:t>
            </a:r>
            <a:r>
              <a:rPr lang="zh-CN" sz="1350">
                <a:solidFill>
                  <a:srgbClr val="94A3B8"/>
                </a:solidFill>
                <a:latin typeface="Microsoft YaHei"/>
                <a:ea typeface="Microsoft YaHei"/>
              </a:rPr>
              <a:t>经</a:t>
            </a:r>
            <a:r>
              <a:rPr lang="en-US" sz="1350">
                <a:solidFill>
                  <a:srgbClr val="94A3B8"/>
                </a:solidFill>
                <a:latin typeface="Microsoft YaHei"/>
                <a:ea typeface="Microsoft YaHei"/>
              </a:rPr>
              <a:t xml:space="preserve"> Web </a:t>
            </a:r>
            <a:r>
              <a:rPr lang="zh-CN" sz="1350">
                <a:solidFill>
                  <a:srgbClr val="94A3B8"/>
                </a:solidFill>
                <a:latin typeface="Microsoft YaHei"/>
                <a:ea typeface="Microsoft YaHei"/>
              </a:rPr>
              <a:t>仪表板监控。</a:t>
            </a:r>
            <a:endParaRPr/>
          </a:p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18573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 xml:space="preserve">Vector CANoe AI · </a:t>
            </a:r>
            <a:r>
              <a:rPr lang="zh-CN" sz="1050">
                <a:solidFill>
                  <a:srgbClr val="94A3B8"/>
                </a:solidFill>
                <a:latin typeface="Microsoft YaHei"/>
                <a:ea typeface="Microsoft YaHei"/>
              </a:rPr>
              <a:t>研讨会分享</a:t>
            </a:r>
            <a:endParaRPr/>
          </a:p>
        </p:txBody>
      </p:sp>
      <p:sp>
        <p:nvSpPr>
          <p:cNvPr id="312" name="" descr="{&quot;isTemplate&quot;:true,&quot;type&quot;:&quot;text&quot;}"/>
          <p:cNvSpPr txBox="1"/>
          <p:nvPr/>
        </p:nvSpPr>
        <p:spPr>
          <a:xfrm rot="0" flipH="0" flipV="0">
            <a:off x="11125200" y="640080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>04 / 23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31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>
            <a:pPr/>
            <a:endParaRPr/>
          </a:p>
        </p:txBody>
      </p:sp>
      <p:sp>
        <p:nvSpPr>
          <p:cNvPr id="315" name=""/>
          <p:cNvSpPr/>
          <p:nvPr/>
        </p:nvSpPr>
        <p:spPr>
          <a:xfrm rot="0" flipH="0" flipV="0">
            <a:off x="609600" y="190500"/>
            <a:ext cx="11029950" cy="952500"/>
          </a:xfrm>
          <a:custGeom>
            <a:pathLst>
              <a:path w="1158" h="100">
                <a:moveTo>
                  <a:pt x="0" y="0"/>
                </a:moveTo>
                <a:lnTo>
                  <a:pt x="6" y="0"/>
                </a:lnTo>
                <a:lnTo>
                  <a:pt x="6" y="100"/>
                </a:lnTo>
                <a:lnTo>
                  <a:pt x="0" y="100"/>
                </a:lnTo>
                <a:close/>
              </a:path>
            </a:pathLst>
          </a:custGeom>
          <a:solidFill>
            <a:srgbClr val="38BDF8"/>
          </a:solidFill>
          <a:ln/>
        </p:spPr>
        <p:txBody>
          <a:bodyPr/>
          <a:p>
            <a:pPr/>
            <a:endParaRPr/>
          </a:p>
        </p:txBody>
      </p:sp>
      <p:sp>
        <p:nvSpPr>
          <p:cNvPr id="316" name="" descr="{&quot;isTemplate&quot;:true,&quot;type&quot;:&quot;text&quot;}"/>
          <p:cNvSpPr txBox="1"/>
          <p:nvPr/>
        </p:nvSpPr>
        <p:spPr>
          <a:xfrm rot="0" flipH="0" flipV="0">
            <a:off x="838200" y="476250"/>
            <a:ext cx="107442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E5EDF7"/>
                </a:solidFill>
                <a:latin typeface="Microsoft YaHei"/>
                <a:ea typeface="Microsoft YaHei"/>
              </a:rPr>
              <a:t>当前工程团队的五大挑战</a:t>
            </a:r>
            <a:endParaRPr/>
          </a:p>
        </p:txBody>
      </p:sp>
      <p:sp>
        <p:nvSpPr>
          <p:cNvPr id="317" name="" descr="{&quot;isTemplate&quot;:true,&quot;type&quot;:&quot;text&quot;}"/>
          <p:cNvSpPr txBox="1"/>
          <p:nvPr/>
        </p:nvSpPr>
        <p:spPr>
          <a:xfrm rot="0" flipH="0" flipV="0">
            <a:off x="609600" y="1143000"/>
            <a:ext cx="3200400" cy="1104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200" b="1">
                <a:solidFill>
                  <a:srgbClr val="EF4444"/>
                </a:solidFill>
                <a:latin typeface="Microsoft YaHei"/>
                <a:ea typeface="Microsoft YaHei"/>
              </a:rPr>
              <a:t>5</a:t>
            </a:r>
            <a:endParaRPr/>
          </a:p>
        </p:txBody>
      </p:sp>
      <p:sp>
        <p:nvSpPr>
          <p:cNvPr id="318" name="" descr="{&quot;isTemplate&quot;:true,&quot;type&quot;:&quot;text&quot;}"/>
          <p:cNvSpPr txBox="1"/>
          <p:nvPr/>
        </p:nvSpPr>
        <p:spPr>
          <a:xfrm rot="0" flipH="0" flipV="0">
            <a:off x="609600" y="2305050"/>
            <a:ext cx="32004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E5EDF7"/>
                </a:solidFill>
                <a:latin typeface="Microsoft YaHei"/>
                <a:ea typeface="Microsoft YaHei"/>
              </a:rPr>
              <a:t>大真实痛点</a:t>
            </a:r>
            <a:endParaRPr/>
          </a:p>
        </p:txBody>
      </p:sp>
      <p:sp>
        <p:nvSpPr>
          <p:cNvPr id="319" name="" descr="{&quot;isTemplate&quot;:true,&quot;type&quot;:&quot;text&quot;}"/>
          <p:cNvSpPr txBox="1"/>
          <p:nvPr/>
        </p:nvSpPr>
        <p:spPr>
          <a:xfrm rot="0" flipH="0" flipV="0">
            <a:off x="609600" y="5657850"/>
            <a:ext cx="3200400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注：原演讲编号从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一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>/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二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跳到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五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，第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3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、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4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项在转录中缺失，本页据上下文补全归类。</a:t>
            </a:r>
            <a:endParaRPr/>
          </a:p>
        </p:txBody>
      </p:sp>
      <p:sp>
        <p:nvSpPr>
          <p:cNvPr id="320" name=""/>
          <p:cNvSpPr/>
          <p:nvPr/>
        </p:nvSpPr>
        <p:spPr>
          <a:xfrm rot="0" flipH="0" flipV="0">
            <a:off x="4114800" y="1143000"/>
            <a:ext cx="381000" cy="381000"/>
          </a:xfrm>
          <a:prstGeom prst="roundRect">
            <a:avLst>
              <a:gd name="adj" fmla="val 20000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sp>
        <p:nvSpPr>
          <p:cNvPr id="321" name="" descr="{&quot;isTemplate&quot;:true,&quot;type&quot;:&quot;text&quot;}"/>
          <p:cNvSpPr txBox="1"/>
          <p:nvPr/>
        </p:nvSpPr>
        <p:spPr>
          <a:xfrm rot="0" flipH="0" flipV="0">
            <a:off x="4248150" y="1219200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38BDF8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322" name="" descr="{&quot;isTemplate&quot;:true,&quot;type&quot;:&quot;text&quot;}"/>
          <p:cNvSpPr txBox="1"/>
          <p:nvPr/>
        </p:nvSpPr>
        <p:spPr>
          <a:xfrm rot="0" flipH="0" flipV="0">
            <a:off x="4629150" y="1143000"/>
            <a:ext cx="642937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E5EDF7"/>
                </a:solidFill>
                <a:latin typeface="Microsoft YaHei"/>
                <a:ea typeface="Microsoft YaHei"/>
              </a:rPr>
              <a:t>重复性手工工作</a:t>
            </a:r>
            <a:endParaRPr/>
          </a:p>
        </p:txBody>
      </p:sp>
      <p:sp>
        <p:nvSpPr>
          <p:cNvPr id="323" name="" descr="{&quot;isTemplate&quot;:true,&quot;type&quot;:&quot;text&quot;}"/>
          <p:cNvSpPr txBox="1"/>
          <p:nvPr/>
        </p:nvSpPr>
        <p:spPr>
          <a:xfrm rot="0" flipH="0" flipV="0">
            <a:off x="4629150" y="1390650"/>
            <a:ext cx="6429375" cy="2952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调试循环：查报告、翻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trace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、处理报文阻塞、全部重跑；用例编写与总线仿真全靠点击。</a:t>
            </a:r>
            <a:endParaRPr/>
          </a:p>
        </p:txBody>
      </p:sp>
      <p:sp>
        <p:nvSpPr>
          <p:cNvPr id="324" name=""/>
          <p:cNvSpPr/>
          <p:nvPr/>
        </p:nvSpPr>
        <p:spPr>
          <a:xfrm rot="0" flipH="0" flipV="0">
            <a:off x="4114800" y="2295525"/>
            <a:ext cx="381000" cy="381000"/>
          </a:xfrm>
          <a:prstGeom prst="roundRect">
            <a:avLst>
              <a:gd name="adj" fmla="val 20000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sp>
        <p:nvSpPr>
          <p:cNvPr id="325" name="" descr="{&quot;isTemplate&quot;:true,&quot;type&quot;:&quot;text&quot;}"/>
          <p:cNvSpPr txBox="1"/>
          <p:nvPr/>
        </p:nvSpPr>
        <p:spPr>
          <a:xfrm rot="0" flipH="0" flipV="0">
            <a:off x="4248150" y="2371725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38BDF8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326" name="" descr="{&quot;isTemplate&quot;:true,&quot;type&quot;:&quot;text&quot;}"/>
          <p:cNvSpPr txBox="1"/>
          <p:nvPr/>
        </p:nvSpPr>
        <p:spPr>
          <a:xfrm rot="0" flipH="0" flipV="0">
            <a:off x="4629150" y="2295525"/>
            <a:ext cx="40481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E5EDF7"/>
                </a:solidFill>
                <a:latin typeface="Microsoft YaHei"/>
                <a:ea typeface="Microsoft YaHei"/>
              </a:rPr>
              <a:t>依赖大量专业知识</a:t>
            </a:r>
            <a:endParaRPr/>
          </a:p>
        </p:txBody>
      </p:sp>
      <p:sp>
        <p:nvSpPr>
          <p:cNvPr id="327" name="" descr="{&quot;isTemplate&quot;:true,&quot;type&quot;:&quot;text&quot;}"/>
          <p:cNvSpPr txBox="1"/>
          <p:nvPr/>
        </p:nvSpPr>
        <p:spPr>
          <a:xfrm rot="0" flipH="0" flipV="0">
            <a:off x="4629150" y="2543175"/>
            <a:ext cx="4048125" cy="2952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要懂总线系统与协议，还要会写代码、做配置，门槛高。</a:t>
            </a:r>
            <a:endParaRPr/>
          </a:p>
        </p:txBody>
      </p:sp>
      <p:sp>
        <p:nvSpPr>
          <p:cNvPr id="328" name=""/>
          <p:cNvSpPr/>
          <p:nvPr/>
        </p:nvSpPr>
        <p:spPr>
          <a:xfrm rot="0" flipH="0" flipV="0">
            <a:off x="4114800" y="3448050"/>
            <a:ext cx="381000" cy="381000"/>
          </a:xfrm>
          <a:prstGeom prst="roundRect">
            <a:avLst>
              <a:gd name="adj" fmla="val 20000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4248150" y="3524250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38BDF8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330" name="" descr="{&quot;isTemplate&quot;:true,&quot;type&quot;:&quot;text&quot;}"/>
          <p:cNvSpPr txBox="1"/>
          <p:nvPr/>
        </p:nvSpPr>
        <p:spPr>
          <a:xfrm rot="0" flipH="0" flipV="0">
            <a:off x="4629150" y="3448050"/>
            <a:ext cx="307657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E5EDF7"/>
                </a:solidFill>
                <a:latin typeface="Microsoft YaHei"/>
                <a:ea typeface="Microsoft YaHei"/>
              </a:rPr>
              <a:t>找对文档耗时</a:t>
            </a:r>
            <a:endParaRPr/>
          </a:p>
        </p:txBody>
      </p:sp>
      <p:sp>
        <p:nvSpPr>
          <p:cNvPr id="331" name="" descr="{&quot;isTemplate&quot;:true,&quot;type&quot;:&quot;text&quot;}"/>
          <p:cNvSpPr txBox="1"/>
          <p:nvPr/>
        </p:nvSpPr>
        <p:spPr>
          <a:xfrm rot="0" flipH="0" flipV="0">
            <a:off x="4629150" y="3695700"/>
            <a:ext cx="3076575" cy="2952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定位正确的工程文档本身就要花大量时间。</a:t>
            </a:r>
            <a:endParaRPr/>
          </a:p>
        </p:txBody>
      </p:sp>
      <p:sp>
        <p:nvSpPr>
          <p:cNvPr id="332" name=""/>
          <p:cNvSpPr/>
          <p:nvPr/>
        </p:nvSpPr>
        <p:spPr>
          <a:xfrm rot="0" flipH="0" flipV="0">
            <a:off x="4114800" y="4591050"/>
            <a:ext cx="381000" cy="381000"/>
          </a:xfrm>
          <a:prstGeom prst="roundRect">
            <a:avLst>
              <a:gd name="adj" fmla="val 20000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sp>
        <p:nvSpPr>
          <p:cNvPr id="333" name="" descr="{&quot;isTemplate&quot;:true,&quot;type&quot;:&quot;text&quot;}"/>
          <p:cNvSpPr txBox="1"/>
          <p:nvPr/>
        </p:nvSpPr>
        <p:spPr>
          <a:xfrm rot="0" flipH="0" flipV="0">
            <a:off x="4248150" y="4667250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38BDF8"/>
                </a:solidFill>
                <a:latin typeface="Microsoft YaHei"/>
                <a:ea typeface="Microsoft YaHei"/>
              </a:rPr>
              <a:t>4</a:t>
            </a:r>
            <a:endParaRPr/>
          </a:p>
        </p:txBody>
      </p:sp>
      <p:sp>
        <p:nvSpPr>
          <p:cNvPr id="334" name="" descr="{&quot;isTemplate&quot;:true,&quot;type&quot;:&quot;text&quot;}"/>
          <p:cNvSpPr txBox="1"/>
          <p:nvPr/>
        </p:nvSpPr>
        <p:spPr>
          <a:xfrm rot="0" flipH="0" flipV="0">
            <a:off x="4629150" y="4591050"/>
            <a:ext cx="486727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E5EDF7"/>
                </a:solidFill>
                <a:latin typeface="Microsoft YaHei"/>
                <a:ea typeface="Microsoft YaHei"/>
              </a:rPr>
              <a:t>上下文喂给</a:t>
            </a:r>
            <a:r>
              <a:rPr lang="en-US" sz="1575" b="1">
                <a:solidFill>
                  <a:srgbClr val="E5EDF7"/>
                </a:solidFill>
                <a:latin typeface="Microsoft YaHei"/>
                <a:ea typeface="Microsoft YaHei"/>
              </a:rPr>
              <a:t xml:space="preserve"> AI </a:t>
            </a:r>
            <a:r>
              <a:rPr lang="zh-CN" sz="1575" b="1">
                <a:solidFill>
                  <a:srgbClr val="E5EDF7"/>
                </a:solidFill>
                <a:latin typeface="Microsoft YaHei"/>
                <a:ea typeface="Microsoft YaHei"/>
              </a:rPr>
              <a:t>成本高</a:t>
            </a:r>
            <a:endParaRPr/>
          </a:p>
        </p:txBody>
      </p:sp>
      <p:sp>
        <p:nvSpPr>
          <p:cNvPr id="335" name="" descr="{&quot;isTemplate&quot;:true,&quot;type&quot;:&quot;text&quot;}"/>
          <p:cNvSpPr txBox="1"/>
          <p:nvPr/>
        </p:nvSpPr>
        <p:spPr>
          <a:xfrm rot="0" flipH="0" flipV="0">
            <a:off x="4629150" y="4838700"/>
            <a:ext cx="4867275" cy="2952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看不到你的配置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>/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数据库；直接喂大上下文因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token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成本而昂贵。</a:t>
            </a:r>
            <a:endParaRPr/>
          </a:p>
        </p:txBody>
      </p:sp>
      <p:sp>
        <p:nvSpPr>
          <p:cNvPr id="336" name=""/>
          <p:cNvSpPr/>
          <p:nvPr/>
        </p:nvSpPr>
        <p:spPr>
          <a:xfrm rot="0" flipH="0" flipV="0">
            <a:off x="4114800" y="5743575"/>
            <a:ext cx="381000" cy="381000"/>
          </a:xfrm>
          <a:prstGeom prst="roundRect">
            <a:avLst>
              <a:gd name="adj" fmla="val 20000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sp>
        <p:nvSpPr>
          <p:cNvPr id="337" name="" descr="{&quot;isTemplate&quot;:true,&quot;type&quot;:&quot;text&quot;}"/>
          <p:cNvSpPr txBox="1"/>
          <p:nvPr/>
        </p:nvSpPr>
        <p:spPr>
          <a:xfrm rot="0" flipH="0" flipV="0">
            <a:off x="4248150" y="5819775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38BDF8"/>
                </a:solidFill>
                <a:latin typeface="Microsoft YaHei"/>
                <a:ea typeface="Microsoft YaHei"/>
              </a:rPr>
              <a:t>5</a:t>
            </a:r>
            <a:endParaRPr/>
          </a:p>
        </p:txBody>
      </p:sp>
      <p:sp>
        <p:nvSpPr>
          <p:cNvPr id="338" name="" descr="{&quot;isTemplate&quot;:true,&quot;type&quot;:&quot;text&quot;}"/>
          <p:cNvSpPr txBox="1"/>
          <p:nvPr/>
        </p:nvSpPr>
        <p:spPr>
          <a:xfrm rot="0" flipH="0" flipV="0">
            <a:off x="4629150" y="5743575"/>
            <a:ext cx="463867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E5EDF7"/>
                </a:solidFill>
                <a:latin typeface="Microsoft YaHei"/>
                <a:ea typeface="Microsoft YaHei"/>
              </a:rPr>
              <a:t>答案缺乏依据（</a:t>
            </a:r>
            <a:r>
              <a:rPr lang="en-US" sz="1575" b="1">
                <a:solidFill>
                  <a:srgbClr val="E5EDF7"/>
                </a:solidFill>
                <a:latin typeface="Microsoft YaHei"/>
                <a:ea typeface="Microsoft YaHei"/>
              </a:rPr>
              <a:t>ungrounded</a:t>
            </a:r>
            <a:r>
              <a:rPr lang="zh-CN" sz="1575" b="1">
                <a:solidFill>
                  <a:srgbClr val="E5EDF7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339" name="" descr="{&quot;isTemplate&quot;:true,&quot;type&quot;:&quot;text&quot;}"/>
          <p:cNvSpPr txBox="1"/>
          <p:nvPr/>
        </p:nvSpPr>
        <p:spPr>
          <a:xfrm rot="0" flipH="0" flipV="0">
            <a:off x="4629150" y="5991225"/>
            <a:ext cx="4638675" cy="2952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通用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LLM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给不出针对汽车领域、更别说你当前工程的具体答案。</a:t>
            </a:r>
            <a:endParaRPr/>
          </a:p>
        </p:txBody>
      </p:sp>
      <p:sp>
        <p:nvSpPr>
          <p:cNvPr id="340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18573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 xml:space="preserve">Vector CANoe AI · </a:t>
            </a:r>
            <a:r>
              <a:rPr lang="zh-CN" sz="1050">
                <a:solidFill>
                  <a:srgbClr val="94A3B8"/>
                </a:solidFill>
                <a:latin typeface="Microsoft YaHei"/>
                <a:ea typeface="Microsoft YaHei"/>
              </a:rPr>
              <a:t>研讨会分享</a:t>
            </a:r>
            <a:endParaRPr/>
          </a:p>
        </p:txBody>
      </p:sp>
      <p:sp>
        <p:nvSpPr>
          <p:cNvPr id="341" name="" descr="{&quot;isTemplate&quot;:true,&quot;type&quot;:&quot;text&quot;}"/>
          <p:cNvSpPr txBox="1"/>
          <p:nvPr/>
        </p:nvSpPr>
        <p:spPr>
          <a:xfrm rot="0" flipH="0" flipV="0">
            <a:off x="11125200" y="640080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>05 / 23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34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B1220"/>
              </a:gs>
              <a:gs pos="100000">
                <a:srgbClr val="16203A"/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344" name=""/>
          <p:cNvSpPr/>
          <p:nvPr/>
        </p:nvSpPr>
        <p:spPr>
          <a:xfrm rot="0" flipH="0" flipV="0">
            <a:off x="8763000" y="-571500"/>
            <a:ext cx="4000500" cy="4000500"/>
          </a:xfrm>
          <a:prstGeom prst="rect">
            <a:avLst/>
          </a:prstGeom>
          <a:gradFill>
            <a:gsLst>
              <a:gs pos="0">
                <a:srgbClr val="38BDF8">
                  <a:alpha val="12000"/>
                </a:srgbClr>
              </a:gs>
              <a:gs pos="70000">
                <a:srgbClr val="FFFF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/>
          <a:p>
            <a:pPr/>
            <a:endParaRPr/>
          </a:p>
        </p:txBody>
      </p:sp>
      <p:sp>
        <p:nvSpPr>
          <p:cNvPr id="345" name="" descr="{&quot;isTemplate&quot;:true,&quot;type&quot;:&quot;text&quot;}"/>
          <p:cNvSpPr txBox="1"/>
          <p:nvPr/>
        </p:nvSpPr>
        <p:spPr>
          <a:xfrm rot="0" flipH="0" flipV="0">
            <a:off x="6791325" y="1428750"/>
            <a:ext cx="5172075" cy="5029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0" b="1">
                <a:solidFill>
                  <a:srgbClr val="38BDF8">
                    <a:alpha val="20000"/>
                  </a:srgbClr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346" name="" descr="{&quot;isTemplate&quot;:true,&quot;type&quot;:&quot;text&quot;}"/>
          <p:cNvSpPr txBox="1"/>
          <p:nvPr/>
        </p:nvSpPr>
        <p:spPr>
          <a:xfrm rot="0" flipH="0" flipV="0">
            <a:off x="914400" y="2314575"/>
            <a:ext cx="5600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 spc="300">
                <a:solidFill>
                  <a:srgbClr val="38BDF8"/>
                </a:solidFill>
                <a:latin typeface="Microsoft YaHei"/>
                <a:ea typeface="Microsoft YaHei"/>
              </a:rPr>
              <a:t>CHAPTER 02</a:t>
            </a:r>
            <a:endParaRPr/>
          </a:p>
        </p:txBody>
      </p:sp>
      <p:sp>
        <p:nvSpPr>
          <p:cNvPr id="347" name="" descr="{&quot;isTemplate&quot;:true,&quot;type&quot;:&quot;text&quot;}"/>
          <p:cNvSpPr txBox="1"/>
          <p:nvPr/>
        </p:nvSpPr>
        <p:spPr>
          <a:xfrm rot="0" flipH="0" flipV="0">
            <a:off x="914400" y="2705100"/>
            <a:ext cx="5600700" cy="13716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4500" b="1">
                <a:solidFill>
                  <a:srgbClr val="E5EDF7"/>
                </a:solidFill>
                <a:latin typeface="Microsoft YaHei"/>
                <a:ea typeface="Microsoft YaHei"/>
              </a:rPr>
              <a:t>解决方案</a:t>
            </a:r>
            <a:r>
              <a:rPr lang="en-US" sz="4500" b="1">
                <a:solidFill>
                  <a:srgbClr val="E5EDF7"/>
                </a:solidFill>
                <a:latin typeface="Microsoft YaHei"/>
                <a:ea typeface="Microsoft YaHei"/>
              </a:rPr>
              <a:t xml:space="preserve"> · MCP </a:t>
            </a:r>
            <a:r>
              <a:rPr lang="zh-CN" sz="4500" b="1">
                <a:solidFill>
                  <a:srgbClr val="E5EDF7"/>
                </a:solidFill>
                <a:latin typeface="Microsoft YaHei"/>
                <a:ea typeface="Microsoft YaHei"/>
              </a:rPr>
              <a:t>与架构</a:t>
            </a:r>
            <a:endParaRPr/>
          </a:p>
        </p:txBody>
      </p:sp>
      <p:sp>
        <p:nvSpPr>
          <p:cNvPr id="348" name="" descr="{&quot;isTemplate&quot;:true,&quot;type&quot;:&quot;text&quot;}"/>
          <p:cNvSpPr txBox="1"/>
          <p:nvPr/>
        </p:nvSpPr>
        <p:spPr>
          <a:xfrm rot="0" flipH="0" flipV="0">
            <a:off x="914400" y="4286250"/>
            <a:ext cx="5600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94A3B8"/>
                </a:solidFill>
                <a:latin typeface="Microsoft YaHei"/>
                <a:ea typeface="Microsoft YaHei"/>
              </a:rPr>
              <a:t>模型上下文协议、</a:t>
            </a:r>
            <a:r>
              <a:rPr lang="en-US" sz="1650">
                <a:solidFill>
                  <a:srgbClr val="94A3B8"/>
                </a:solidFill>
                <a:latin typeface="Microsoft YaHei"/>
                <a:ea typeface="Microsoft YaHei"/>
              </a:rPr>
              <a:t xml:space="preserve">CANoe AI </a:t>
            </a:r>
            <a:r>
              <a:rPr lang="zh-CN" sz="1650">
                <a:solidFill>
                  <a:srgbClr val="94A3B8"/>
                </a:solidFill>
                <a:latin typeface="Microsoft YaHei"/>
                <a:ea typeface="Microsoft YaHei"/>
              </a:rPr>
              <a:t>架构与两种使用方式</a:t>
            </a:r>
            <a:endParaRPr/>
          </a:p>
        </p:txBody>
      </p:sp>
      <p:sp>
        <p:nvSpPr>
          <p:cNvPr id="349" name=""/>
          <p:cNvSpPr/>
          <p:nvPr/>
        </p:nvSpPr>
        <p:spPr>
          <a:xfrm rot="0" flipH="0" flipV="0">
            <a:off x="609600" y="6200775"/>
            <a:ext cx="10972800" cy="342900"/>
          </a:xfrm>
          <a:custGeom>
            <a:pathLst>
              <a:path w="1152" h="36">
                <a:moveTo>
                  <a:pt x="0" y="0"/>
                </a:moveTo>
                <a:lnTo>
                  <a:pt x="1152" y="0"/>
                </a:lnTo>
                <a:lnTo>
                  <a:pt x="1152" y="1"/>
                </a:lnTo>
                <a:lnTo>
                  <a:pt x="0" y="1"/>
                </a:lnTo>
                <a:close/>
              </a:path>
            </a:pathLst>
          </a:custGeom>
          <a:solidFill>
            <a:srgbClr val="94A3B8">
              <a:alpha val="25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350" name="" descr="{&quot;isTemplate&quot;:true,&quot;type&quot;:&quot;text&quot;}"/>
          <p:cNvSpPr txBox="1"/>
          <p:nvPr/>
        </p:nvSpPr>
        <p:spPr>
          <a:xfrm rot="0" flipH="0" flipV="0">
            <a:off x="609600" y="6343650"/>
            <a:ext cx="25336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第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章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用开放标准把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AI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接入工具链</a:t>
            </a:r>
            <a:endParaRPr/>
          </a:p>
        </p:txBody>
      </p:sp>
      <p:sp>
        <p:nvSpPr>
          <p:cNvPr id="351" name="" descr="{&quot;isTemplate&quot;:true,&quot;type&quot;:&quot;text&quot;}"/>
          <p:cNvSpPr txBox="1"/>
          <p:nvPr/>
        </p:nvSpPr>
        <p:spPr>
          <a:xfrm rot="0" flipH="0" flipV="0">
            <a:off x="10315575" y="6343650"/>
            <a:ext cx="12668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>Vector Informatik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35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>
            <a:pPr/>
            <a:endParaRPr/>
          </a:p>
        </p:txBody>
      </p:sp>
      <p:sp>
        <p:nvSpPr>
          <p:cNvPr id="354" name=""/>
          <p:cNvSpPr/>
          <p:nvPr/>
        </p:nvSpPr>
        <p:spPr>
          <a:xfrm rot="0" flipH="0" flipV="0">
            <a:off x="609600" y="190500"/>
            <a:ext cx="11029950" cy="952500"/>
          </a:xfrm>
          <a:custGeom>
            <a:pathLst>
              <a:path w="1158" h="100">
                <a:moveTo>
                  <a:pt x="0" y="0"/>
                </a:moveTo>
                <a:lnTo>
                  <a:pt x="6" y="0"/>
                </a:lnTo>
                <a:lnTo>
                  <a:pt x="6" y="100"/>
                </a:lnTo>
                <a:lnTo>
                  <a:pt x="0" y="100"/>
                </a:lnTo>
                <a:close/>
              </a:path>
            </a:pathLst>
          </a:custGeom>
          <a:solidFill>
            <a:srgbClr val="38BDF8"/>
          </a:solidFill>
          <a:ln/>
        </p:spPr>
        <p:txBody>
          <a:bodyPr/>
          <a:p>
            <a:pPr/>
            <a:endParaRPr/>
          </a:p>
        </p:txBody>
      </p:sp>
      <p:sp>
        <p:nvSpPr>
          <p:cNvPr id="355" name="" descr="{&quot;isTemplate&quot;:true,&quot;type&quot;:&quot;text&quot;}"/>
          <p:cNvSpPr txBox="1"/>
          <p:nvPr/>
        </p:nvSpPr>
        <p:spPr>
          <a:xfrm rot="0" flipH="0" flipV="0">
            <a:off x="838200" y="476250"/>
            <a:ext cx="107442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E5EDF7"/>
                </a:solidFill>
                <a:latin typeface="Microsoft YaHei"/>
                <a:ea typeface="Microsoft YaHei"/>
              </a:rPr>
              <a:t>解决方案：</a:t>
            </a:r>
            <a:r>
              <a:rPr lang="en-US" sz="2550" b="1">
                <a:solidFill>
                  <a:srgbClr val="E5EDF7"/>
                </a:solidFill>
                <a:latin typeface="Microsoft YaHei"/>
                <a:ea typeface="Microsoft YaHei"/>
              </a:rPr>
              <a:t>MCP</a:t>
            </a:r>
            <a:r>
              <a:rPr lang="zh-CN" sz="2550" b="1">
                <a:solidFill>
                  <a:srgbClr val="E5EDF7"/>
                </a:solidFill>
                <a:latin typeface="Microsoft YaHei"/>
                <a:ea typeface="Microsoft YaHei"/>
              </a:rPr>
              <a:t>（模型上下文协议）</a:t>
            </a:r>
            <a:endParaRPr/>
          </a:p>
        </p:txBody>
      </p:sp>
      <p:sp>
        <p:nvSpPr>
          <p:cNvPr id="356" name="" descr="{&quot;isTemplate&quot;:true,&quot;type&quot;:&quot;text&quot;}"/>
          <p:cNvSpPr txBox="1"/>
          <p:nvPr/>
        </p:nvSpPr>
        <p:spPr>
          <a:xfrm rot="0" flipH="0" flipV="0">
            <a:off x="609600" y="2752725"/>
            <a:ext cx="3400425" cy="876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700" b="1">
                <a:solidFill>
                  <a:srgbClr val="38BDF8"/>
                </a:solidFill>
                <a:latin typeface="Microsoft YaHei"/>
                <a:ea typeface="Microsoft YaHei"/>
              </a:rPr>
              <a:t>MCP</a:t>
            </a:r>
            <a:endParaRPr/>
          </a:p>
        </p:txBody>
      </p:sp>
      <p:sp>
        <p:nvSpPr>
          <p:cNvPr id="357" name="" descr="{&quot;isTemplate&quot;:true,&quot;type&quot;:&quot;text&quot;}"/>
          <p:cNvSpPr txBox="1"/>
          <p:nvPr/>
        </p:nvSpPr>
        <p:spPr>
          <a:xfrm rot="0" flipH="0" flipV="0">
            <a:off x="609600" y="3724275"/>
            <a:ext cx="34004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E5EDF7"/>
                </a:solidFill>
                <a:latin typeface="Microsoft YaHei"/>
                <a:ea typeface="Microsoft YaHei"/>
              </a:rPr>
              <a:t>模型上下文协议</a:t>
            </a:r>
            <a:endParaRPr/>
          </a:p>
        </p:txBody>
      </p:sp>
      <p:sp>
        <p:nvSpPr>
          <p:cNvPr id="358" name="" descr="{&quot;isTemplate&quot;:true,&quot;type&quot;:&quot;text&quot;}"/>
          <p:cNvSpPr txBox="1"/>
          <p:nvPr/>
        </p:nvSpPr>
        <p:spPr>
          <a:xfrm rot="0" flipH="0" flipV="0">
            <a:off x="609600" y="4095750"/>
            <a:ext cx="3400425" cy="5905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>Model Context Protocol</a:t>
            </a:r>
            <a:endParaRPr/>
          </a:p>
          <a:p>
            <a:pPr>
              <a:lnSpc>
                <a:spcPct val="160000"/>
              </a:lnSpc>
            </a:pP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与工具之间的开放标准接口</a:t>
            </a:r>
            <a:endParaRPr/>
          </a:p>
        </p:txBody>
      </p:sp>
      <p:sp>
        <p:nvSpPr>
          <p:cNvPr id="359" name=""/>
          <p:cNvSpPr/>
          <p:nvPr/>
        </p:nvSpPr>
        <p:spPr>
          <a:xfrm rot="0" flipH="0" flipV="0">
            <a:off x="4391025" y="2133600"/>
            <a:ext cx="7229475" cy="866775"/>
          </a:xfrm>
          <a:prstGeom prst="roundRect">
            <a:avLst>
              <a:gd name="adj" fmla="val 10989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sp>
        <p:nvSpPr>
          <p:cNvPr id="360" name=""/>
          <p:cNvSpPr/>
          <p:nvPr/>
        </p:nvSpPr>
        <p:spPr>
          <a:xfrm rot="0" flipH="0" flipV="0">
            <a:off x="4391025" y="2133600"/>
            <a:ext cx="7229475" cy="866775"/>
          </a:xfrm>
          <a:custGeom>
            <a:pathLst>
              <a:path w="759" h="91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85"/>
                </a:lnTo>
                <a:cubicBezTo>
                  <a:pt x="4" y="88"/>
                  <a:pt x="6" y="90"/>
                  <a:pt x="9" y="91"/>
                </a:cubicBezTo>
                <a:cubicBezTo>
                  <a:pt x="4" y="90"/>
                  <a:pt x="0" y="86"/>
                  <a:pt x="0" y="81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8BDF8"/>
          </a:solidFill>
          <a:ln/>
        </p:spPr>
        <p:txBody>
          <a:bodyPr/>
          <a:p>
            <a:pPr/>
            <a:endParaRPr/>
          </a:p>
        </p:txBody>
      </p:sp>
      <p:sp>
        <p:nvSpPr>
          <p:cNvPr id="361" name="" descr="{&quot;isTemplate&quot;:true,&quot;type&quot;:&quot;text&quot;}"/>
          <p:cNvSpPr txBox="1"/>
          <p:nvPr/>
        </p:nvSpPr>
        <p:spPr>
          <a:xfrm rot="0" flipH="0" flipV="0">
            <a:off x="4543425" y="2286000"/>
            <a:ext cx="68865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E5EDF7"/>
                </a:solidFill>
                <a:latin typeface="Microsoft YaHei"/>
                <a:ea typeface="Microsoft YaHei"/>
              </a:rPr>
              <a:t>开放标准</a:t>
            </a:r>
            <a:endParaRPr/>
          </a:p>
        </p:txBody>
      </p:sp>
      <p:sp>
        <p:nvSpPr>
          <p:cNvPr id="362" name="" descr="{&quot;isTemplate&quot;:true,&quot;type&quot;:&quot;text&quot;}"/>
          <p:cNvSpPr txBox="1"/>
          <p:nvPr/>
        </p:nvSpPr>
        <p:spPr>
          <a:xfrm rot="0" flipH="0" flipV="0">
            <a:off x="4543425" y="2552700"/>
            <a:ext cx="6886575" cy="2952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与应用程序之间的标准接口，由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Anthropic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发起，现为厂商中立、行业广泛采用。</a:t>
            </a:r>
            <a:endParaRPr/>
          </a:p>
        </p:txBody>
      </p:sp>
      <p:sp>
        <p:nvSpPr>
          <p:cNvPr id="363" name=""/>
          <p:cNvSpPr/>
          <p:nvPr/>
        </p:nvSpPr>
        <p:spPr>
          <a:xfrm rot="0" flipH="0" flipV="0">
            <a:off x="4391025" y="3133725"/>
            <a:ext cx="7229475" cy="866775"/>
          </a:xfrm>
          <a:prstGeom prst="roundRect">
            <a:avLst>
              <a:gd name="adj" fmla="val 10989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sp>
        <p:nvSpPr>
          <p:cNvPr id="364" name=""/>
          <p:cNvSpPr/>
          <p:nvPr/>
        </p:nvSpPr>
        <p:spPr>
          <a:xfrm rot="0" flipH="0" flipV="0">
            <a:off x="4391025" y="3133725"/>
            <a:ext cx="7229475" cy="866775"/>
          </a:xfrm>
          <a:custGeom>
            <a:pathLst>
              <a:path w="759" h="91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85"/>
                </a:lnTo>
                <a:cubicBezTo>
                  <a:pt x="4" y="88"/>
                  <a:pt x="6" y="90"/>
                  <a:pt x="9" y="91"/>
                </a:cubicBezTo>
                <a:cubicBezTo>
                  <a:pt x="4" y="90"/>
                  <a:pt x="0" y="86"/>
                  <a:pt x="0" y="81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8BDF8"/>
          </a:solidFill>
          <a:ln/>
        </p:spPr>
        <p:txBody>
          <a:bodyPr/>
          <a:p>
            <a:pPr/>
            <a:endParaRPr/>
          </a:p>
        </p:txBody>
      </p:sp>
      <p:sp>
        <p:nvSpPr>
          <p:cNvPr id="365" name="" descr="{&quot;isTemplate&quot;:true,&quot;type&quot;:&quot;text&quot;}"/>
          <p:cNvSpPr txBox="1"/>
          <p:nvPr/>
        </p:nvSpPr>
        <p:spPr>
          <a:xfrm rot="0" flipH="0" flipV="0">
            <a:off x="4543425" y="3286125"/>
            <a:ext cx="68865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E5EDF7"/>
                </a:solidFill>
                <a:latin typeface="Microsoft YaHei"/>
                <a:ea typeface="Microsoft YaHei"/>
              </a:rPr>
              <a:t xml:space="preserve">Vector </a:t>
            </a:r>
            <a:r>
              <a:rPr lang="zh-CN" sz="1500" b="1">
                <a:solidFill>
                  <a:srgbClr val="E5EDF7"/>
                </a:solidFill>
                <a:latin typeface="Microsoft YaHei"/>
                <a:ea typeface="Microsoft YaHei"/>
              </a:rPr>
              <a:t>落地</a:t>
            </a:r>
            <a:endParaRPr/>
          </a:p>
        </p:txBody>
      </p:sp>
      <p:sp>
        <p:nvSpPr>
          <p:cNvPr id="366" name="" descr="{&quot;isTemplate&quot;:true,&quot;type&quot;:&quot;text&quot;}"/>
          <p:cNvSpPr txBox="1"/>
          <p:nvPr/>
        </p:nvSpPr>
        <p:spPr>
          <a:xfrm rot="0" flipH="0" flipV="0">
            <a:off x="4543425" y="3552825"/>
            <a:ext cx="6886575" cy="2952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正把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MCP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及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MCP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服务器引入越来越多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Vector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工具，并持续扩展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MCP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工具。</a:t>
            </a:r>
            <a:endParaRPr/>
          </a:p>
        </p:txBody>
      </p:sp>
      <p:sp>
        <p:nvSpPr>
          <p:cNvPr id="367" name=""/>
          <p:cNvSpPr/>
          <p:nvPr/>
        </p:nvSpPr>
        <p:spPr>
          <a:xfrm rot="0" flipH="0" flipV="0">
            <a:off x="4391025" y="4133850"/>
            <a:ext cx="7229475" cy="1162050"/>
          </a:xfrm>
          <a:prstGeom prst="roundRect">
            <a:avLst>
              <a:gd name="adj" fmla="val 8197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sp>
        <p:nvSpPr>
          <p:cNvPr id="368" name=""/>
          <p:cNvSpPr/>
          <p:nvPr/>
        </p:nvSpPr>
        <p:spPr>
          <a:xfrm rot="0" flipH="0" flipV="0">
            <a:off x="4391025" y="4133850"/>
            <a:ext cx="7229475" cy="1162050"/>
          </a:xfrm>
          <a:custGeom>
            <a:pathLst>
              <a:path w="759" h="122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116"/>
                </a:lnTo>
                <a:cubicBezTo>
                  <a:pt x="4" y="119"/>
                  <a:pt x="6" y="121"/>
                  <a:pt x="9" y="122"/>
                </a:cubicBezTo>
                <a:cubicBezTo>
                  <a:pt x="4" y="121"/>
                  <a:pt x="0" y="117"/>
                  <a:pt x="0" y="11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F97316"/>
          </a:solidFill>
          <a:ln/>
        </p:spPr>
        <p:txBody>
          <a:bodyPr/>
          <a:p>
            <a:pPr/>
            <a:endParaRPr/>
          </a:p>
        </p:txBody>
      </p:sp>
      <p:sp>
        <p:nvSpPr>
          <p:cNvPr id="369" name="" descr="{&quot;isTemplate&quot;:true,&quot;type&quot;:&quot;text&quot;}"/>
          <p:cNvSpPr txBox="1"/>
          <p:nvPr/>
        </p:nvSpPr>
        <p:spPr>
          <a:xfrm rot="0" flipH="0" flipV="0">
            <a:off x="4543425" y="4286250"/>
            <a:ext cx="68865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E5EDF7"/>
                </a:solidFill>
                <a:latin typeface="Microsoft YaHei"/>
                <a:ea typeface="Microsoft YaHei"/>
              </a:rPr>
              <a:t>对</a:t>
            </a:r>
            <a:r>
              <a:rPr lang="en-US" sz="1500" b="1">
                <a:solidFill>
                  <a:srgbClr val="E5EDF7"/>
                </a:solidFill>
                <a:latin typeface="Microsoft YaHei"/>
                <a:ea typeface="Microsoft YaHei"/>
              </a:rPr>
              <a:t xml:space="preserve"> CANoe </a:t>
            </a:r>
            <a:r>
              <a:rPr lang="zh-CN" sz="1500" b="1">
                <a:solidFill>
                  <a:srgbClr val="E5EDF7"/>
                </a:solidFill>
                <a:latin typeface="Microsoft YaHei"/>
                <a:ea typeface="Microsoft YaHei"/>
              </a:rPr>
              <a:t>的两大赋能</a:t>
            </a:r>
            <a:endParaRPr/>
          </a:p>
        </p:txBody>
      </p:sp>
      <p:sp>
        <p:nvSpPr>
          <p:cNvPr id="370" name="" descr="{&quot;isTemplate&quot;:true,&quot;type&quot;:&quot;text&quot;}"/>
          <p:cNvSpPr txBox="1"/>
          <p:nvPr/>
        </p:nvSpPr>
        <p:spPr>
          <a:xfrm rot="0" flipH="0" flipV="0">
            <a:off x="4543425" y="4552950"/>
            <a:ext cx="6886575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① Knowledge Server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解决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答案无依据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；②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CANoe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本体（内置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MCP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）解决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缺少工具访问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371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18573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 xml:space="preserve">Vector CANoe AI · </a:t>
            </a:r>
            <a:r>
              <a:rPr lang="zh-CN" sz="1050">
                <a:solidFill>
                  <a:srgbClr val="94A3B8"/>
                </a:solidFill>
                <a:latin typeface="Microsoft YaHei"/>
                <a:ea typeface="Microsoft YaHei"/>
              </a:rPr>
              <a:t>研讨会分享</a:t>
            </a:r>
            <a:endParaRPr/>
          </a:p>
        </p:txBody>
      </p:sp>
      <p:sp>
        <p:nvSpPr>
          <p:cNvPr id="372" name="" descr="{&quot;isTemplate&quot;:true,&quot;type&quot;:&quot;text&quot;}"/>
          <p:cNvSpPr txBox="1"/>
          <p:nvPr/>
        </p:nvSpPr>
        <p:spPr>
          <a:xfrm rot="0" flipH="0" flipV="0">
            <a:off x="11125200" y="640080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>07 / 23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37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>
            <a:pPr/>
            <a:endParaRPr/>
          </a:p>
        </p:txBody>
      </p:sp>
      <p:sp>
        <p:nvSpPr>
          <p:cNvPr id="375" name=""/>
          <p:cNvSpPr/>
          <p:nvPr/>
        </p:nvSpPr>
        <p:spPr>
          <a:xfrm rot="0" flipH="0" flipV="0">
            <a:off x="609600" y="190500"/>
            <a:ext cx="11029950" cy="952500"/>
          </a:xfrm>
          <a:custGeom>
            <a:pathLst>
              <a:path w="1158" h="100">
                <a:moveTo>
                  <a:pt x="0" y="0"/>
                </a:moveTo>
                <a:lnTo>
                  <a:pt x="6" y="0"/>
                </a:lnTo>
                <a:lnTo>
                  <a:pt x="6" y="100"/>
                </a:lnTo>
                <a:lnTo>
                  <a:pt x="0" y="100"/>
                </a:lnTo>
                <a:close/>
              </a:path>
            </a:pathLst>
          </a:custGeom>
          <a:solidFill>
            <a:srgbClr val="38BDF8"/>
          </a:solidFill>
          <a:ln/>
        </p:spPr>
        <p:txBody>
          <a:bodyPr/>
          <a:p>
            <a:pPr/>
            <a:endParaRPr/>
          </a:p>
        </p:txBody>
      </p:sp>
      <p:sp>
        <p:nvSpPr>
          <p:cNvPr id="376" name="" descr="{&quot;isTemplate&quot;:true,&quot;type&quot;:&quot;text&quot;}"/>
          <p:cNvSpPr txBox="1"/>
          <p:nvPr/>
        </p:nvSpPr>
        <p:spPr>
          <a:xfrm rot="0" flipH="0" flipV="0">
            <a:off x="838200" y="476250"/>
            <a:ext cx="107442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E5EDF7"/>
                </a:solidFill>
                <a:latin typeface="Microsoft YaHei"/>
                <a:ea typeface="Microsoft YaHei"/>
              </a:rPr>
              <a:t xml:space="preserve">CANoe AI </a:t>
            </a:r>
            <a:r>
              <a:rPr lang="zh-CN" sz="2550" b="1">
                <a:solidFill>
                  <a:srgbClr val="E5EDF7"/>
                </a:solidFill>
                <a:latin typeface="Microsoft YaHei"/>
                <a:ea typeface="Microsoft YaHei"/>
              </a:rPr>
              <a:t>架构：</a:t>
            </a:r>
            <a:r>
              <a:rPr lang="en-US" sz="2550" b="1">
                <a:solidFill>
                  <a:srgbClr val="E5EDF7"/>
                </a:solidFill>
                <a:latin typeface="Microsoft YaHei"/>
                <a:ea typeface="Microsoft YaHei"/>
              </a:rPr>
              <a:t xml:space="preserve">Vector </a:t>
            </a:r>
            <a:r>
              <a:rPr lang="zh-CN" sz="2550" b="1">
                <a:solidFill>
                  <a:srgbClr val="E5EDF7"/>
                </a:solidFill>
                <a:latin typeface="Microsoft YaHei"/>
                <a:ea typeface="Microsoft YaHei"/>
              </a:rPr>
              <a:t>提供</a:t>
            </a:r>
            <a:r>
              <a:rPr lang="en-US" sz="2550" b="1">
                <a:solidFill>
                  <a:srgbClr val="E5EDF7"/>
                </a:solidFill>
                <a:latin typeface="Microsoft YaHei"/>
                <a:ea typeface="Microsoft YaHei"/>
              </a:rPr>
              <a:t xml:space="preserve"> vs </a:t>
            </a:r>
            <a:r>
              <a:rPr lang="zh-CN" sz="2550" b="1">
                <a:solidFill>
                  <a:srgbClr val="E5EDF7"/>
                </a:solidFill>
                <a:latin typeface="Microsoft YaHei"/>
                <a:ea typeface="Microsoft YaHei"/>
              </a:rPr>
              <a:t>你自带</a:t>
            </a:r>
            <a:endParaRPr/>
          </a:p>
        </p:txBody>
      </p:sp>
      <p:sp>
        <p:nvSpPr>
          <p:cNvPr id="377" name=""/>
          <p:cNvSpPr/>
          <p:nvPr/>
        </p:nvSpPr>
        <p:spPr>
          <a:xfrm rot="0" flipH="0" flipV="0">
            <a:off x="647700" y="1143000"/>
            <a:ext cx="4886325" cy="1847850"/>
          </a:xfrm>
          <a:prstGeom prst="roundRect">
            <a:avLst>
              <a:gd name="adj" fmla="val 5155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sp>
        <p:nvSpPr>
          <p:cNvPr id="378" name=""/>
          <p:cNvSpPr/>
          <p:nvPr/>
        </p:nvSpPr>
        <p:spPr>
          <a:xfrm rot="0" flipH="0" flipV="0">
            <a:off x="647700" y="1143000"/>
            <a:ext cx="4886325" cy="1847850"/>
          </a:xfrm>
          <a:custGeom>
            <a:pathLst>
              <a:path w="513" h="194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188"/>
                </a:lnTo>
                <a:cubicBezTo>
                  <a:pt x="4" y="191"/>
                  <a:pt x="6" y="193"/>
                  <a:pt x="9" y="194"/>
                </a:cubicBezTo>
                <a:cubicBezTo>
                  <a:pt x="4" y="193"/>
                  <a:pt x="0" y="189"/>
                  <a:pt x="0" y="18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EF4444"/>
          </a:solidFill>
          <a:ln/>
        </p:spPr>
        <p:txBody>
          <a:bodyPr/>
          <a:p>
            <a:pPr/>
            <a:endParaRPr/>
          </a:p>
        </p:txBody>
      </p:sp>
      <p:sp>
        <p:nvSpPr>
          <p:cNvPr id="379" name="" descr="{&quot;isTemplate&quot;:true,&quot;type&quot;:&quot;text&quot;}"/>
          <p:cNvSpPr txBox="1"/>
          <p:nvPr/>
        </p:nvSpPr>
        <p:spPr>
          <a:xfrm rot="0" flipH="0" flipV="0">
            <a:off x="800100" y="1457325"/>
            <a:ext cx="45434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EF4444"/>
                </a:solidFill>
                <a:latin typeface="Microsoft YaHei"/>
                <a:ea typeface="Microsoft YaHei"/>
              </a:rPr>
              <a:t xml:space="preserve">Vector </a:t>
            </a:r>
            <a:r>
              <a:rPr lang="zh-CN" sz="1500" b="1">
                <a:solidFill>
                  <a:srgbClr val="EF4444"/>
                </a:solidFill>
                <a:latin typeface="Microsoft YaHei"/>
                <a:ea typeface="Microsoft YaHei"/>
              </a:rPr>
              <a:t>提供（红）</a:t>
            </a:r>
            <a:endParaRPr/>
          </a:p>
        </p:txBody>
      </p:sp>
      <p:sp>
        <p:nvSpPr>
          <p:cNvPr id="380" name="" descr="{&quot;isTemplate&quot;:true,&quot;type&quot;:&quot;text&quot;}"/>
          <p:cNvSpPr txBox="1"/>
          <p:nvPr/>
        </p:nvSpPr>
        <p:spPr>
          <a:xfrm rot="0" flipH="0" flipV="0">
            <a:off x="800100" y="1743075"/>
            <a:ext cx="4543425" cy="9334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275">
                <a:solidFill>
                  <a:srgbClr val="E5EDF7"/>
                </a:solidFill>
                <a:latin typeface="Microsoft YaHei"/>
                <a:ea typeface="Microsoft YaHei"/>
              </a:rPr>
              <a:t>· CANoe AI Package</a:t>
            </a:r>
            <a:endParaRPr/>
          </a:p>
          <a:p>
            <a:pPr>
              <a:lnSpc>
                <a:spcPct val="160000"/>
              </a:lnSpc>
            </a:pPr>
            <a:r>
              <a:rPr lang="en-US" sz="1275">
                <a:solidFill>
                  <a:srgbClr val="E5EDF7"/>
                </a:solidFill>
                <a:latin typeface="Microsoft YaHei"/>
                <a:ea typeface="Microsoft YaHei"/>
              </a:rPr>
              <a:t>· Vector Knowledge Server</a:t>
            </a:r>
            <a:endParaRPr/>
          </a:p>
          <a:p>
            <a:pPr>
              <a:lnSpc>
                <a:spcPct val="160000"/>
              </a:lnSpc>
            </a:pPr>
            <a:r>
              <a:rPr lang="en-US" sz="1275">
                <a:solidFill>
                  <a:srgbClr val="E5EDF7"/>
                </a:solidFill>
                <a:latin typeface="Microsoft YaHei"/>
                <a:ea typeface="Microsoft YaHei"/>
              </a:rPr>
              <a:t xml:space="preserve">· CANoe </a:t>
            </a:r>
            <a:r>
              <a:rPr lang="zh-CN" sz="1275">
                <a:solidFill>
                  <a:srgbClr val="E5EDF7"/>
                </a:solidFill>
                <a:latin typeface="Microsoft YaHei"/>
                <a:ea typeface="Microsoft YaHei"/>
              </a:rPr>
              <a:t>本体（内置</a:t>
            </a:r>
            <a:r>
              <a:rPr lang="en-US" sz="1275">
                <a:solidFill>
                  <a:srgbClr val="E5EDF7"/>
                </a:solidFill>
                <a:latin typeface="Microsoft YaHei"/>
                <a:ea typeface="Microsoft YaHei"/>
              </a:rPr>
              <a:t xml:space="preserve"> MCP </a:t>
            </a:r>
            <a:r>
              <a:rPr lang="zh-CN" sz="1275">
                <a:solidFill>
                  <a:srgbClr val="E5EDF7"/>
                </a:solidFill>
                <a:latin typeface="Microsoft YaHei"/>
                <a:ea typeface="Microsoft YaHei"/>
              </a:rPr>
              <a:t>服务器</a:t>
            </a:r>
            <a:r>
              <a:rPr lang="en-US" sz="1275">
                <a:solidFill>
                  <a:srgbClr val="E5EDF7"/>
                </a:solidFill>
                <a:latin typeface="Microsoft YaHei"/>
                <a:ea typeface="Microsoft YaHei"/>
              </a:rPr>
              <a:t xml:space="preserve"> + AI </a:t>
            </a:r>
            <a:r>
              <a:rPr lang="zh-CN" sz="1275">
                <a:solidFill>
                  <a:srgbClr val="E5EDF7"/>
                </a:solidFill>
                <a:latin typeface="Microsoft YaHei"/>
                <a:ea typeface="Microsoft YaHei"/>
              </a:rPr>
              <a:t>助手）</a:t>
            </a:r>
            <a:endParaRPr/>
          </a:p>
        </p:txBody>
      </p:sp>
      <p:sp>
        <p:nvSpPr>
          <p:cNvPr id="381" name=""/>
          <p:cNvSpPr/>
          <p:nvPr/>
        </p:nvSpPr>
        <p:spPr>
          <a:xfrm rot="0" flipH="0" flipV="0">
            <a:off x="647700" y="3124200"/>
            <a:ext cx="4886325" cy="1847850"/>
          </a:xfrm>
          <a:prstGeom prst="roundRect">
            <a:avLst>
              <a:gd name="adj" fmla="val 5155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sp>
        <p:nvSpPr>
          <p:cNvPr id="382" name=""/>
          <p:cNvSpPr/>
          <p:nvPr/>
        </p:nvSpPr>
        <p:spPr>
          <a:xfrm rot="0" flipH="0" flipV="0">
            <a:off x="647700" y="3124200"/>
            <a:ext cx="4886325" cy="1847850"/>
          </a:xfrm>
          <a:custGeom>
            <a:pathLst>
              <a:path w="513" h="194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188"/>
                </a:lnTo>
                <a:cubicBezTo>
                  <a:pt x="4" y="191"/>
                  <a:pt x="6" y="193"/>
                  <a:pt x="9" y="194"/>
                </a:cubicBezTo>
                <a:cubicBezTo>
                  <a:pt x="4" y="193"/>
                  <a:pt x="0" y="189"/>
                  <a:pt x="0" y="18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8BDF8"/>
          </a:solidFill>
          <a:ln/>
        </p:spPr>
        <p:txBody>
          <a:bodyPr/>
          <a:p>
            <a:pPr/>
            <a:endParaRPr/>
          </a:p>
        </p:txBody>
      </p:sp>
      <p:sp>
        <p:nvSpPr>
          <p:cNvPr id="383" name="" descr="{&quot;isTemplate&quot;:true,&quot;type&quot;:&quot;text&quot;}"/>
          <p:cNvSpPr txBox="1"/>
          <p:nvPr/>
        </p:nvSpPr>
        <p:spPr>
          <a:xfrm rot="0" flipH="0" flipV="0">
            <a:off x="800100" y="3438525"/>
            <a:ext cx="45434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38BDF8"/>
                </a:solidFill>
                <a:latin typeface="Microsoft YaHei"/>
                <a:ea typeface="Microsoft YaHei"/>
              </a:rPr>
              <a:t>你自带（蓝）</a:t>
            </a:r>
            <a:endParaRPr/>
          </a:p>
        </p:txBody>
      </p:sp>
      <p:sp>
        <p:nvSpPr>
          <p:cNvPr id="384" name="" descr="{&quot;isTemplate&quot;:true,&quot;type&quot;:&quot;text&quot;}"/>
          <p:cNvSpPr txBox="1"/>
          <p:nvPr/>
        </p:nvSpPr>
        <p:spPr>
          <a:xfrm rot="0" flipH="0" flipV="0">
            <a:off x="800100" y="3724275"/>
            <a:ext cx="4543425" cy="9334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275">
                <a:solidFill>
                  <a:srgbClr val="E5EDF7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275">
                <a:solidFill>
                  <a:srgbClr val="E5EDF7"/>
                </a:solidFill>
                <a:latin typeface="Microsoft YaHei"/>
                <a:ea typeface="Microsoft YaHei"/>
              </a:rPr>
              <a:t>工程师：目标</a:t>
            </a:r>
            <a:r>
              <a:rPr lang="en-US" sz="1275">
                <a:solidFill>
                  <a:srgbClr val="E5EDF7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75">
                <a:solidFill>
                  <a:srgbClr val="E5EDF7"/>
                </a:solidFill>
                <a:latin typeface="Microsoft YaHei"/>
                <a:ea typeface="Microsoft YaHei"/>
              </a:rPr>
              <a:t>任务（</a:t>
            </a:r>
            <a:r>
              <a:rPr lang="en-US" sz="1275">
                <a:solidFill>
                  <a:srgbClr val="E5EDF7"/>
                </a:solidFill>
                <a:latin typeface="Microsoft YaHei"/>
                <a:ea typeface="Microsoft YaHei"/>
              </a:rPr>
              <a:t>prompt</a:t>
            </a:r>
            <a:r>
              <a:rPr lang="zh-CN" sz="1275">
                <a:solidFill>
                  <a:srgbClr val="E5EDF7"/>
                </a:solidFill>
                <a:latin typeface="Microsoft YaHei"/>
                <a:ea typeface="Microsoft YaHei"/>
              </a:rPr>
              <a:t>）</a:t>
            </a:r>
            <a:endParaRPr/>
          </a:p>
          <a:p>
            <a:pPr>
              <a:lnSpc>
                <a:spcPct val="160000"/>
              </a:lnSpc>
            </a:pPr>
            <a:r>
              <a:rPr lang="en-US" sz="1275">
                <a:solidFill>
                  <a:srgbClr val="E5EDF7"/>
                </a:solidFill>
                <a:latin typeface="Microsoft YaHei"/>
                <a:ea typeface="Microsoft YaHei"/>
              </a:rPr>
              <a:t xml:space="preserve">· AI </a:t>
            </a:r>
            <a:r>
              <a:rPr lang="zh-CN" sz="1275">
                <a:solidFill>
                  <a:srgbClr val="E5EDF7"/>
                </a:solidFill>
                <a:latin typeface="Microsoft YaHei"/>
                <a:ea typeface="Microsoft YaHei"/>
              </a:rPr>
              <a:t>运行时</a:t>
            </a:r>
            <a:r>
              <a:rPr lang="en-US" sz="1275">
                <a:solidFill>
                  <a:srgbClr val="E5EDF7"/>
                </a:solidFill>
                <a:latin typeface="Microsoft YaHei"/>
                <a:ea typeface="Microsoft YaHei"/>
              </a:rPr>
              <a:t xml:space="preserve"> harness</a:t>
            </a:r>
            <a:r>
              <a:rPr lang="zh-CN" sz="1275">
                <a:solidFill>
                  <a:srgbClr val="E5EDF7"/>
                </a:solidFill>
                <a:latin typeface="Microsoft YaHei"/>
                <a:ea typeface="Microsoft YaHei"/>
              </a:rPr>
              <a:t>：承载</a:t>
            </a:r>
            <a:r>
              <a:rPr lang="en-US" sz="1275">
                <a:solidFill>
                  <a:srgbClr val="E5EDF7"/>
                </a:solidFill>
                <a:latin typeface="Microsoft YaHei"/>
                <a:ea typeface="Microsoft YaHei"/>
              </a:rPr>
              <a:t xml:space="preserve"> LLM</a:t>
            </a:r>
            <a:endParaRPr/>
          </a:p>
          <a:p>
            <a:pPr>
              <a:lnSpc>
                <a:spcPct val="160000"/>
              </a:lnSpc>
            </a:pPr>
            <a:r>
              <a:rPr lang="en-US" sz="1275">
                <a:solidFill>
                  <a:srgbClr val="E5EDF7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275">
                <a:solidFill>
                  <a:srgbClr val="E5EDF7"/>
                </a:solidFill>
                <a:latin typeface="Microsoft YaHei"/>
                <a:ea typeface="Microsoft YaHei"/>
              </a:rPr>
              <a:t>你的上下文：数据</a:t>
            </a:r>
            <a:r>
              <a:rPr lang="en-US" sz="1275">
                <a:solidFill>
                  <a:srgbClr val="E5EDF7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75">
                <a:solidFill>
                  <a:srgbClr val="E5EDF7"/>
                </a:solidFill>
                <a:latin typeface="Microsoft YaHei"/>
                <a:ea typeface="Microsoft YaHei"/>
              </a:rPr>
              <a:t>规范</a:t>
            </a:r>
            <a:r>
              <a:rPr lang="en-US" sz="1275">
                <a:solidFill>
                  <a:srgbClr val="E5EDF7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75">
                <a:solidFill>
                  <a:srgbClr val="E5EDF7"/>
                </a:solidFill>
                <a:latin typeface="Microsoft YaHei"/>
                <a:ea typeface="Microsoft YaHei"/>
              </a:rPr>
              <a:t>需求</a:t>
            </a:r>
            <a:r>
              <a:rPr lang="en-US" sz="1275">
                <a:solidFill>
                  <a:srgbClr val="E5EDF7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75">
                <a:solidFill>
                  <a:srgbClr val="E5EDF7"/>
                </a:solidFill>
                <a:latin typeface="Microsoft YaHei"/>
                <a:ea typeface="Microsoft YaHei"/>
              </a:rPr>
              <a:t>数据库</a:t>
            </a:r>
            <a:endParaRPr/>
          </a:p>
        </p:txBody>
      </p:sp>
      <p:sp>
        <p:nvSpPr>
          <p:cNvPr id="385" name=""/>
          <p:cNvSpPr/>
          <p:nvPr/>
        </p:nvSpPr>
        <p:spPr>
          <a:xfrm rot="0" flipH="0" flipV="0">
            <a:off x="647700" y="5105400"/>
            <a:ext cx="4886325" cy="1181100"/>
          </a:xfrm>
          <a:prstGeom prst="roundRect">
            <a:avLst>
              <a:gd name="adj" fmla="val 8065"/>
            </a:avLst>
          </a:prstGeom>
          <a:solidFill>
            <a:srgbClr val="F97316">
              <a:alpha val="10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386" name=""/>
          <p:cNvSpPr/>
          <p:nvPr/>
        </p:nvSpPr>
        <p:spPr>
          <a:xfrm rot="0" flipH="0" flipV="0">
            <a:off x="647700" y="5105400"/>
            <a:ext cx="4886325" cy="1181100"/>
          </a:xfrm>
          <a:custGeom>
            <a:pathLst>
              <a:path w="513" h="124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118"/>
                </a:lnTo>
                <a:cubicBezTo>
                  <a:pt x="4" y="121"/>
                  <a:pt x="6" y="123"/>
                  <a:pt x="9" y="124"/>
                </a:cubicBezTo>
                <a:cubicBezTo>
                  <a:pt x="4" y="123"/>
                  <a:pt x="0" y="119"/>
                  <a:pt x="0" y="11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F97316"/>
          </a:solidFill>
          <a:ln/>
        </p:spPr>
        <p:txBody>
          <a:bodyPr/>
          <a:p>
            <a:pPr/>
            <a:endParaRPr/>
          </a:p>
        </p:txBody>
      </p:sp>
      <p:sp>
        <p:nvSpPr>
          <p:cNvPr id="387" name="" descr="{&quot;isTemplate&quot;:true,&quot;type&quot;:&quot;text&quot;}"/>
          <p:cNvSpPr txBox="1"/>
          <p:nvPr/>
        </p:nvSpPr>
        <p:spPr>
          <a:xfrm rot="0" flipH="0" flipV="0">
            <a:off x="781050" y="5400675"/>
            <a:ext cx="4581525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75">
                <a:solidFill>
                  <a:srgbClr val="E5EDF7"/>
                </a:solidFill>
                <a:latin typeface="Microsoft YaHei"/>
                <a:ea typeface="Microsoft YaHei"/>
              </a:rPr>
              <a:t>关键原则</a:t>
            </a:r>
            <a:r>
              <a:rPr lang="en-US" sz="1275">
                <a:solidFill>
                  <a:srgbClr val="E5EDF7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275" b="1">
                <a:solidFill>
                  <a:srgbClr val="F97316"/>
                </a:solidFill>
                <a:latin typeface="Microsoft YaHei"/>
                <a:ea typeface="Microsoft YaHei"/>
              </a:rPr>
              <a:t xml:space="preserve">BYOM </a:t>
            </a:r>
            <a:r>
              <a:rPr lang="zh-CN" sz="1275" b="1">
                <a:solidFill>
                  <a:srgbClr val="F97316"/>
                </a:solidFill>
                <a:latin typeface="Microsoft YaHei"/>
                <a:ea typeface="Microsoft YaHei"/>
              </a:rPr>
              <a:t>自带模型</a:t>
            </a:r>
            <a:r>
              <a:rPr lang="zh-CN" sz="1275">
                <a:solidFill>
                  <a:srgbClr val="E5EDF7"/>
                </a:solidFill>
                <a:latin typeface="Microsoft YaHei"/>
                <a:ea typeface="Microsoft YaHei"/>
              </a:rPr>
              <a:t>：</a:t>
            </a:r>
            <a:r>
              <a:rPr lang="en-US" sz="1275">
                <a:solidFill>
                  <a:srgbClr val="E5EDF7"/>
                </a:solidFill>
                <a:latin typeface="Microsoft YaHei"/>
                <a:ea typeface="Microsoft YaHei"/>
              </a:rPr>
              <a:t xml:space="preserve">Vector </a:t>
            </a:r>
            <a:r>
              <a:rPr lang="zh-CN" sz="1275">
                <a:solidFill>
                  <a:srgbClr val="E5EDF7"/>
                </a:solidFill>
                <a:latin typeface="Microsoft YaHei"/>
                <a:ea typeface="Microsoft YaHei"/>
              </a:rPr>
              <a:t>不提供</a:t>
            </a:r>
            <a:r>
              <a:rPr lang="en-US" sz="1275">
                <a:solidFill>
                  <a:srgbClr val="E5EDF7"/>
                </a:solidFill>
                <a:latin typeface="Microsoft YaHei"/>
                <a:ea typeface="Microsoft YaHei"/>
              </a:rPr>
              <a:t xml:space="preserve"> LLM</a:t>
            </a:r>
            <a:r>
              <a:rPr lang="zh-CN" sz="1275">
                <a:solidFill>
                  <a:srgbClr val="E5EDF7"/>
                </a:solidFill>
                <a:latin typeface="Microsoft YaHei"/>
                <a:ea typeface="Microsoft YaHei"/>
              </a:rPr>
              <a:t>，需自带端点（</a:t>
            </a:r>
            <a:r>
              <a:rPr lang="en-US" sz="1275">
                <a:solidFill>
                  <a:srgbClr val="E5EDF7"/>
                </a:solidFill>
                <a:latin typeface="Microsoft YaHei"/>
                <a:ea typeface="Microsoft YaHei"/>
              </a:rPr>
              <a:t xml:space="preserve">GitHub Copilot / Claude / </a:t>
            </a:r>
            <a:r>
              <a:rPr lang="zh-CN" sz="1275">
                <a:solidFill>
                  <a:srgbClr val="E5EDF7"/>
                </a:solidFill>
                <a:latin typeface="Microsoft YaHei"/>
                <a:ea typeface="Microsoft YaHei"/>
              </a:rPr>
              <a:t>自训）。</a:t>
            </a:r>
            <a:endParaRPr/>
          </a:p>
        </p:txBody>
      </p:sp>
      <p:sp>
        <p:nvSpPr>
          <p:cNvPr id="388" name=""/>
          <p:cNvSpPr/>
          <p:nvPr/>
        </p:nvSpPr>
        <p:spPr>
          <a:xfrm rot="0" flipH="0" flipV="0">
            <a:off x="5838825" y="1143000"/>
            <a:ext cx="5743575" cy="3314700"/>
          </a:xfrm>
          <a:prstGeom prst="roundRect">
            <a:avLst>
              <a:gd name="adj" fmla="val 3448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pic>
        <p:nvPicPr>
          <p:cNvPr id="389" name=""/>
          <p:cNvPicPr>
            <a:picLocks noChangeAspect="1"/>
          </p:cNvPicPr>
          <p:nvPr/>
        </p:nvPicPr>
        <p:blipFill>
          <a:blip r:embed="rId1"/>
          <a:srcRect l="0" t="2195" r="0" b="2195"/>
          <a:stretch>
            <a:fillRect/>
          </a:stretch>
        </p:blipFill>
        <p:spPr>
          <a:xfrm rot="0" flipH="0" flipV="0">
            <a:off x="5953125" y="1257300"/>
            <a:ext cx="5514975" cy="3086100"/>
          </a:xfrm>
          <a:prstGeom prst="rect">
            <a:avLst/>
          </a:prstGeom>
          <a:ln/>
        </p:spPr>
      </p:pic>
      <p:sp>
        <p:nvSpPr>
          <p:cNvPr id="390" name=""/>
          <p:cNvSpPr/>
          <p:nvPr/>
        </p:nvSpPr>
        <p:spPr>
          <a:xfrm rot="0" flipH="0" flipV="0">
            <a:off x="5838825" y="4572000"/>
            <a:ext cx="5743575" cy="1714500"/>
          </a:xfrm>
          <a:prstGeom prst="roundRect">
            <a:avLst>
              <a:gd name="adj" fmla="val 6667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sp>
        <p:nvSpPr>
          <p:cNvPr id="391" name="" descr="{&quot;isTemplate&quot;:true,&quot;type&quot;:&quot;text&quot;}"/>
          <p:cNvSpPr txBox="1"/>
          <p:nvPr/>
        </p:nvSpPr>
        <p:spPr>
          <a:xfrm rot="0" flipH="0" flipV="0">
            <a:off x="5991225" y="5153025"/>
            <a:ext cx="543877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图：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CANoe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内部代理架构——工程师的任务经</a:t>
            </a:r>
            <a:r>
              <a:rPr lang="zh-CN" sz="1200">
                <a:solidFill>
                  <a:srgbClr val="38BDF8"/>
                </a:solidFill>
                <a:latin typeface="Microsoft YaHei"/>
                <a:ea typeface="Microsoft YaHei"/>
              </a:rPr>
              <a:t>编排器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调度专用代理，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助手与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MCP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服务器内置于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CANoe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392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18573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 xml:space="preserve">Vector CANoe AI · </a:t>
            </a:r>
            <a:r>
              <a:rPr lang="zh-CN" sz="1050">
                <a:solidFill>
                  <a:srgbClr val="94A3B8"/>
                </a:solidFill>
                <a:latin typeface="Microsoft YaHei"/>
                <a:ea typeface="Microsoft YaHei"/>
              </a:rPr>
              <a:t>研讨会分享</a:t>
            </a:r>
            <a:endParaRPr/>
          </a:p>
        </p:txBody>
      </p:sp>
      <p:sp>
        <p:nvSpPr>
          <p:cNvPr id="393" name="" descr="{&quot;isTemplate&quot;:true,&quot;type&quot;:&quot;text&quot;}"/>
          <p:cNvSpPr txBox="1"/>
          <p:nvPr/>
        </p:nvSpPr>
        <p:spPr>
          <a:xfrm rot="0" flipH="0" flipV="0">
            <a:off x="11125200" y="640080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>08 / 23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394" name="" descr="&lt;Slide style={{ width: '1280px', height: '720px', background: '#0B1220', padding: '20px 64px' }}&gt;&#10;  &lt;Box style={{ height: 100, borderLeft: '6px solid #38BDF8', paddingLeft: 18, justifyContent: 'center' }}&gt;&#10;    &lt;Text style={{ fontSize: 34, fontWeight: 'bold', color: '#E5EDF7' }}&gt;两种使用方式&lt;/Text&gt;&#10;  &lt;/Box&gt;&#10;  &lt;Box style={{ height: 540, flexDirection: 'row', gap: 32, alignItems: 'stretch' }}&gt;&#10;    &lt;Box style={{ width: '46%', gap: 14 }}&gt;&#10;      &lt;Box style={{ flex: 1, background: '#16203A', borderRadius: 12, padding: 20, borderTop: '3px solid #38BDF8', justifyContent: 'center' }}&gt;&#10;        &lt;Text style={{ fontSize: 22, fontWeight: 'bold', color: '#E5EDF7' }}&gt;方式一 · IDE 内聊天客户端&lt;/Text&gt;&#10;        &lt;Text style={{ fontSize: 17, color: '#94A3B8', lineHeight: 1.6, marginTop: 8 }}&gt;如已购 GitHub Copilot / Claude 许可，在 IDE 内配置 LLM 端点。&lt;Text style={{ color: '#E5EDF7' }}&gt;适合开发者、高级用户、CI/CD 与多步工作流。&lt;/Text&gt;&lt;/Text&gt;&#10;      &lt;/Box&gt;&#10;      &lt;Box style={{ flex: 1, background: '#16203A', borderRadius: 12, padding: 20, borderTop: '3px solid #F97316', justifyContent: 'center' }}&gt;&#10;        &lt;Text style={{ fontSize: 22, fontWeight: 'bold', color: '#E5EDF7' }}&gt;方式二 · CANoe 内置 AI 助手&lt;/Text&gt;&#10;        &lt;Text style={{ fontSize: 17, color: '#94A3B8', lineHeight: 1.6, marginTop: 8 }}&gt;聊天窗口直接嵌在 CANoe 中。&lt;Text style={{ color: '#E5EDF7' }}&gt;适合不使用 VS Code、主要工作在 CANoe 上的人与 AI 新手。&lt;/Text&gt;&lt;/Text&gt;&#10;      &lt;/Box&gt;&#10;      &lt;Box style={{ flex: 1, background: 'rgba(56,189,248,0.08)', borderRadius: 12, padding: 20, borderLeft: '4px solid #38BDF8', justifyContent: 'center' }}&gt;&#10;        &lt;Text style={{ fontSize: 18, fontWeight: 'bold', color: '#38BDF8' }}&gt;怎么选？&lt;/Text&gt;&#10;        &lt;Text style={{ fontSize: 16, color: '#94A3B8', lineHeight: 1.6, marginTop: 6 }}&gt;重自动化、要跑 CI/CD → 方式一；只想在 CANoe 里随手问 → 方式二。两者共用同一套代理与 MCP 能力。&lt;/Text&gt;&#10;      &lt;/Box&gt;&#10;    &lt;/Box&gt;&#10;    &lt;Box style={{ width: '54%', flexDirection: 'column', gap: 12 }}&gt;&#10;      &lt;Box style={{ height: 348, background: '#16203A', borderRadius: 12, padding: 12, justifyContent: 'center' }}&gt;&#10;        &lt;Image src=&quot;assets/harness_llm.png&quot; style={{ width: '100%', height: '100%', objectFit: 'contain' }} /&gt;&#10;      &lt;/Box&gt;&#10;      &lt;Box style={{ flex: 1, background: '#16203A', borderRadius: 12, padding: 16, justifyContent: 'center' }}&gt;&#10;        &lt;Text style={{ fontSize: 16, color: '#94A3B8', lineHeight: 1.5 }}&gt;图：AI 运行时（harness）承载 LLM——在 CANoe 内或 IDE 中，接入你自己的 LLM 端点。&lt;/Text&gt;&#10;      &lt;/Box&gt;&#10;    &lt;/Box&gt;&#10;  &lt;/Box&gt;&#10;  &lt;Box style={{ height: 40, flexDirection: 'row', justifyContent: 'space-between', alignItems: 'center' }}&gt;&#10;    &lt;Text style={{ fontSize: 14, color: '#94A3B8' }}&gt;Vector CANoe AI · 研讨会分享&lt;/Text&gt;&#10;    &lt;Text style={{ fontSize: 14, color: '#94A3B8' }}&gt;09 / 23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396" name=""/>
          <p:cNvSpPr/>
          <p:nvPr/>
        </p:nvSpPr>
        <p:spPr>
          <a:xfrm rot="0" flipH="0" flipV="0">
            <a:off x="609600" y="190500"/>
            <a:ext cx="11029950" cy="952500"/>
          </a:xfrm>
          <a:custGeom>
            <a:pathLst>
              <a:path w="1158" h="100">
                <a:moveTo>
                  <a:pt x="0" y="0"/>
                </a:moveTo>
                <a:lnTo>
                  <a:pt x="6" y="0"/>
                </a:lnTo>
                <a:lnTo>
                  <a:pt x="6" y="100"/>
                </a:lnTo>
                <a:lnTo>
                  <a:pt x="0" y="100"/>
                </a:lnTo>
                <a:close/>
              </a:path>
            </a:pathLst>
          </a:custGeom>
          <a:solidFill>
            <a:srgbClr val="38BDF8"/>
          </a:solidFill>
          <a:ln/>
        </p:spPr>
        <p:txBody>
          <a:bodyPr/>
          <a:p/>
        </p:txBody>
      </p:sp>
      <p:sp>
        <p:nvSpPr>
          <p:cNvPr id="397" name="" descr="{&quot;isTemplate&quot;:true,&quot;type&quot;:&quot;text&quot;}"/>
          <p:cNvSpPr txBox="1"/>
          <p:nvPr/>
        </p:nvSpPr>
        <p:spPr>
          <a:xfrm rot="0" flipH="0" flipV="0">
            <a:off x="838200" y="476250"/>
            <a:ext cx="107442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E5EDF7"/>
                </a:solidFill>
                <a:latin typeface="Microsoft YaHei"/>
                <a:ea typeface="Microsoft YaHei"/>
              </a:rPr>
              <a:t>两种使用方式</a:t>
            </a:r>
            <a:endParaRPr/>
          </a:p>
        </p:txBody>
      </p:sp>
      <p:sp>
        <p:nvSpPr>
          <p:cNvPr id="398" name=""/>
          <p:cNvSpPr/>
          <p:nvPr/>
        </p:nvSpPr>
        <p:spPr>
          <a:xfrm rot="0" flipH="0" flipV="0">
            <a:off x="609600" y="1171575"/>
            <a:ext cx="4905375" cy="1666875"/>
          </a:xfrm>
          <a:prstGeom prst="roundRect">
            <a:avLst>
              <a:gd name="adj" fmla="val 6857"/>
            </a:avLst>
          </a:prstGeom>
          <a:solidFill>
            <a:srgbClr val="16203A"/>
          </a:solidFill>
          <a:ln/>
        </p:spPr>
        <p:txBody>
          <a:bodyPr/>
          <a:p/>
        </p:txBody>
      </p:sp>
      <p:sp>
        <p:nvSpPr>
          <p:cNvPr id="399" name=""/>
          <p:cNvSpPr/>
          <p:nvPr/>
        </p:nvSpPr>
        <p:spPr>
          <a:xfrm rot="0" flipH="0" flipV="0">
            <a:off x="609600" y="1171575"/>
            <a:ext cx="4905375" cy="1666875"/>
          </a:xfrm>
          <a:custGeom>
            <a:pathLst>
              <a:path w="515" h="175">
                <a:moveTo>
                  <a:pt x="504" y="0"/>
                </a:moveTo>
                <a:cubicBezTo>
                  <a:pt x="509" y="0"/>
                  <a:pt x="514" y="4"/>
                  <a:pt x="515" y="9"/>
                </a:cubicBezTo>
                <a:cubicBezTo>
                  <a:pt x="513" y="6"/>
                  <a:pt x="510" y="3"/>
                  <a:pt x="506" y="3"/>
                </a:cubicBezTo>
                <a:lnTo>
                  <a:pt x="9" y="3"/>
                </a:lnTo>
                <a:cubicBezTo>
                  <a:pt x="5" y="3"/>
                  <a:pt x="1" y="6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503" y="0"/>
                </a:lnTo>
                <a:close/>
              </a:path>
            </a:pathLst>
          </a:custGeom>
          <a:solidFill>
            <a:srgbClr val="38BDF8"/>
          </a:solidFill>
          <a:ln/>
        </p:spPr>
        <p:txBody>
          <a:bodyPr/>
          <a:p/>
        </p:txBody>
      </p:sp>
      <p:sp>
        <p:nvSpPr>
          <p:cNvPr id="400" name="" descr="{&quot;isTemplate&quot;:true,&quot;type&quot;:&quot;text&quot;}"/>
          <p:cNvSpPr txBox="1"/>
          <p:nvPr/>
        </p:nvSpPr>
        <p:spPr>
          <a:xfrm rot="0" flipH="0" flipV="0">
            <a:off x="800100" y="1514475"/>
            <a:ext cx="45243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E5EDF7"/>
                </a:solidFill>
                <a:latin typeface="Microsoft YaHei"/>
                <a:ea typeface="Microsoft YaHei"/>
              </a:rPr>
              <a:t>方式一</a:t>
            </a:r>
            <a:r>
              <a:rPr lang="en-US" sz="1650" b="1">
                <a:solidFill>
                  <a:srgbClr val="E5EDF7"/>
                </a:solidFill>
                <a:latin typeface="Microsoft YaHei"/>
                <a:ea typeface="Microsoft YaHei"/>
              </a:rPr>
              <a:t xml:space="preserve"> · IDE </a:t>
            </a:r>
            <a:r>
              <a:rPr lang="zh-CN" sz="1650" b="1">
                <a:solidFill>
                  <a:srgbClr val="E5EDF7"/>
                </a:solidFill>
                <a:latin typeface="Microsoft YaHei"/>
                <a:ea typeface="Microsoft YaHei"/>
              </a:rPr>
              <a:t>内聊天客户端</a:t>
            </a:r>
            <a:endParaRPr/>
          </a:p>
        </p:txBody>
      </p:sp>
      <p:sp>
        <p:nvSpPr>
          <p:cNvPr id="401" name="" descr="{&quot;isTemplate&quot;:true,&quot;type&quot;:&quot;text&quot;}"/>
          <p:cNvSpPr txBox="1"/>
          <p:nvPr/>
        </p:nvSpPr>
        <p:spPr>
          <a:xfrm rot="0" flipH="0" flipV="0">
            <a:off x="800100" y="1847850"/>
            <a:ext cx="4524375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如已购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GitHub Copilot / Claude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许可，在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IDE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内配置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LLM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端点。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适合开发者、高级用户、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CI/CD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与多步工作流。</a:t>
            </a:r>
            <a:endParaRPr/>
          </a:p>
        </p:txBody>
      </p:sp>
      <p:sp>
        <p:nvSpPr>
          <p:cNvPr id="402" name=""/>
          <p:cNvSpPr/>
          <p:nvPr/>
        </p:nvSpPr>
        <p:spPr>
          <a:xfrm rot="0" flipH="0" flipV="0">
            <a:off x="609600" y="2971800"/>
            <a:ext cx="4905375" cy="1676400"/>
          </a:xfrm>
          <a:prstGeom prst="roundRect">
            <a:avLst>
              <a:gd name="adj" fmla="val 6818"/>
            </a:avLst>
          </a:prstGeom>
          <a:solidFill>
            <a:srgbClr val="16203A"/>
          </a:solidFill>
          <a:ln/>
        </p:spPr>
        <p:txBody>
          <a:bodyPr/>
          <a:p/>
        </p:txBody>
      </p:sp>
      <p:sp>
        <p:nvSpPr>
          <p:cNvPr id="403" name=""/>
          <p:cNvSpPr/>
          <p:nvPr/>
        </p:nvSpPr>
        <p:spPr>
          <a:xfrm rot="0" flipH="0" flipV="0">
            <a:off x="609600" y="2971800"/>
            <a:ext cx="4905375" cy="1676400"/>
          </a:xfrm>
          <a:custGeom>
            <a:pathLst>
              <a:path w="515" h="176">
                <a:moveTo>
                  <a:pt x="504" y="0"/>
                </a:moveTo>
                <a:cubicBezTo>
                  <a:pt x="509" y="0"/>
                  <a:pt x="514" y="4"/>
                  <a:pt x="515" y="9"/>
                </a:cubicBezTo>
                <a:cubicBezTo>
                  <a:pt x="513" y="6"/>
                  <a:pt x="510" y="3"/>
                  <a:pt x="506" y="3"/>
                </a:cubicBezTo>
                <a:lnTo>
                  <a:pt x="9" y="3"/>
                </a:lnTo>
                <a:cubicBezTo>
                  <a:pt x="5" y="3"/>
                  <a:pt x="1" y="6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503" y="0"/>
                </a:lnTo>
                <a:close/>
              </a:path>
            </a:pathLst>
          </a:custGeom>
          <a:solidFill>
            <a:srgbClr val="F97316"/>
          </a:solidFill>
          <a:ln/>
        </p:spPr>
        <p:txBody>
          <a:bodyPr/>
          <a:p/>
        </p:txBody>
      </p:sp>
      <p:sp>
        <p:nvSpPr>
          <p:cNvPr id="404" name="" descr="{&quot;isTemplate&quot;:true,&quot;type&quot;:&quot;text&quot;}"/>
          <p:cNvSpPr txBox="1"/>
          <p:nvPr/>
        </p:nvSpPr>
        <p:spPr>
          <a:xfrm rot="0" flipH="0" flipV="0">
            <a:off x="800100" y="3314700"/>
            <a:ext cx="45243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E5EDF7"/>
                </a:solidFill>
                <a:latin typeface="Microsoft YaHei"/>
                <a:ea typeface="Microsoft YaHei"/>
              </a:rPr>
              <a:t>方式二</a:t>
            </a:r>
            <a:r>
              <a:rPr lang="en-US" sz="1650" b="1">
                <a:solidFill>
                  <a:srgbClr val="E5EDF7"/>
                </a:solidFill>
                <a:latin typeface="Microsoft YaHei"/>
                <a:ea typeface="Microsoft YaHei"/>
              </a:rPr>
              <a:t xml:space="preserve"> · CANoe </a:t>
            </a:r>
            <a:r>
              <a:rPr lang="zh-CN" sz="1650" b="1">
                <a:solidFill>
                  <a:srgbClr val="E5EDF7"/>
                </a:solidFill>
                <a:latin typeface="Microsoft YaHei"/>
                <a:ea typeface="Microsoft YaHei"/>
              </a:rPr>
              <a:t>内置</a:t>
            </a:r>
            <a:r>
              <a:rPr lang="en-US" sz="1650" b="1">
                <a:solidFill>
                  <a:srgbClr val="E5EDF7"/>
                </a:solidFill>
                <a:latin typeface="Microsoft YaHei"/>
                <a:ea typeface="Microsoft YaHei"/>
              </a:rPr>
              <a:t xml:space="preserve"> AI </a:t>
            </a:r>
            <a:r>
              <a:rPr lang="zh-CN" sz="1650" b="1">
                <a:solidFill>
                  <a:srgbClr val="E5EDF7"/>
                </a:solidFill>
                <a:latin typeface="Microsoft YaHei"/>
                <a:ea typeface="Microsoft YaHei"/>
              </a:rPr>
              <a:t>助手</a:t>
            </a:r>
            <a:endParaRPr/>
          </a:p>
        </p:txBody>
      </p:sp>
      <p:sp>
        <p:nvSpPr>
          <p:cNvPr id="405" name="" descr="{&quot;isTemplate&quot;:true,&quot;type&quot;:&quot;text&quot;}"/>
          <p:cNvSpPr txBox="1"/>
          <p:nvPr/>
        </p:nvSpPr>
        <p:spPr>
          <a:xfrm rot="0" flipH="0" flipV="0">
            <a:off x="800100" y="3648075"/>
            <a:ext cx="4524375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聊天窗口直接嵌在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CANoe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中。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适合不使用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VS Code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、主要工作在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CANoe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上的人与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AI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新手。</a:t>
            </a:r>
            <a:endParaRPr/>
          </a:p>
        </p:txBody>
      </p:sp>
      <p:sp>
        <p:nvSpPr>
          <p:cNvPr id="406" name=""/>
          <p:cNvSpPr/>
          <p:nvPr/>
        </p:nvSpPr>
        <p:spPr>
          <a:xfrm rot="0" flipH="0" flipV="0">
            <a:off x="647700" y="4752975"/>
            <a:ext cx="4905375" cy="1533525"/>
          </a:xfrm>
          <a:prstGeom prst="roundRect">
            <a:avLst>
              <a:gd name="adj" fmla="val 7453"/>
            </a:avLst>
          </a:prstGeom>
          <a:solidFill>
            <a:srgbClr val="38BDF8">
              <a:alpha val="8000"/>
            </a:srgbClr>
          </a:solidFill>
          <a:ln/>
        </p:spPr>
        <p:txBody>
          <a:bodyPr/>
          <a:p/>
        </p:txBody>
      </p:sp>
      <p:sp>
        <p:nvSpPr>
          <p:cNvPr id="407" name=""/>
          <p:cNvSpPr/>
          <p:nvPr/>
        </p:nvSpPr>
        <p:spPr>
          <a:xfrm rot="0" flipH="0" flipV="0">
            <a:off x="647700" y="4752975"/>
            <a:ext cx="4905375" cy="1533525"/>
          </a:xfrm>
          <a:custGeom>
            <a:pathLst>
              <a:path w="515" h="161">
                <a:moveTo>
                  <a:pt x="11" y="0"/>
                </a:moveTo>
                <a:cubicBezTo>
                  <a:pt x="7" y="0"/>
                  <a:pt x="4" y="4"/>
                  <a:pt x="4" y="8"/>
                </a:cubicBezTo>
                <a:lnTo>
                  <a:pt x="4" y="153"/>
                </a:lnTo>
                <a:cubicBezTo>
                  <a:pt x="4" y="157"/>
                  <a:pt x="7" y="160"/>
                  <a:pt x="10" y="161"/>
                </a:cubicBezTo>
                <a:cubicBezTo>
                  <a:pt x="4" y="160"/>
                  <a:pt x="0" y="155"/>
                  <a:pt x="0" y="149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38BDF8"/>
          </a:solidFill>
          <a:ln/>
        </p:spPr>
        <p:txBody>
          <a:bodyPr/>
          <a:p/>
        </p:txBody>
      </p:sp>
      <p:sp>
        <p:nvSpPr>
          <p:cNvPr id="408" name="" descr="{&quot;isTemplate&quot;:true,&quot;type&quot;:&quot;text&quot;}"/>
          <p:cNvSpPr txBox="1"/>
          <p:nvPr/>
        </p:nvSpPr>
        <p:spPr>
          <a:xfrm rot="0" flipH="0" flipV="0">
            <a:off x="838200" y="5095875"/>
            <a:ext cx="44862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38BDF8"/>
                </a:solidFill>
                <a:latin typeface="Microsoft YaHei"/>
                <a:ea typeface="Microsoft YaHei"/>
              </a:rPr>
              <a:t>怎么选？</a:t>
            </a:r>
            <a:endParaRPr/>
          </a:p>
        </p:txBody>
      </p:sp>
      <p:sp>
        <p:nvSpPr>
          <p:cNvPr id="409" name="" descr="{&quot;isTemplate&quot;:true,&quot;type&quot;:&quot;text&quot;}"/>
          <p:cNvSpPr txBox="1"/>
          <p:nvPr/>
        </p:nvSpPr>
        <p:spPr>
          <a:xfrm rot="0" flipH="0" flipV="0">
            <a:off x="838200" y="5362575"/>
            <a:ext cx="4486275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重自动化、要跑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CI/CD →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方式一；只想在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CANoe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里随手问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方式二。两者共用同一套代理与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MCP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能力。</a:t>
            </a:r>
            <a:endParaRPr/>
          </a:p>
        </p:txBody>
      </p:sp>
      <p:sp>
        <p:nvSpPr>
          <p:cNvPr id="410" name=""/>
          <p:cNvSpPr/>
          <p:nvPr/>
        </p:nvSpPr>
        <p:spPr>
          <a:xfrm rot="0" flipH="0" flipV="0">
            <a:off x="5819775" y="1143000"/>
            <a:ext cx="5762625" cy="3314700"/>
          </a:xfrm>
          <a:prstGeom prst="roundRect">
            <a:avLst>
              <a:gd name="adj" fmla="val 3448"/>
            </a:avLst>
          </a:prstGeom>
          <a:solidFill>
            <a:srgbClr val="16203A"/>
          </a:solidFill>
          <a:ln/>
        </p:spPr>
        <p:txBody>
          <a:bodyPr/>
          <a:p/>
        </p:txBody>
      </p:sp>
      <p:pic>
        <p:nvPicPr>
          <p:cNvPr id="411" name=""/>
          <p:cNvPicPr>
            <a:picLocks noChangeAspect="1"/>
          </p:cNvPicPr>
          <p:nvPr/>
        </p:nvPicPr>
        <p:blipFill>
          <a:blip r:embed="rId1"/>
          <a:srcRect l="0" t="1623" r="0" b="1623"/>
          <a:stretch>
            <a:fillRect/>
          </a:stretch>
        </p:blipFill>
        <p:spPr>
          <a:xfrm rot="0" flipH="0" flipV="0">
            <a:off x="5934075" y="1257300"/>
            <a:ext cx="5534025" cy="3086100"/>
          </a:xfrm>
          <a:prstGeom prst="rect">
            <a:avLst/>
          </a:prstGeom>
          <a:ln/>
        </p:spPr>
      </p:pic>
      <p:sp>
        <p:nvSpPr>
          <p:cNvPr id="412" name=""/>
          <p:cNvSpPr/>
          <p:nvPr/>
        </p:nvSpPr>
        <p:spPr>
          <a:xfrm rot="0" flipH="0" flipV="0">
            <a:off x="5819775" y="4572000"/>
            <a:ext cx="5762625" cy="1714500"/>
          </a:xfrm>
          <a:prstGeom prst="roundRect">
            <a:avLst>
              <a:gd name="adj" fmla="val 6667"/>
            </a:avLst>
          </a:prstGeom>
          <a:solidFill>
            <a:srgbClr val="16203A"/>
          </a:solidFill>
          <a:ln/>
        </p:spPr>
        <p:txBody>
          <a:bodyPr/>
          <a:p/>
        </p:txBody>
      </p:sp>
      <p:sp>
        <p:nvSpPr>
          <p:cNvPr id="413" name="" descr="{&quot;isTemplate&quot;:true,&quot;type&quot;:&quot;text&quot;}"/>
          <p:cNvSpPr txBox="1"/>
          <p:nvPr/>
        </p:nvSpPr>
        <p:spPr>
          <a:xfrm rot="0" flipH="0" flipV="0">
            <a:off x="5972175" y="5153025"/>
            <a:ext cx="545782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图：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运行时（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>harness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）承载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LLM——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在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CANoe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内或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IDE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中，接入你自己的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LLM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端点。</a:t>
            </a:r>
            <a:endParaRPr/>
          </a:p>
        </p:txBody>
      </p:sp>
      <p:sp>
        <p:nvSpPr>
          <p:cNvPr id="414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18573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 xml:space="preserve">Vector CANoe AI · </a:t>
            </a:r>
            <a:r>
              <a:rPr lang="zh-CN" sz="1050">
                <a:solidFill>
                  <a:srgbClr val="94A3B8"/>
                </a:solidFill>
                <a:latin typeface="Microsoft YaHei"/>
                <a:ea typeface="Microsoft YaHei"/>
              </a:rPr>
              <a:t>研讨会分享</a:t>
            </a:r>
            <a:endParaRPr/>
          </a:p>
        </p:txBody>
      </p:sp>
      <p:sp>
        <p:nvSpPr>
          <p:cNvPr id="415" name="" descr="{&quot;isTemplate&quot;:true,&quot;type&quot;:&quot;text&quot;}"/>
          <p:cNvSpPr txBox="1"/>
          <p:nvPr/>
        </p:nvSpPr>
        <p:spPr>
          <a:xfrm rot="0" flipH="0" flipV="0">
            <a:off x="11125200" y="640080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>09 / 23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>
  <p:cSld>
    <p:spTree>
      <p:nvGrpSpPr>
        <p:cNvPr id="1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B1220"/>
              </a:gs>
              <a:gs pos="100000">
                <a:srgbClr val="16203A"/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18" name=""/>
          <p:cNvSpPr/>
          <p:nvPr/>
        </p:nvSpPr>
        <p:spPr>
          <a:xfrm rot="0" flipH="0" flipV="0">
            <a:off x="8763000" y="-571500"/>
            <a:ext cx="4000500" cy="4000500"/>
          </a:xfrm>
          <a:prstGeom prst="rect">
            <a:avLst/>
          </a:prstGeom>
          <a:gradFill>
            <a:gsLst>
              <a:gs pos="0">
                <a:srgbClr val="38BDF8">
                  <a:alpha val="12000"/>
                </a:srgbClr>
              </a:gs>
              <a:gs pos="70000">
                <a:srgbClr val="FFFF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/>
          <a:p>
            <a:pPr/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6791325" y="1428750"/>
            <a:ext cx="5172075" cy="5029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0" b="1">
                <a:solidFill>
                  <a:srgbClr val="38BDF8">
                    <a:alpha val="20000"/>
                  </a:srgbClr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914400" y="2657475"/>
            <a:ext cx="5600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 spc="300">
                <a:solidFill>
                  <a:srgbClr val="38BDF8"/>
                </a:solidFill>
                <a:latin typeface="Microsoft YaHei"/>
                <a:ea typeface="Microsoft YaHei"/>
              </a:rPr>
              <a:t>CHAPTER 03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914400" y="3048000"/>
            <a:ext cx="5600700" cy="685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4500" b="1">
                <a:solidFill>
                  <a:srgbClr val="E5EDF7"/>
                </a:solidFill>
                <a:latin typeface="Microsoft YaHei"/>
                <a:ea typeface="Microsoft YaHei"/>
              </a:rPr>
              <a:t>核心组件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914400" y="3943350"/>
            <a:ext cx="5600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94A3B8"/>
                </a:solidFill>
                <a:latin typeface="Microsoft YaHei"/>
                <a:ea typeface="Microsoft YaHei"/>
              </a:rPr>
              <a:t>Knowledge Server</a:t>
            </a:r>
            <a:r>
              <a:rPr lang="zh-CN" sz="1650">
                <a:solidFill>
                  <a:srgbClr val="94A3B8"/>
                </a:solidFill>
                <a:latin typeface="Microsoft YaHei"/>
                <a:ea typeface="Microsoft YaHei"/>
              </a:rPr>
              <a:t>、</a:t>
            </a:r>
            <a:r>
              <a:rPr lang="en-US" sz="1650">
                <a:solidFill>
                  <a:srgbClr val="94A3B8"/>
                </a:solidFill>
                <a:latin typeface="Microsoft YaHei"/>
                <a:ea typeface="Microsoft YaHei"/>
              </a:rPr>
              <a:t xml:space="preserve">AI Package </a:t>
            </a:r>
            <a:r>
              <a:rPr lang="zh-CN" sz="1650">
                <a:solidFill>
                  <a:srgbClr val="94A3B8"/>
                </a:solidFill>
                <a:latin typeface="Microsoft YaHei"/>
                <a:ea typeface="Microsoft YaHei"/>
              </a:rPr>
              <a:t>与四大代理交付</a:t>
            </a:r>
            <a:endParaRPr/>
          </a:p>
        </p:txBody>
      </p:sp>
      <p:sp>
        <p:nvSpPr>
          <p:cNvPr id="23" name=""/>
          <p:cNvSpPr/>
          <p:nvPr/>
        </p:nvSpPr>
        <p:spPr>
          <a:xfrm rot="0" flipH="0" flipV="0">
            <a:off x="609600" y="6200775"/>
            <a:ext cx="10972800" cy="342900"/>
          </a:xfrm>
          <a:custGeom>
            <a:pathLst>
              <a:path w="1152" h="36">
                <a:moveTo>
                  <a:pt x="0" y="0"/>
                </a:moveTo>
                <a:lnTo>
                  <a:pt x="1152" y="0"/>
                </a:lnTo>
                <a:lnTo>
                  <a:pt x="1152" y="1"/>
                </a:lnTo>
                <a:lnTo>
                  <a:pt x="0" y="1"/>
                </a:lnTo>
                <a:close/>
              </a:path>
            </a:pathLst>
          </a:custGeom>
          <a:solidFill>
            <a:srgbClr val="94A3B8">
              <a:alpha val="25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24" name="" descr="{&quot;isTemplate&quot;:true,&quot;type&quot;:&quot;text&quot;}"/>
          <p:cNvSpPr txBox="1"/>
          <p:nvPr/>
        </p:nvSpPr>
        <p:spPr>
          <a:xfrm rot="0" flipH="0" flipV="0">
            <a:off x="609600" y="6343650"/>
            <a:ext cx="21907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第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章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· Vector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实际交付了什么</a:t>
            </a:r>
            <a:endParaRPr/>
          </a:p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10315575" y="6343650"/>
            <a:ext cx="12668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>Vector Informatik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2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>
            <a:pPr/>
            <a:endParaRPr/>
          </a:p>
        </p:txBody>
      </p:sp>
      <p:sp>
        <p:nvSpPr>
          <p:cNvPr id="28" name=""/>
          <p:cNvSpPr/>
          <p:nvPr/>
        </p:nvSpPr>
        <p:spPr>
          <a:xfrm rot="0" flipH="0" flipV="0">
            <a:off x="609600" y="190500"/>
            <a:ext cx="11029950" cy="952500"/>
          </a:xfrm>
          <a:custGeom>
            <a:pathLst>
              <a:path w="1158" h="100">
                <a:moveTo>
                  <a:pt x="0" y="0"/>
                </a:moveTo>
                <a:lnTo>
                  <a:pt x="6" y="0"/>
                </a:lnTo>
                <a:lnTo>
                  <a:pt x="6" y="100"/>
                </a:lnTo>
                <a:lnTo>
                  <a:pt x="0" y="100"/>
                </a:lnTo>
                <a:close/>
              </a:path>
            </a:pathLst>
          </a:custGeom>
          <a:solidFill>
            <a:srgbClr val="38BDF8"/>
          </a:solidFill>
          <a:ln/>
        </p:spPr>
        <p:txBody>
          <a:bodyPr/>
          <a:p>
            <a:pPr/>
            <a:endParaRPr/>
          </a:p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838200" y="476250"/>
            <a:ext cx="107442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E5EDF7"/>
                </a:solidFill>
                <a:latin typeface="Microsoft YaHei"/>
                <a:ea typeface="Microsoft YaHei"/>
              </a:rPr>
              <a:t>Vector Knowledge Server</a:t>
            </a:r>
            <a:r>
              <a:rPr lang="zh-CN" sz="2550" b="1">
                <a:solidFill>
                  <a:srgbClr val="E5EDF7"/>
                </a:solidFill>
                <a:latin typeface="Microsoft YaHei"/>
                <a:ea typeface="Microsoft YaHei"/>
              </a:rPr>
              <a:t>（知识服务器）</a:t>
            </a:r>
            <a:endParaRPr/>
          </a:p>
        </p:txBody>
      </p:sp>
      <p:sp>
        <p:nvSpPr>
          <p:cNvPr id="30" name=""/>
          <p:cNvSpPr/>
          <p:nvPr/>
        </p:nvSpPr>
        <p:spPr>
          <a:xfrm rot="0" flipH="0" flipV="0">
            <a:off x="609600" y="1143000"/>
            <a:ext cx="5762625" cy="3314700"/>
          </a:xfrm>
          <a:prstGeom prst="roundRect">
            <a:avLst>
              <a:gd name="adj" fmla="val 3448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pic>
        <p:nvPicPr>
          <p:cNvPr id="31" name=""/>
          <p:cNvPicPr>
            <a:picLocks noChangeAspect="1"/>
          </p:cNvPicPr>
          <p:nvPr/>
        </p:nvPicPr>
        <p:blipFill>
          <a:blip r:embed="rId1"/>
          <a:srcRect l="0" t="1261" r="0" b="1261"/>
          <a:stretch>
            <a:fillRect/>
          </a:stretch>
        </p:blipFill>
        <p:spPr>
          <a:xfrm rot="0" flipH="0" flipV="0">
            <a:off x="723900" y="1257300"/>
            <a:ext cx="5534025" cy="3086100"/>
          </a:xfrm>
          <a:prstGeom prst="rect">
            <a:avLst/>
          </a:prstGeom>
          <a:ln/>
        </p:spPr>
      </p:pic>
      <p:sp>
        <p:nvSpPr>
          <p:cNvPr id="32" name=""/>
          <p:cNvSpPr/>
          <p:nvPr/>
        </p:nvSpPr>
        <p:spPr>
          <a:xfrm rot="0" flipH="0" flipV="0">
            <a:off x="609600" y="4572000"/>
            <a:ext cx="5762625" cy="1714500"/>
          </a:xfrm>
          <a:prstGeom prst="roundRect">
            <a:avLst>
              <a:gd name="adj" fmla="val 6667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762000" y="5153025"/>
            <a:ext cx="545782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图：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Knowledge Server——LLM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不确定时经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MCP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取官方知识，答案有据可依、减少幻觉。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6677025" y="1143000"/>
            <a:ext cx="4905375" cy="6381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350" b="1">
                <a:solidFill>
                  <a:srgbClr val="38BDF8"/>
                </a:solidFill>
                <a:latin typeface="Microsoft YaHei"/>
                <a:ea typeface="Microsoft YaHei"/>
              </a:rPr>
              <a:t>解决答案无依据</a:t>
            </a:r>
            <a:r>
              <a:rPr lang="zh-CN" sz="1350">
                <a:solidFill>
                  <a:srgbClr val="E5EDF7"/>
                </a:solidFill>
                <a:latin typeface="Microsoft YaHei"/>
                <a:ea typeface="Microsoft YaHei"/>
              </a:rPr>
              <a:t>：</a:t>
            </a:r>
            <a:r>
              <a:rPr lang="en-US" sz="1350">
                <a:solidFill>
                  <a:srgbClr val="E5EDF7"/>
                </a:solidFill>
                <a:latin typeface="Microsoft YaHei"/>
                <a:ea typeface="Microsoft YaHei"/>
              </a:rPr>
              <a:t xml:space="preserve">LLM </a:t>
            </a:r>
            <a:r>
              <a:rPr lang="zh-CN" sz="1350">
                <a:solidFill>
                  <a:srgbClr val="E5EDF7"/>
                </a:solidFill>
                <a:latin typeface="Microsoft YaHei"/>
                <a:ea typeface="Microsoft YaHei"/>
              </a:rPr>
              <a:t>不确定时经</a:t>
            </a:r>
            <a:r>
              <a:rPr lang="en-US" sz="1350">
                <a:solidFill>
                  <a:srgbClr val="E5EDF7"/>
                </a:solidFill>
                <a:latin typeface="Microsoft YaHei"/>
                <a:ea typeface="Microsoft YaHei"/>
              </a:rPr>
              <a:t xml:space="preserve"> MCP </a:t>
            </a:r>
            <a:r>
              <a:rPr lang="zh-CN" sz="1350">
                <a:solidFill>
                  <a:srgbClr val="E5EDF7"/>
                </a:solidFill>
                <a:latin typeface="Microsoft YaHei"/>
                <a:ea typeface="Microsoft YaHei"/>
              </a:rPr>
              <a:t>取</a:t>
            </a:r>
            <a:r>
              <a:rPr lang="en-US" sz="1350">
                <a:solidFill>
                  <a:srgbClr val="E5EDF7"/>
                </a:solidFill>
                <a:latin typeface="Microsoft YaHei"/>
                <a:ea typeface="Microsoft YaHei"/>
              </a:rPr>
              <a:t xml:space="preserve"> Vector </a:t>
            </a:r>
            <a:r>
              <a:rPr lang="zh-CN" sz="1350">
                <a:solidFill>
                  <a:srgbClr val="E5EDF7"/>
                </a:solidFill>
                <a:latin typeface="Microsoft YaHei"/>
                <a:ea typeface="Microsoft YaHei"/>
              </a:rPr>
              <a:t>知识，答案基于官方文档而非臆测，减少幻觉。</a:t>
            </a:r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6677025" y="2752725"/>
            <a:ext cx="4905375" cy="6381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350">
                <a:solidFill>
                  <a:srgbClr val="94A3B8"/>
                </a:solidFill>
                <a:latin typeface="Microsoft YaHei"/>
                <a:ea typeface="Microsoft YaHei"/>
              </a:rPr>
              <a:t>模型不变：无需训练或微调，仅在你提问时检索相关文档注入上下文。</a:t>
            </a:r>
            <a:endParaRPr/>
          </a:p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6677025" y="4352925"/>
            <a:ext cx="4905375" cy="6381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350">
                <a:solidFill>
                  <a:srgbClr val="94A3B8"/>
                </a:solidFill>
                <a:latin typeface="Microsoft YaHei"/>
                <a:ea typeface="Microsoft YaHei"/>
              </a:rPr>
              <a:t>以</a:t>
            </a:r>
            <a:r>
              <a:rPr lang="en-US" sz="1350">
                <a:solidFill>
                  <a:srgbClr val="94A3B8"/>
                </a:solidFill>
                <a:latin typeface="Microsoft YaHei"/>
                <a:ea typeface="Microsoft YaHei"/>
              </a:rPr>
              <a:t xml:space="preserve"> Vector ID </a:t>
            </a:r>
            <a:r>
              <a:rPr lang="zh-CN" sz="1350">
                <a:solidFill>
                  <a:srgbClr val="94A3B8"/>
                </a:solidFill>
                <a:latin typeface="Microsoft YaHei"/>
                <a:ea typeface="Microsoft YaHei"/>
              </a:rPr>
              <a:t>认证登录；四步：提问</a:t>
            </a:r>
            <a:r>
              <a:rPr lang="en-US" sz="1350">
                <a:solidFill>
                  <a:srgbClr val="94A3B8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350">
                <a:solidFill>
                  <a:srgbClr val="94A3B8"/>
                </a:solidFill>
                <a:latin typeface="Microsoft YaHei"/>
                <a:ea typeface="Microsoft YaHei"/>
              </a:rPr>
              <a:t>调用</a:t>
            </a:r>
            <a:r>
              <a:rPr lang="en-US" sz="1350">
                <a:solidFill>
                  <a:srgbClr val="94A3B8"/>
                </a:solidFill>
                <a:latin typeface="Microsoft YaHei"/>
                <a:ea typeface="Microsoft YaHei"/>
              </a:rPr>
              <a:t xml:space="preserve"> KSS → </a:t>
            </a:r>
            <a:r>
              <a:rPr lang="zh-CN" sz="1350">
                <a:solidFill>
                  <a:srgbClr val="94A3B8"/>
                </a:solidFill>
                <a:latin typeface="Microsoft YaHei"/>
                <a:ea typeface="Microsoft YaHei"/>
              </a:rPr>
              <a:t>文档入上下文</a:t>
            </a:r>
            <a:r>
              <a:rPr lang="en-US" sz="1350">
                <a:solidFill>
                  <a:srgbClr val="94A3B8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350">
                <a:solidFill>
                  <a:srgbClr val="94A3B8"/>
                </a:solidFill>
                <a:latin typeface="Microsoft YaHei"/>
                <a:ea typeface="Microsoft YaHei"/>
              </a:rPr>
              <a:t>作答。</a:t>
            </a:r>
            <a:endParaRPr/>
          </a:p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6677025" y="5962650"/>
            <a:ext cx="4905375" cy="32385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350" b="1">
                <a:solidFill>
                  <a:srgbClr val="F97316"/>
                </a:solidFill>
                <a:latin typeface="Microsoft YaHei"/>
                <a:ea typeface="Microsoft YaHei"/>
              </a:rPr>
              <a:t>价值</a:t>
            </a:r>
            <a:r>
              <a:rPr lang="zh-CN" sz="1350">
                <a:solidFill>
                  <a:srgbClr val="F97316"/>
                </a:solidFill>
                <a:latin typeface="Microsoft YaHei"/>
                <a:ea typeface="Microsoft YaHei"/>
              </a:rPr>
              <a:t>：更快得到答案、更少幻觉、单一可信来源。</a:t>
            </a:r>
            <a:endParaRPr/>
          </a:p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18573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 xml:space="preserve">Vector CANoe AI · </a:t>
            </a:r>
            <a:r>
              <a:rPr lang="zh-CN" sz="1050">
                <a:solidFill>
                  <a:srgbClr val="94A3B8"/>
                </a:solidFill>
                <a:latin typeface="Microsoft YaHei"/>
                <a:ea typeface="Microsoft YaHei"/>
              </a:rPr>
              <a:t>研讨会分享</a:t>
            </a:r>
            <a:endParaRPr/>
          </a:p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11125200" y="640080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>11 / 23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4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>
            <a:pPr/>
            <a:endParaRPr/>
          </a:p>
        </p:txBody>
      </p:sp>
      <p:sp>
        <p:nvSpPr>
          <p:cNvPr id="42" name=""/>
          <p:cNvSpPr/>
          <p:nvPr/>
        </p:nvSpPr>
        <p:spPr>
          <a:xfrm rot="0" flipH="0" flipV="0">
            <a:off x="609600" y="190500"/>
            <a:ext cx="11029950" cy="952500"/>
          </a:xfrm>
          <a:custGeom>
            <a:pathLst>
              <a:path w="1158" h="100">
                <a:moveTo>
                  <a:pt x="0" y="0"/>
                </a:moveTo>
                <a:lnTo>
                  <a:pt x="6" y="0"/>
                </a:lnTo>
                <a:lnTo>
                  <a:pt x="6" y="100"/>
                </a:lnTo>
                <a:lnTo>
                  <a:pt x="0" y="100"/>
                </a:lnTo>
                <a:close/>
              </a:path>
            </a:pathLst>
          </a:custGeom>
          <a:solidFill>
            <a:srgbClr val="38BDF8"/>
          </a:solidFill>
          <a:ln/>
        </p:spPr>
        <p:txBody>
          <a:bodyPr/>
          <a:p>
            <a:pPr/>
            <a:endParaRPr/>
          </a:p>
        </p:txBody>
      </p:sp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838200" y="476250"/>
            <a:ext cx="107442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E5EDF7"/>
                </a:solidFill>
                <a:latin typeface="Microsoft YaHei"/>
                <a:ea typeface="Microsoft YaHei"/>
              </a:rPr>
              <a:t>CANoe AI Package</a:t>
            </a:r>
            <a:r>
              <a:rPr lang="zh-CN" sz="2550" b="1">
                <a:solidFill>
                  <a:srgbClr val="E5EDF7"/>
                </a:solidFill>
                <a:latin typeface="Microsoft YaHei"/>
                <a:ea typeface="Microsoft YaHei"/>
              </a:rPr>
              <a:t>（</a:t>
            </a:r>
            <a:r>
              <a:rPr lang="en-US" sz="2550" b="1">
                <a:solidFill>
                  <a:srgbClr val="E5EDF7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2550" b="1">
                <a:solidFill>
                  <a:srgbClr val="E5EDF7"/>
                </a:solidFill>
                <a:latin typeface="Microsoft YaHei"/>
                <a:ea typeface="Microsoft YaHei"/>
              </a:rPr>
              <a:t>软件包）</a:t>
            </a:r>
            <a:endParaRPr/>
          </a:p>
        </p:txBody>
      </p:sp>
      <p:sp>
        <p:nvSpPr>
          <p:cNvPr id="44" name=""/>
          <p:cNvSpPr/>
          <p:nvPr/>
        </p:nvSpPr>
        <p:spPr>
          <a:xfrm rot="0" flipH="0" flipV="0">
            <a:off x="609600" y="1143000"/>
            <a:ext cx="5762625" cy="3314700"/>
          </a:xfrm>
          <a:prstGeom prst="roundRect">
            <a:avLst>
              <a:gd name="adj" fmla="val 3448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pic>
        <p:nvPicPr>
          <p:cNvPr id="45" name=""/>
          <p:cNvPicPr>
            <a:picLocks noChangeAspect="1"/>
          </p:cNvPicPr>
          <p:nvPr/>
        </p:nvPicPr>
        <p:blipFill>
          <a:blip r:embed="rId1"/>
          <a:srcRect l="188" t="0" r="188" b="0"/>
          <a:stretch>
            <a:fillRect/>
          </a:stretch>
        </p:blipFill>
        <p:spPr>
          <a:xfrm rot="0" flipH="0" flipV="0">
            <a:off x="723900" y="1257300"/>
            <a:ext cx="5534025" cy="3086100"/>
          </a:xfrm>
          <a:prstGeom prst="rect">
            <a:avLst/>
          </a:prstGeom>
          <a:ln/>
        </p:spPr>
      </p:pic>
      <p:sp>
        <p:nvSpPr>
          <p:cNvPr id="46" name=""/>
          <p:cNvSpPr/>
          <p:nvPr/>
        </p:nvSpPr>
        <p:spPr>
          <a:xfrm rot="0" flipH="0" flipV="0">
            <a:off x="609600" y="4572000"/>
            <a:ext cx="5762625" cy="1714500"/>
          </a:xfrm>
          <a:prstGeom prst="roundRect">
            <a:avLst>
              <a:gd name="adj" fmla="val 6667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762000" y="5153025"/>
            <a:ext cx="545782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图：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CANoe AI Package =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代理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技能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预配置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MCP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服务器，以插件形式提供，兼容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CANoe 20 SP2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48" name=""/>
          <p:cNvSpPr/>
          <p:nvPr/>
        </p:nvSpPr>
        <p:spPr>
          <a:xfrm rot="0" flipH="0" flipV="0">
            <a:off x="6677025" y="1171575"/>
            <a:ext cx="4905375" cy="1238250"/>
          </a:xfrm>
          <a:prstGeom prst="roundRect">
            <a:avLst>
              <a:gd name="adj" fmla="val 9231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sp>
        <p:nvSpPr>
          <p:cNvPr id="49" name=""/>
          <p:cNvSpPr/>
          <p:nvPr/>
        </p:nvSpPr>
        <p:spPr>
          <a:xfrm rot="0" flipH="0" flipV="0">
            <a:off x="6677025" y="1171575"/>
            <a:ext cx="4905375" cy="1238250"/>
          </a:xfrm>
          <a:custGeom>
            <a:pathLst>
              <a:path w="515" h="130">
                <a:moveTo>
                  <a:pt x="504" y="0"/>
                </a:moveTo>
                <a:cubicBezTo>
                  <a:pt x="509" y="0"/>
                  <a:pt x="514" y="4"/>
                  <a:pt x="515" y="9"/>
                </a:cubicBezTo>
                <a:cubicBezTo>
                  <a:pt x="513" y="6"/>
                  <a:pt x="510" y="3"/>
                  <a:pt x="506" y="3"/>
                </a:cubicBezTo>
                <a:lnTo>
                  <a:pt x="9" y="3"/>
                </a:lnTo>
                <a:cubicBezTo>
                  <a:pt x="5" y="3"/>
                  <a:pt x="1" y="6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503" y="0"/>
                </a:lnTo>
                <a:close/>
              </a:path>
            </a:pathLst>
          </a:custGeom>
          <a:solidFill>
            <a:srgbClr val="38BDF8"/>
          </a:solidFill>
          <a:ln/>
        </p:spPr>
        <p:txBody>
          <a:bodyPr/>
          <a:p>
            <a:pPr/>
            <a:endParaRPr/>
          </a:p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6848475" y="1343025"/>
            <a:ext cx="45624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38BDF8"/>
                </a:solidFill>
                <a:latin typeface="Microsoft YaHei"/>
                <a:ea typeface="Microsoft YaHei"/>
              </a:rPr>
              <a:t>代理</a:t>
            </a:r>
            <a:r>
              <a:rPr lang="en-US" sz="1650" b="1">
                <a:solidFill>
                  <a:srgbClr val="38BDF8"/>
                </a:solidFill>
                <a:latin typeface="Microsoft YaHei"/>
                <a:ea typeface="Microsoft YaHei"/>
              </a:rPr>
              <a:t xml:space="preserve"> Agents</a:t>
            </a:r>
            <a:endParaRPr/>
          </a:p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6848475" y="1657350"/>
            <a:ext cx="456247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为特定任务预定义的专职角色（如编码代理，经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MCP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用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CANoe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编译核验）。</a:t>
            </a:r>
            <a:endParaRPr/>
          </a:p>
        </p:txBody>
      </p:sp>
      <p:sp>
        <p:nvSpPr>
          <p:cNvPr id="52" name=""/>
          <p:cNvSpPr/>
          <p:nvPr/>
        </p:nvSpPr>
        <p:spPr>
          <a:xfrm rot="0" flipH="0" flipV="0">
            <a:off x="6677025" y="3124200"/>
            <a:ext cx="4905375" cy="1238250"/>
          </a:xfrm>
          <a:prstGeom prst="roundRect">
            <a:avLst>
              <a:gd name="adj" fmla="val 9231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sp>
        <p:nvSpPr>
          <p:cNvPr id="53" name=""/>
          <p:cNvSpPr/>
          <p:nvPr/>
        </p:nvSpPr>
        <p:spPr>
          <a:xfrm rot="0" flipH="0" flipV="0">
            <a:off x="6677025" y="3124200"/>
            <a:ext cx="4905375" cy="1238250"/>
          </a:xfrm>
          <a:custGeom>
            <a:pathLst>
              <a:path w="515" h="130">
                <a:moveTo>
                  <a:pt x="504" y="0"/>
                </a:moveTo>
                <a:cubicBezTo>
                  <a:pt x="509" y="0"/>
                  <a:pt x="514" y="4"/>
                  <a:pt x="515" y="9"/>
                </a:cubicBezTo>
                <a:cubicBezTo>
                  <a:pt x="513" y="6"/>
                  <a:pt x="510" y="3"/>
                  <a:pt x="506" y="3"/>
                </a:cubicBezTo>
                <a:lnTo>
                  <a:pt x="9" y="3"/>
                </a:lnTo>
                <a:cubicBezTo>
                  <a:pt x="5" y="3"/>
                  <a:pt x="1" y="6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503" y="0"/>
                </a:lnTo>
                <a:close/>
              </a:path>
            </a:pathLst>
          </a:custGeom>
          <a:solidFill>
            <a:srgbClr val="38BDF8"/>
          </a:solidFill>
          <a:ln/>
        </p:spPr>
        <p:txBody>
          <a:bodyPr/>
          <a:p>
            <a:pPr/>
            <a:endParaRPr/>
          </a:p>
        </p:txBody>
      </p:sp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6848475" y="3295650"/>
            <a:ext cx="45624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38BDF8"/>
                </a:solidFill>
                <a:latin typeface="Microsoft YaHei"/>
                <a:ea typeface="Microsoft YaHei"/>
              </a:rPr>
              <a:t>技能</a:t>
            </a:r>
            <a:r>
              <a:rPr lang="en-US" sz="1650" b="1">
                <a:solidFill>
                  <a:srgbClr val="38BDF8"/>
                </a:solidFill>
                <a:latin typeface="Microsoft YaHei"/>
                <a:ea typeface="Microsoft YaHei"/>
              </a:rPr>
              <a:t xml:space="preserve"> Skills</a:t>
            </a:r>
            <a:endParaRPr/>
          </a:p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6848475" y="3609975"/>
            <a:ext cx="456247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约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个跨代理共享的领域专长（如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>"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如何用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C#/Python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写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CAPL"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）。</a:t>
            </a:r>
            <a:endParaRPr/>
          </a:p>
        </p:txBody>
      </p:sp>
      <p:sp>
        <p:nvSpPr>
          <p:cNvPr id="56" name=""/>
          <p:cNvSpPr/>
          <p:nvPr/>
        </p:nvSpPr>
        <p:spPr>
          <a:xfrm rot="0" flipH="0" flipV="0">
            <a:off x="6677025" y="5076825"/>
            <a:ext cx="4905375" cy="1238250"/>
          </a:xfrm>
          <a:prstGeom prst="roundRect">
            <a:avLst>
              <a:gd name="adj" fmla="val 9231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sp>
        <p:nvSpPr>
          <p:cNvPr id="57" name=""/>
          <p:cNvSpPr/>
          <p:nvPr/>
        </p:nvSpPr>
        <p:spPr>
          <a:xfrm rot="0" flipH="0" flipV="0">
            <a:off x="6677025" y="5076825"/>
            <a:ext cx="4905375" cy="1238250"/>
          </a:xfrm>
          <a:custGeom>
            <a:pathLst>
              <a:path w="515" h="130">
                <a:moveTo>
                  <a:pt x="504" y="0"/>
                </a:moveTo>
                <a:cubicBezTo>
                  <a:pt x="509" y="0"/>
                  <a:pt x="514" y="4"/>
                  <a:pt x="515" y="9"/>
                </a:cubicBezTo>
                <a:cubicBezTo>
                  <a:pt x="513" y="6"/>
                  <a:pt x="510" y="3"/>
                  <a:pt x="506" y="3"/>
                </a:cubicBezTo>
                <a:lnTo>
                  <a:pt x="9" y="3"/>
                </a:lnTo>
                <a:cubicBezTo>
                  <a:pt x="5" y="3"/>
                  <a:pt x="1" y="6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503" y="0"/>
                </a:lnTo>
                <a:close/>
              </a:path>
            </a:pathLst>
          </a:custGeom>
          <a:solidFill>
            <a:srgbClr val="F97316"/>
          </a:solidFill>
          <a:ln/>
        </p:spPr>
        <p:txBody>
          <a:bodyPr/>
          <a:p>
            <a:pPr/>
            <a:endParaRPr/>
          </a:p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6848475" y="5248275"/>
            <a:ext cx="45624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97316"/>
                </a:solidFill>
                <a:latin typeface="Microsoft YaHei"/>
                <a:ea typeface="Microsoft YaHei"/>
              </a:rPr>
              <a:t xml:space="preserve">MCP </a:t>
            </a:r>
            <a:r>
              <a:rPr lang="zh-CN" sz="1650" b="1">
                <a:solidFill>
                  <a:srgbClr val="F97316"/>
                </a:solidFill>
                <a:latin typeface="Microsoft YaHei"/>
                <a:ea typeface="Microsoft YaHei"/>
              </a:rPr>
              <a:t>服务器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6848475" y="5562600"/>
            <a:ext cx="456247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两个预配置：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Knowledge Server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＋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CANoe MCP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服务器；兼容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CANoe 20 SP2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18573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 xml:space="preserve">Vector CANoe AI · </a:t>
            </a:r>
            <a:r>
              <a:rPr lang="zh-CN" sz="1050">
                <a:solidFill>
                  <a:srgbClr val="94A3B8"/>
                </a:solidFill>
                <a:latin typeface="Microsoft YaHei"/>
                <a:ea typeface="Microsoft YaHei"/>
              </a:rPr>
              <a:t>研讨会分享</a:t>
            </a:r>
            <a:endParaRPr/>
          </a:p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11125200" y="640080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>12 / 23</a:t>
            </a:r>
            <a:endParaRPr/>
          </a:p>
        </p:txBody>
      </p:sp>
    </p:spTree>
  </p:cSld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6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>
            <a:pPr/>
            <a:endParaRPr/>
          </a:p>
        </p:txBody>
      </p:sp>
      <p:sp>
        <p:nvSpPr>
          <p:cNvPr id="64" name=""/>
          <p:cNvSpPr/>
          <p:nvPr/>
        </p:nvSpPr>
        <p:spPr>
          <a:xfrm rot="0" flipH="0" flipV="0">
            <a:off x="609600" y="190500"/>
            <a:ext cx="11029950" cy="952500"/>
          </a:xfrm>
          <a:custGeom>
            <a:pathLst>
              <a:path w="1158" h="100">
                <a:moveTo>
                  <a:pt x="0" y="0"/>
                </a:moveTo>
                <a:lnTo>
                  <a:pt x="6" y="0"/>
                </a:lnTo>
                <a:lnTo>
                  <a:pt x="6" y="100"/>
                </a:lnTo>
                <a:lnTo>
                  <a:pt x="0" y="100"/>
                </a:lnTo>
                <a:close/>
              </a:path>
            </a:pathLst>
          </a:custGeom>
          <a:solidFill>
            <a:srgbClr val="38BDF8"/>
          </a:solidFill>
          <a:ln/>
        </p:spPr>
        <p:txBody>
          <a:bodyPr/>
          <a:p>
            <a:pPr/>
            <a:endParaRPr/>
          </a:p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838200" y="476250"/>
            <a:ext cx="107442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E5EDF7"/>
                </a:solidFill>
                <a:latin typeface="Microsoft YaHei"/>
                <a:ea typeface="Microsoft YaHei"/>
              </a:rPr>
              <a:t>交付内容总结：四大代理</a:t>
            </a:r>
            <a:endParaRPr/>
          </a:p>
        </p:txBody>
      </p:sp>
      <p:sp>
        <p:nvSpPr>
          <p:cNvPr id="66" name=""/>
          <p:cNvSpPr/>
          <p:nvPr/>
        </p:nvSpPr>
        <p:spPr>
          <a:xfrm rot="0" flipH="0" flipV="0">
            <a:off x="609600" y="1143000"/>
            <a:ext cx="5762625" cy="3314700"/>
          </a:xfrm>
          <a:prstGeom prst="roundRect">
            <a:avLst>
              <a:gd name="adj" fmla="val 3448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pic>
        <p:nvPicPr>
          <p:cNvPr id="67" name=""/>
          <p:cNvPicPr>
            <a:picLocks noChangeAspect="1"/>
          </p:cNvPicPr>
          <p:nvPr/>
        </p:nvPicPr>
        <p:blipFill>
          <a:blip r:embed="rId1"/>
          <a:srcRect l="0" t="144" r="0" b="144"/>
          <a:stretch>
            <a:fillRect/>
          </a:stretch>
        </p:blipFill>
        <p:spPr>
          <a:xfrm rot="0" flipH="0" flipV="0">
            <a:off x="723900" y="1257300"/>
            <a:ext cx="5534025" cy="3086100"/>
          </a:xfrm>
          <a:prstGeom prst="rect">
            <a:avLst/>
          </a:prstGeom>
          <a:ln/>
        </p:spPr>
      </p:pic>
      <p:sp>
        <p:nvSpPr>
          <p:cNvPr id="68" name=""/>
          <p:cNvSpPr/>
          <p:nvPr/>
        </p:nvSpPr>
        <p:spPr>
          <a:xfrm rot="0" flipH="0" flipV="0">
            <a:off x="609600" y="4572000"/>
            <a:ext cx="5762625" cy="1714500"/>
          </a:xfrm>
          <a:prstGeom prst="roundRect">
            <a:avLst>
              <a:gd name="adj" fmla="val 6667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sp>
        <p:nvSpPr>
          <p:cNvPr id="69" name="" descr="{&quot;isTemplate&quot;:true,&quot;type&quot;:&quot;text&quot;}"/>
          <p:cNvSpPr txBox="1"/>
          <p:nvPr/>
        </p:nvSpPr>
        <p:spPr>
          <a:xfrm rot="0" flipH="0" flipV="0">
            <a:off x="762000" y="5153025"/>
            <a:ext cx="545782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图：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Vector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一次性交付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CANoe AI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助手与四大代理，覆盖发现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配置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编码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分析。</a:t>
            </a:r>
            <a:endParaRPr/>
          </a:p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6677025" y="1143000"/>
            <a:ext cx="49053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E5EDF7"/>
                </a:solidFill>
                <a:latin typeface="Microsoft YaHei"/>
                <a:ea typeface="Microsoft YaHei"/>
              </a:rPr>
              <a:t xml:space="preserve">Vector </a:t>
            </a:r>
            <a:r>
              <a:rPr lang="zh-CN" sz="1350">
                <a:solidFill>
                  <a:srgbClr val="E5EDF7"/>
                </a:solidFill>
                <a:latin typeface="Microsoft YaHei"/>
                <a:ea typeface="Microsoft YaHei"/>
              </a:rPr>
              <a:t>侧交付</a:t>
            </a:r>
            <a:r>
              <a:rPr lang="en-US" sz="1350">
                <a:solidFill>
                  <a:srgbClr val="E5EDF7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350" b="1">
                <a:solidFill>
                  <a:srgbClr val="38BDF8"/>
                </a:solidFill>
                <a:latin typeface="Microsoft YaHei"/>
                <a:ea typeface="Microsoft YaHei"/>
              </a:rPr>
              <a:t xml:space="preserve">4 </a:t>
            </a:r>
            <a:r>
              <a:rPr lang="zh-CN" sz="1350" b="1">
                <a:solidFill>
                  <a:srgbClr val="38BDF8"/>
                </a:solidFill>
                <a:latin typeface="Microsoft YaHei"/>
                <a:ea typeface="Microsoft YaHei"/>
              </a:rPr>
              <a:t>个代理</a:t>
            </a:r>
            <a:r>
              <a:rPr lang="zh-CN" sz="1350">
                <a:solidFill>
                  <a:srgbClr val="E5EDF7"/>
                </a:solidFill>
                <a:latin typeface="Microsoft YaHei"/>
                <a:ea typeface="Microsoft YaHei"/>
              </a:rPr>
              <a:t>：</a:t>
            </a:r>
            <a:endParaRPr/>
          </a:p>
        </p:txBody>
      </p:sp>
      <p:sp>
        <p:nvSpPr>
          <p:cNvPr id="71" name=""/>
          <p:cNvSpPr/>
          <p:nvPr/>
        </p:nvSpPr>
        <p:spPr>
          <a:xfrm rot="0" flipH="0" flipV="0">
            <a:off x="6677025" y="1962150"/>
            <a:ext cx="76200" cy="323850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/>
        </p:spPr>
        <p:txBody>
          <a:bodyPr/>
          <a:p>
            <a:pPr/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6848475" y="2028825"/>
            <a:ext cx="30765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E5EDF7"/>
                </a:solidFill>
                <a:latin typeface="Microsoft YaHei"/>
                <a:ea typeface="Microsoft YaHei"/>
              </a:rPr>
              <a:t>Discovery</a:t>
            </a:r>
            <a:r>
              <a:rPr lang="zh-CN" sz="1275">
                <a:solidFill>
                  <a:srgbClr val="E5EDF7"/>
                </a:solidFill>
                <a:latin typeface="Microsoft YaHei"/>
                <a:ea typeface="Microsoft YaHei"/>
              </a:rPr>
              <a:t>：匹配能力并建议可运行工作流</a:t>
            </a:r>
            <a:endParaRPr/>
          </a:p>
        </p:txBody>
      </p:sp>
      <p:sp>
        <p:nvSpPr>
          <p:cNvPr id="73" name=""/>
          <p:cNvSpPr/>
          <p:nvPr/>
        </p:nvSpPr>
        <p:spPr>
          <a:xfrm rot="0" flipH="0" flipV="0">
            <a:off x="6677025" y="2895600"/>
            <a:ext cx="76200" cy="323850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/>
        </p:spPr>
        <p:txBody>
          <a:bodyPr/>
          <a:p>
            <a:pPr/>
            <a:endParaRPr/>
          </a:p>
        </p:txBody>
      </p:sp>
      <p:sp>
        <p:nvSpPr>
          <p:cNvPr id="74" name="" descr="{&quot;isTemplate&quot;:true,&quot;type&quot;:&quot;text&quot;}"/>
          <p:cNvSpPr txBox="1"/>
          <p:nvPr/>
        </p:nvSpPr>
        <p:spPr>
          <a:xfrm rot="0" flipH="0" flipV="0">
            <a:off x="6848475" y="2962275"/>
            <a:ext cx="26003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E5EDF7"/>
                </a:solidFill>
                <a:latin typeface="Microsoft YaHei"/>
                <a:ea typeface="Microsoft YaHei"/>
              </a:rPr>
              <a:t>Configuration</a:t>
            </a:r>
            <a:r>
              <a:rPr lang="zh-CN" sz="1275">
                <a:solidFill>
                  <a:srgbClr val="E5EDF7"/>
                </a:solidFill>
                <a:latin typeface="Microsoft YaHei"/>
                <a:ea typeface="Microsoft YaHei"/>
              </a:rPr>
              <a:t>：读取并可修改配置</a:t>
            </a:r>
            <a:endParaRPr/>
          </a:p>
        </p:txBody>
      </p:sp>
      <p:sp>
        <p:nvSpPr>
          <p:cNvPr id="75" name=""/>
          <p:cNvSpPr/>
          <p:nvPr/>
        </p:nvSpPr>
        <p:spPr>
          <a:xfrm rot="0" flipH="0" flipV="0">
            <a:off x="6677025" y="3829050"/>
            <a:ext cx="76200" cy="323850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/>
        </p:spPr>
        <p:txBody>
          <a:bodyPr/>
          <a:p>
            <a:pPr/>
            <a:endParaRPr/>
          </a:p>
        </p:txBody>
      </p:sp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6848475" y="3895725"/>
            <a:ext cx="23336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E5EDF7"/>
                </a:solidFill>
                <a:latin typeface="Microsoft YaHei"/>
                <a:ea typeface="Microsoft YaHei"/>
              </a:rPr>
              <a:t>Coding</a:t>
            </a:r>
            <a:r>
              <a:rPr lang="zh-CN" sz="1275">
                <a:solidFill>
                  <a:srgbClr val="E5EDF7"/>
                </a:solidFill>
                <a:latin typeface="Microsoft YaHei"/>
                <a:ea typeface="Microsoft YaHei"/>
              </a:rPr>
              <a:t>：面向</a:t>
            </a:r>
            <a:r>
              <a:rPr lang="en-US" sz="1275">
                <a:solidFill>
                  <a:srgbClr val="E5EDF7"/>
                </a:solidFill>
                <a:latin typeface="Microsoft YaHei"/>
                <a:ea typeface="Microsoft YaHei"/>
              </a:rPr>
              <a:t xml:space="preserve"> CAPL </a:t>
            </a:r>
            <a:r>
              <a:rPr lang="zh-CN" sz="1275">
                <a:solidFill>
                  <a:srgbClr val="E5EDF7"/>
                </a:solidFill>
                <a:latin typeface="Microsoft YaHei"/>
                <a:ea typeface="Microsoft YaHei"/>
              </a:rPr>
              <a:t>与</a:t>
            </a:r>
            <a:r>
              <a:rPr lang="en-US" sz="1275">
                <a:solidFill>
                  <a:srgbClr val="E5EDF7"/>
                </a:solidFill>
                <a:latin typeface="Microsoft YaHei"/>
                <a:ea typeface="Microsoft YaHei"/>
              </a:rPr>
              <a:t xml:space="preserve"> Python</a:t>
            </a:r>
            <a:endParaRPr/>
          </a:p>
        </p:txBody>
      </p:sp>
      <p:sp>
        <p:nvSpPr>
          <p:cNvPr id="77" name=""/>
          <p:cNvSpPr/>
          <p:nvPr/>
        </p:nvSpPr>
        <p:spPr>
          <a:xfrm rot="0" flipH="0" flipV="0">
            <a:off x="6677025" y="4762500"/>
            <a:ext cx="76200" cy="323850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/>
        </p:spPr>
        <p:txBody>
          <a:bodyPr/>
          <a:p>
            <a:pPr/>
            <a:endParaRPr/>
          </a:p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6848475" y="4829175"/>
            <a:ext cx="1809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E5EDF7"/>
                </a:solidFill>
                <a:latin typeface="Microsoft YaHei"/>
                <a:ea typeface="Microsoft YaHei"/>
              </a:rPr>
              <a:t>Analysis</a:t>
            </a:r>
            <a:r>
              <a:rPr lang="zh-CN" sz="1275">
                <a:solidFill>
                  <a:srgbClr val="E5EDF7"/>
                </a:solidFill>
                <a:latin typeface="Microsoft YaHei"/>
                <a:ea typeface="Microsoft YaHei"/>
              </a:rPr>
              <a:t>：帮你分析数据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6677025" y="5734050"/>
            <a:ext cx="490537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F97316"/>
                </a:solidFill>
                <a:latin typeface="Microsoft YaHei"/>
                <a:ea typeface="Microsoft YaHei"/>
              </a:rPr>
              <a:t>第三支柱</a:t>
            </a:r>
            <a:r>
              <a:rPr lang="en-US" sz="1200">
                <a:solidFill>
                  <a:srgbClr val="F97316"/>
                </a:solidFill>
                <a:latin typeface="Microsoft YaHei"/>
                <a:ea typeface="Microsoft YaHei"/>
              </a:rPr>
              <a:t xml:space="preserve"> Everything as Code</a:t>
            </a:r>
            <a:r>
              <a:rPr lang="zh-CN" sz="1200">
                <a:solidFill>
                  <a:srgbClr val="F97316"/>
                </a:solidFill>
                <a:latin typeface="Microsoft YaHei"/>
                <a:ea typeface="Microsoft YaHei"/>
              </a:rPr>
              <a:t>（</a:t>
            </a:r>
            <a:r>
              <a:rPr lang="en-US" sz="1200">
                <a:solidFill>
                  <a:srgbClr val="F97316"/>
                </a:solidFill>
                <a:latin typeface="Microsoft YaHei"/>
                <a:ea typeface="Microsoft YaHei"/>
              </a:rPr>
              <a:t>YAML</a:t>
            </a:r>
            <a:r>
              <a:rPr lang="zh-CN" sz="1200">
                <a:solidFill>
                  <a:srgbClr val="F97316"/>
                </a:solidFill>
                <a:latin typeface="Microsoft YaHei"/>
                <a:ea typeface="Microsoft YaHei"/>
              </a:rPr>
              <a:t>）；代理与技能人类可读、可按需修改。</a:t>
            </a:r>
            <a:endParaRPr/>
          </a:p>
        </p:txBody>
      </p:sp>
      <p:sp>
        <p:nvSpPr>
          <p:cNvPr id="80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18573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 xml:space="preserve">Vector CANoe AI · </a:t>
            </a:r>
            <a:r>
              <a:rPr lang="zh-CN" sz="1050">
                <a:solidFill>
                  <a:srgbClr val="94A3B8"/>
                </a:solidFill>
                <a:latin typeface="Microsoft YaHei"/>
                <a:ea typeface="Microsoft YaHei"/>
              </a:rPr>
              <a:t>研讨会分享</a:t>
            </a:r>
            <a:endParaRPr/>
          </a:p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11125200" y="640080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>13 / 23</a:t>
            </a:r>
            <a:endParaRPr/>
          </a:p>
        </p:txBody>
      </p:sp>
    </p:spTree>
  </p:cSld>
</p:sld>
</file>

<file path=ppt/slides/slide14.xml><?xml version="1.0" encoding="utf-8"?>
<p:sld xmlns:p="http://schemas.openxmlformats.org/presentationml/2006/main" xmlns:a="http://schemas.openxmlformats.org/drawingml/2006/main">
  <p:cSld>
    <p:spTree>
      <p:nvGrpSpPr>
        <p:cNvPr id="8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B1220"/>
              </a:gs>
              <a:gs pos="100000">
                <a:srgbClr val="16203A"/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84" name=""/>
          <p:cNvSpPr/>
          <p:nvPr/>
        </p:nvSpPr>
        <p:spPr>
          <a:xfrm rot="0" flipH="0" flipV="0">
            <a:off x="8763000" y="-571500"/>
            <a:ext cx="4000500" cy="4000500"/>
          </a:xfrm>
          <a:prstGeom prst="rect">
            <a:avLst/>
          </a:prstGeom>
          <a:gradFill>
            <a:gsLst>
              <a:gs pos="0">
                <a:srgbClr val="38BDF8">
                  <a:alpha val="12000"/>
                </a:srgbClr>
              </a:gs>
              <a:gs pos="70000">
                <a:srgbClr val="FFFF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/>
          <a:p>
            <a:pPr/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6791325" y="1428750"/>
            <a:ext cx="5172075" cy="5029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0" b="1">
                <a:solidFill>
                  <a:srgbClr val="38BDF8">
                    <a:alpha val="20000"/>
                  </a:srgbClr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914400" y="2657475"/>
            <a:ext cx="5600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 spc="300">
                <a:solidFill>
                  <a:srgbClr val="38BDF8"/>
                </a:solidFill>
                <a:latin typeface="Microsoft YaHei"/>
                <a:ea typeface="Microsoft YaHei"/>
              </a:rPr>
              <a:t>CHAPTER 04</a:t>
            </a:r>
            <a:endParaRPr/>
          </a:p>
        </p:txBody>
      </p:sp>
      <p:sp>
        <p:nvSpPr>
          <p:cNvPr id="87" name="" descr="{&quot;isTemplate&quot;:true,&quot;type&quot;:&quot;text&quot;}"/>
          <p:cNvSpPr txBox="1"/>
          <p:nvPr/>
        </p:nvSpPr>
        <p:spPr>
          <a:xfrm rot="0" flipH="0" flipV="0">
            <a:off x="914400" y="3048000"/>
            <a:ext cx="5600700" cy="685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4500" b="1">
                <a:solidFill>
                  <a:srgbClr val="E5EDF7"/>
                </a:solidFill>
                <a:latin typeface="Microsoft YaHei"/>
                <a:ea typeface="Microsoft YaHei"/>
              </a:rPr>
              <a:t>实战演示</a:t>
            </a:r>
            <a:endParaRPr/>
          </a:p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914400" y="3943350"/>
            <a:ext cx="5600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94A3B8"/>
                </a:solidFill>
                <a:latin typeface="Microsoft YaHei"/>
                <a:ea typeface="Microsoft YaHei"/>
              </a:rPr>
              <a:t>安装配置、分析工作流、配置扩展与编排器</a:t>
            </a:r>
            <a:endParaRPr/>
          </a:p>
        </p:txBody>
      </p:sp>
      <p:sp>
        <p:nvSpPr>
          <p:cNvPr id="89" name=""/>
          <p:cNvSpPr/>
          <p:nvPr/>
        </p:nvSpPr>
        <p:spPr>
          <a:xfrm rot="0" flipH="0" flipV="0">
            <a:off x="609600" y="6200775"/>
            <a:ext cx="10972800" cy="342900"/>
          </a:xfrm>
          <a:custGeom>
            <a:pathLst>
              <a:path w="1152" h="36">
                <a:moveTo>
                  <a:pt x="0" y="0"/>
                </a:moveTo>
                <a:lnTo>
                  <a:pt x="1152" y="0"/>
                </a:lnTo>
                <a:lnTo>
                  <a:pt x="1152" y="1"/>
                </a:lnTo>
                <a:lnTo>
                  <a:pt x="0" y="1"/>
                </a:lnTo>
                <a:close/>
              </a:path>
            </a:pathLst>
          </a:custGeom>
          <a:solidFill>
            <a:srgbClr val="94A3B8">
              <a:alpha val="25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90" name="" descr="{&quot;isTemplate&quot;:true,&quot;type&quot;:&quot;text&quot;}"/>
          <p:cNvSpPr txBox="1"/>
          <p:nvPr/>
        </p:nvSpPr>
        <p:spPr>
          <a:xfrm rot="0" flipH="0" flipV="0">
            <a:off x="609600" y="6343650"/>
            <a:ext cx="25336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第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4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章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看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AI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怎么在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CANoe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里干活</a:t>
            </a:r>
            <a:endParaRPr/>
          </a:p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10315575" y="6343650"/>
            <a:ext cx="12668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>Vector Informatik</a:t>
            </a:r>
            <a:endParaRPr/>
          </a:p>
        </p:txBody>
      </p:sp>
    </p:spTree>
  </p:cSld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9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>
            <a:pPr/>
            <a:endParaRPr/>
          </a:p>
        </p:txBody>
      </p:sp>
      <p:sp>
        <p:nvSpPr>
          <p:cNvPr id="94" name=""/>
          <p:cNvSpPr/>
          <p:nvPr/>
        </p:nvSpPr>
        <p:spPr>
          <a:xfrm rot="0" flipH="0" flipV="0">
            <a:off x="609600" y="190500"/>
            <a:ext cx="11029950" cy="952500"/>
          </a:xfrm>
          <a:custGeom>
            <a:pathLst>
              <a:path w="1158" h="100">
                <a:moveTo>
                  <a:pt x="0" y="0"/>
                </a:moveTo>
                <a:lnTo>
                  <a:pt x="6" y="0"/>
                </a:lnTo>
                <a:lnTo>
                  <a:pt x="6" y="100"/>
                </a:lnTo>
                <a:lnTo>
                  <a:pt x="0" y="100"/>
                </a:lnTo>
                <a:close/>
              </a:path>
            </a:pathLst>
          </a:custGeom>
          <a:solidFill>
            <a:srgbClr val="38BDF8"/>
          </a:solidFill>
          <a:ln/>
        </p:spPr>
        <p:txBody>
          <a:bodyPr/>
          <a:p>
            <a:pPr/>
            <a:endParaRPr/>
          </a:p>
        </p:txBody>
      </p:sp>
      <p:sp>
        <p:nvSpPr>
          <p:cNvPr id="95" name="" descr="{&quot;isTemplate&quot;:true,&quot;type&quot;:&quot;text&quot;}"/>
          <p:cNvSpPr txBox="1"/>
          <p:nvPr/>
        </p:nvSpPr>
        <p:spPr>
          <a:xfrm rot="0" flipH="0" flipV="0">
            <a:off x="838200" y="476250"/>
            <a:ext cx="107442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E5EDF7"/>
                </a:solidFill>
                <a:latin typeface="Microsoft YaHei"/>
                <a:ea typeface="Microsoft YaHei"/>
              </a:rPr>
              <a:t>安装与配置</a:t>
            </a:r>
            <a:r>
              <a:rPr lang="en-US" sz="2550" b="1">
                <a:solidFill>
                  <a:srgbClr val="E5EDF7"/>
                </a:solidFill>
                <a:latin typeface="Microsoft YaHei"/>
                <a:ea typeface="Microsoft YaHei"/>
              </a:rPr>
              <a:t xml:space="preserve"> CANoe AI Package</a:t>
            </a:r>
            <a:endParaRPr/>
          </a:p>
        </p:txBody>
      </p:sp>
      <p:sp>
        <p:nvSpPr>
          <p:cNvPr id="96" name=""/>
          <p:cNvSpPr/>
          <p:nvPr/>
        </p:nvSpPr>
        <p:spPr>
          <a:xfrm rot="0" flipH="0" flipV="0">
            <a:off x="609600" y="1143000"/>
            <a:ext cx="5762625" cy="3314700"/>
          </a:xfrm>
          <a:prstGeom prst="roundRect">
            <a:avLst>
              <a:gd name="adj" fmla="val 3448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pic>
        <p:nvPicPr>
          <p:cNvPr id="97" name=""/>
          <p:cNvPicPr>
            <a:picLocks noChangeAspect="1"/>
          </p:cNvPicPr>
          <p:nvPr/>
        </p:nvPicPr>
        <p:blipFill>
          <a:blip r:embed="rId1"/>
          <a:srcRect l="0" t="599" r="0" b="599"/>
          <a:stretch>
            <a:fillRect/>
          </a:stretch>
        </p:blipFill>
        <p:spPr>
          <a:xfrm rot="0" flipH="0" flipV="0">
            <a:off x="723900" y="1257300"/>
            <a:ext cx="5534025" cy="3086100"/>
          </a:xfrm>
          <a:prstGeom prst="rect">
            <a:avLst/>
          </a:prstGeom>
          <a:ln/>
        </p:spPr>
      </p:pic>
      <p:sp>
        <p:nvSpPr>
          <p:cNvPr id="98" name=""/>
          <p:cNvSpPr/>
          <p:nvPr/>
        </p:nvSpPr>
        <p:spPr>
          <a:xfrm rot="0" flipH="0" flipV="0">
            <a:off x="609600" y="4572000"/>
            <a:ext cx="5762625" cy="1714500"/>
          </a:xfrm>
          <a:prstGeom prst="roundRect">
            <a:avLst>
              <a:gd name="adj" fmla="val 6667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762000" y="5295900"/>
            <a:ext cx="5457825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图：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>Getting Started——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下载、安装指南与文档一站式到位。</a:t>
            </a:r>
            <a:endParaRPr/>
          </a:p>
        </p:txBody>
      </p:sp>
      <p:sp>
        <p:nvSpPr>
          <p:cNvPr id="100" name=""/>
          <p:cNvSpPr/>
          <p:nvPr/>
        </p:nvSpPr>
        <p:spPr>
          <a:xfrm rot="0" flipH="0" flipV="0">
            <a:off x="6715125" y="1143000"/>
            <a:ext cx="4905375" cy="866775"/>
          </a:xfrm>
          <a:prstGeom prst="roundRect">
            <a:avLst>
              <a:gd name="adj" fmla="val 10989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sp>
        <p:nvSpPr>
          <p:cNvPr id="101" name=""/>
          <p:cNvSpPr/>
          <p:nvPr/>
        </p:nvSpPr>
        <p:spPr>
          <a:xfrm rot="0" flipH="0" flipV="0">
            <a:off x="6715125" y="1143000"/>
            <a:ext cx="4905375" cy="866775"/>
          </a:xfrm>
          <a:custGeom>
            <a:pathLst>
              <a:path w="515" h="91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85"/>
                </a:lnTo>
                <a:cubicBezTo>
                  <a:pt x="4" y="88"/>
                  <a:pt x="6" y="90"/>
                  <a:pt x="9" y="91"/>
                </a:cubicBezTo>
                <a:cubicBezTo>
                  <a:pt x="4" y="90"/>
                  <a:pt x="0" y="86"/>
                  <a:pt x="0" y="81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8BDF8"/>
          </a:solidFill>
          <a:ln/>
        </p:spPr>
        <p:txBody>
          <a:bodyPr/>
          <a:p>
            <a:pPr/>
            <a:endParaRPr/>
          </a:p>
        </p:txBody>
      </p:sp>
      <p:sp>
        <p:nvSpPr>
          <p:cNvPr id="102" name="" descr="{&quot;isTemplate&quot;:true,&quot;type&quot;:&quot;text&quot;}"/>
          <p:cNvSpPr txBox="1"/>
          <p:nvPr/>
        </p:nvSpPr>
        <p:spPr>
          <a:xfrm rot="0" flipH="0" flipV="0">
            <a:off x="6867525" y="1295400"/>
            <a:ext cx="45624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E5EDF7"/>
                </a:solidFill>
                <a:latin typeface="Microsoft YaHei"/>
                <a:ea typeface="Microsoft YaHei"/>
              </a:rPr>
              <a:t>前置条件</a:t>
            </a:r>
            <a:endParaRPr/>
          </a:p>
        </p:txBody>
      </p:sp>
      <p:sp>
        <p:nvSpPr>
          <p:cNvPr id="103" name="" descr="{&quot;isTemplate&quot;:true,&quot;type&quot;:&quot;text&quot;}"/>
          <p:cNvSpPr txBox="1"/>
          <p:nvPr/>
        </p:nvSpPr>
        <p:spPr>
          <a:xfrm rot="0" flipH="0" flipV="0">
            <a:off x="6867525" y="1562100"/>
            <a:ext cx="4562475" cy="2952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需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CANoe 20 SP2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；从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Vector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官网下载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CANoe AI Package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104" name=""/>
          <p:cNvSpPr/>
          <p:nvPr/>
        </p:nvSpPr>
        <p:spPr>
          <a:xfrm rot="0" flipH="0" flipV="0">
            <a:off x="6715125" y="2990850"/>
            <a:ext cx="4905375" cy="1162050"/>
          </a:xfrm>
          <a:prstGeom prst="roundRect">
            <a:avLst>
              <a:gd name="adj" fmla="val 8197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sp>
        <p:nvSpPr>
          <p:cNvPr id="105" name=""/>
          <p:cNvSpPr/>
          <p:nvPr/>
        </p:nvSpPr>
        <p:spPr>
          <a:xfrm rot="0" flipH="0" flipV="0">
            <a:off x="6715125" y="2990850"/>
            <a:ext cx="4905375" cy="1162050"/>
          </a:xfrm>
          <a:custGeom>
            <a:pathLst>
              <a:path w="515" h="122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116"/>
                </a:lnTo>
                <a:cubicBezTo>
                  <a:pt x="4" y="119"/>
                  <a:pt x="6" y="121"/>
                  <a:pt x="9" y="122"/>
                </a:cubicBezTo>
                <a:cubicBezTo>
                  <a:pt x="4" y="121"/>
                  <a:pt x="0" y="117"/>
                  <a:pt x="0" y="11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8BDF8"/>
          </a:solidFill>
          <a:ln/>
        </p:spPr>
        <p:txBody>
          <a:bodyPr/>
          <a:p>
            <a:pPr/>
            <a:endParaRPr/>
          </a:p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6867525" y="3143250"/>
            <a:ext cx="45624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E5EDF7"/>
                </a:solidFill>
                <a:latin typeface="Microsoft YaHei"/>
                <a:ea typeface="Microsoft YaHei"/>
              </a:rPr>
              <a:t>完整文档</a:t>
            </a:r>
            <a:endParaRPr/>
          </a:p>
        </p:txBody>
      </p:sp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6867525" y="3409950"/>
            <a:ext cx="4562475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官网提供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Copilot / Claude Code / CANoe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内置聊天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其他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harness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的安装指南。</a:t>
            </a:r>
            <a:endParaRPr/>
          </a:p>
        </p:txBody>
      </p:sp>
      <p:sp>
        <p:nvSpPr>
          <p:cNvPr id="108" name=""/>
          <p:cNvSpPr/>
          <p:nvPr/>
        </p:nvSpPr>
        <p:spPr>
          <a:xfrm rot="0" flipH="0" flipV="0">
            <a:off x="6715125" y="5124450"/>
            <a:ext cx="4905375" cy="1162050"/>
          </a:xfrm>
          <a:prstGeom prst="roundRect">
            <a:avLst>
              <a:gd name="adj" fmla="val 8197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sp>
        <p:nvSpPr>
          <p:cNvPr id="109" name=""/>
          <p:cNvSpPr/>
          <p:nvPr/>
        </p:nvSpPr>
        <p:spPr>
          <a:xfrm rot="0" flipH="0" flipV="0">
            <a:off x="6715125" y="5124450"/>
            <a:ext cx="4905375" cy="1162050"/>
          </a:xfrm>
          <a:custGeom>
            <a:pathLst>
              <a:path w="515" h="122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116"/>
                </a:lnTo>
                <a:cubicBezTo>
                  <a:pt x="4" y="119"/>
                  <a:pt x="6" y="121"/>
                  <a:pt x="9" y="122"/>
                </a:cubicBezTo>
                <a:cubicBezTo>
                  <a:pt x="4" y="121"/>
                  <a:pt x="0" y="117"/>
                  <a:pt x="0" y="11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F97316"/>
          </a:solidFill>
          <a:ln/>
        </p:spPr>
        <p:txBody>
          <a:bodyPr/>
          <a:p>
            <a:pPr/>
            <a:endParaRPr/>
          </a:p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6867525" y="5276850"/>
            <a:ext cx="45624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E5EDF7"/>
                </a:solidFill>
                <a:latin typeface="Microsoft YaHei"/>
                <a:ea typeface="Microsoft YaHei"/>
              </a:rPr>
              <a:t>形式与入口</a:t>
            </a:r>
            <a:endParaRPr/>
          </a:p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6867525" y="5543550"/>
            <a:ext cx="4562475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以插件提供，含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README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分步指引；文档在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CANoe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帮助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Software Interfaces → AI Features → MCP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18573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 xml:space="preserve">Vector CANoe AI · </a:t>
            </a:r>
            <a:r>
              <a:rPr lang="zh-CN" sz="1050">
                <a:solidFill>
                  <a:srgbClr val="94A3B8"/>
                </a:solidFill>
                <a:latin typeface="Microsoft YaHei"/>
                <a:ea typeface="Microsoft YaHei"/>
              </a:rPr>
              <a:t>研讨会分享</a:t>
            </a:r>
            <a:endParaRPr/>
          </a:p>
        </p:txBody>
      </p:sp>
      <p:sp>
        <p:nvSpPr>
          <p:cNvPr id="113" name="" descr="{&quot;isTemplate&quot;:true,&quot;type&quot;:&quot;text&quot;}"/>
          <p:cNvSpPr txBox="1"/>
          <p:nvPr/>
        </p:nvSpPr>
        <p:spPr>
          <a:xfrm rot="0" flipH="0" flipV="0">
            <a:off x="11125200" y="640080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>15 / 23</a:t>
            </a:r>
            <a:endParaRPr/>
          </a:p>
        </p:txBody>
      </p:sp>
    </p:spTree>
  </p:cSld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1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>
            <a:pPr/>
            <a:endParaRPr/>
          </a:p>
        </p:txBody>
      </p:sp>
      <p:sp>
        <p:nvSpPr>
          <p:cNvPr id="116" name=""/>
          <p:cNvSpPr/>
          <p:nvPr/>
        </p:nvSpPr>
        <p:spPr>
          <a:xfrm rot="0" flipH="0" flipV="0">
            <a:off x="609600" y="190500"/>
            <a:ext cx="11029950" cy="952500"/>
          </a:xfrm>
          <a:custGeom>
            <a:pathLst>
              <a:path w="1158" h="100">
                <a:moveTo>
                  <a:pt x="0" y="0"/>
                </a:moveTo>
                <a:lnTo>
                  <a:pt x="6" y="0"/>
                </a:lnTo>
                <a:lnTo>
                  <a:pt x="6" y="100"/>
                </a:lnTo>
                <a:lnTo>
                  <a:pt x="0" y="100"/>
                </a:lnTo>
                <a:close/>
              </a:path>
            </a:pathLst>
          </a:custGeom>
          <a:solidFill>
            <a:srgbClr val="38BDF8"/>
          </a:solidFill>
          <a:ln/>
        </p:spPr>
        <p:txBody>
          <a:bodyPr/>
          <a:p>
            <a:pPr/>
            <a:endParaRPr/>
          </a:p>
        </p:txBody>
      </p:sp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838200" y="476250"/>
            <a:ext cx="107442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E5EDF7"/>
                </a:solidFill>
                <a:latin typeface="Microsoft YaHei"/>
                <a:ea typeface="Microsoft YaHei"/>
              </a:rPr>
              <a:t>演示一</a:t>
            </a:r>
            <a:r>
              <a:rPr lang="en-US" sz="2550" b="1">
                <a:solidFill>
                  <a:srgbClr val="E5EDF7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2550" b="1">
                <a:solidFill>
                  <a:srgbClr val="E5EDF7"/>
                </a:solidFill>
                <a:latin typeface="Microsoft YaHei"/>
                <a:ea typeface="Microsoft YaHei"/>
              </a:rPr>
              <a:t>分析工作流</a:t>
            </a:r>
            <a:endParaRPr/>
          </a:p>
        </p:txBody>
      </p:sp>
      <p:sp>
        <p:nvSpPr>
          <p:cNvPr id="118" name=""/>
          <p:cNvSpPr/>
          <p:nvPr/>
        </p:nvSpPr>
        <p:spPr>
          <a:xfrm rot="0" flipH="0" flipV="0">
            <a:off x="647700" y="2286000"/>
            <a:ext cx="4905375" cy="866775"/>
          </a:xfrm>
          <a:prstGeom prst="roundRect">
            <a:avLst>
              <a:gd name="adj" fmla="val 10989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sp>
        <p:nvSpPr>
          <p:cNvPr id="119" name=""/>
          <p:cNvSpPr/>
          <p:nvPr/>
        </p:nvSpPr>
        <p:spPr>
          <a:xfrm rot="0" flipH="0" flipV="0">
            <a:off x="647700" y="2286000"/>
            <a:ext cx="4905375" cy="866775"/>
          </a:xfrm>
          <a:custGeom>
            <a:pathLst>
              <a:path w="515" h="91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85"/>
                </a:lnTo>
                <a:cubicBezTo>
                  <a:pt x="4" y="88"/>
                  <a:pt x="6" y="90"/>
                  <a:pt x="9" y="91"/>
                </a:cubicBezTo>
                <a:cubicBezTo>
                  <a:pt x="4" y="90"/>
                  <a:pt x="0" y="86"/>
                  <a:pt x="0" y="81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8BDF8"/>
          </a:solidFill>
          <a:ln/>
        </p:spPr>
        <p:txBody>
          <a:bodyPr/>
          <a:p>
            <a:pPr/>
            <a:endParaRPr/>
          </a:p>
        </p:txBody>
      </p:sp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800100" y="2438400"/>
            <a:ext cx="45624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E5EDF7"/>
                </a:solidFill>
                <a:latin typeface="Microsoft YaHei"/>
                <a:ea typeface="Microsoft YaHei"/>
              </a:rPr>
              <a:t>入口</a:t>
            </a:r>
            <a:endParaRPr/>
          </a:p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800100" y="2705100"/>
            <a:ext cx="4562475" cy="2952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用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Protocol Monitor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（协议监控器）分析日志文件与通信。</a:t>
            </a:r>
            <a:endParaRPr/>
          </a:p>
        </p:txBody>
      </p:sp>
      <p:sp>
        <p:nvSpPr>
          <p:cNvPr id="122" name=""/>
          <p:cNvSpPr/>
          <p:nvPr/>
        </p:nvSpPr>
        <p:spPr>
          <a:xfrm rot="0" flipH="0" flipV="0">
            <a:off x="647700" y="3286125"/>
            <a:ext cx="4905375" cy="866775"/>
          </a:xfrm>
          <a:prstGeom prst="roundRect">
            <a:avLst>
              <a:gd name="adj" fmla="val 10989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sp>
        <p:nvSpPr>
          <p:cNvPr id="123" name=""/>
          <p:cNvSpPr/>
          <p:nvPr/>
        </p:nvSpPr>
        <p:spPr>
          <a:xfrm rot="0" flipH="0" flipV="0">
            <a:off x="647700" y="3286125"/>
            <a:ext cx="4905375" cy="866775"/>
          </a:xfrm>
          <a:custGeom>
            <a:pathLst>
              <a:path w="515" h="91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85"/>
                </a:lnTo>
                <a:cubicBezTo>
                  <a:pt x="4" y="88"/>
                  <a:pt x="6" y="90"/>
                  <a:pt x="9" y="91"/>
                </a:cubicBezTo>
                <a:cubicBezTo>
                  <a:pt x="4" y="90"/>
                  <a:pt x="0" y="86"/>
                  <a:pt x="0" y="81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8BDF8"/>
          </a:solidFill>
          <a:ln/>
        </p:spPr>
        <p:txBody>
          <a:bodyPr/>
          <a:p>
            <a:pPr/>
            <a:endParaRPr/>
          </a:p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800100" y="3438525"/>
            <a:ext cx="45624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E5EDF7"/>
                </a:solidFill>
                <a:latin typeface="Microsoft YaHei"/>
                <a:ea typeface="Microsoft YaHei"/>
              </a:rPr>
              <a:t>自动分析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800100" y="3705225"/>
            <a:ext cx="4562475" cy="2952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代理自动读取日志、定位错误与时间戳、生成概览与建议。</a:t>
            </a:r>
            <a:endParaRPr/>
          </a:p>
        </p:txBody>
      </p:sp>
      <p:sp>
        <p:nvSpPr>
          <p:cNvPr id="126" name=""/>
          <p:cNvSpPr/>
          <p:nvPr/>
        </p:nvSpPr>
        <p:spPr>
          <a:xfrm rot="0" flipH="0" flipV="0">
            <a:off x="647700" y="4286250"/>
            <a:ext cx="4905375" cy="866775"/>
          </a:xfrm>
          <a:prstGeom prst="roundRect">
            <a:avLst>
              <a:gd name="adj" fmla="val 10989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sp>
        <p:nvSpPr>
          <p:cNvPr id="127" name=""/>
          <p:cNvSpPr/>
          <p:nvPr/>
        </p:nvSpPr>
        <p:spPr>
          <a:xfrm rot="0" flipH="0" flipV="0">
            <a:off x="647700" y="4286250"/>
            <a:ext cx="4905375" cy="866775"/>
          </a:xfrm>
          <a:custGeom>
            <a:pathLst>
              <a:path w="515" h="91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85"/>
                </a:lnTo>
                <a:cubicBezTo>
                  <a:pt x="4" y="88"/>
                  <a:pt x="6" y="90"/>
                  <a:pt x="9" y="91"/>
                </a:cubicBezTo>
                <a:cubicBezTo>
                  <a:pt x="4" y="90"/>
                  <a:pt x="0" y="86"/>
                  <a:pt x="0" y="81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F97316"/>
          </a:solidFill>
          <a:ln/>
        </p:spPr>
        <p:txBody>
          <a:bodyPr/>
          <a:p>
            <a:pPr/>
            <a:endParaRPr/>
          </a:p>
        </p:txBody>
      </p:sp>
      <p:sp>
        <p:nvSpPr>
          <p:cNvPr id="128" name="" descr="{&quot;isTemplate&quot;:true,&quot;type&quot;:&quot;text&quot;}"/>
          <p:cNvSpPr txBox="1"/>
          <p:nvPr/>
        </p:nvSpPr>
        <p:spPr>
          <a:xfrm rot="0" flipH="0" flipV="0">
            <a:off x="800100" y="4438650"/>
            <a:ext cx="45624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E5EDF7"/>
                </a:solidFill>
                <a:latin typeface="Microsoft YaHei"/>
                <a:ea typeface="Microsoft YaHei"/>
              </a:rPr>
              <a:t>价值</a:t>
            </a:r>
            <a:endParaRPr/>
          </a:p>
        </p:txBody>
      </p:sp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800100" y="4705350"/>
            <a:ext cx="4562475" cy="2952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可创建过滤器聚焦出错服务，大幅加快问题定位。</a:t>
            </a:r>
            <a:endParaRPr/>
          </a:p>
        </p:txBody>
      </p:sp>
      <p:sp>
        <p:nvSpPr>
          <p:cNvPr id="130" name=""/>
          <p:cNvSpPr/>
          <p:nvPr/>
        </p:nvSpPr>
        <p:spPr>
          <a:xfrm rot="0" flipH="0" flipV="0">
            <a:off x="5819775" y="1143000"/>
            <a:ext cx="5762625" cy="3314700"/>
          </a:xfrm>
          <a:prstGeom prst="roundRect">
            <a:avLst>
              <a:gd name="adj" fmla="val 3448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pic>
        <p:nvPicPr>
          <p:cNvPr id="131" name=""/>
          <p:cNvPicPr>
            <a:picLocks noChangeAspect="1"/>
          </p:cNvPicPr>
          <p:nvPr/>
        </p:nvPicPr>
        <p:blipFill>
          <a:blip r:embed="rId1"/>
          <a:srcRect l="0" t="520" r="0" b="520"/>
          <a:stretch>
            <a:fillRect/>
          </a:stretch>
        </p:blipFill>
        <p:spPr>
          <a:xfrm rot="0" flipH="0" flipV="0">
            <a:off x="5934075" y="1257300"/>
            <a:ext cx="5534025" cy="3086100"/>
          </a:xfrm>
          <a:prstGeom prst="rect">
            <a:avLst/>
          </a:prstGeom>
          <a:ln/>
        </p:spPr>
      </p:pic>
      <p:sp>
        <p:nvSpPr>
          <p:cNvPr id="132" name=""/>
          <p:cNvSpPr/>
          <p:nvPr/>
        </p:nvSpPr>
        <p:spPr>
          <a:xfrm rot="0" flipH="0" flipV="0">
            <a:off x="5819775" y="4572000"/>
            <a:ext cx="5762625" cy="1714500"/>
          </a:xfrm>
          <a:prstGeom prst="roundRect">
            <a:avLst>
              <a:gd name="adj" fmla="val 6667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5972175" y="5295900"/>
            <a:ext cx="5457825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图：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驱动的协议监控分析——自动读日志、定位错误、生成建议。</a:t>
            </a:r>
            <a:endParaRPr/>
          </a:p>
        </p:txBody>
      </p:sp>
      <p:sp>
        <p:nvSpPr>
          <p:cNvPr id="134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18573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 xml:space="preserve">Vector CANoe AI · </a:t>
            </a:r>
            <a:r>
              <a:rPr lang="zh-CN" sz="1050">
                <a:solidFill>
                  <a:srgbClr val="94A3B8"/>
                </a:solidFill>
                <a:latin typeface="Microsoft YaHei"/>
                <a:ea typeface="Microsoft YaHei"/>
              </a:rPr>
              <a:t>研讨会分享</a:t>
            </a:r>
            <a:endParaRPr/>
          </a:p>
        </p:txBody>
      </p:sp>
      <p:sp>
        <p:nvSpPr>
          <p:cNvPr id="135" name="" descr="{&quot;isTemplate&quot;:true,&quot;type&quot;:&quot;text&quot;}"/>
          <p:cNvSpPr txBox="1"/>
          <p:nvPr/>
        </p:nvSpPr>
        <p:spPr>
          <a:xfrm rot="0" flipH="0" flipV="0">
            <a:off x="11125200" y="640080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>16 / 23</a:t>
            </a:r>
            <a:endParaRPr/>
          </a:p>
        </p:txBody>
      </p:sp>
    </p:spTree>
  </p:cSld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3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>
            <a:pPr/>
            <a:endParaRPr/>
          </a:p>
        </p:txBody>
      </p:sp>
      <p:sp>
        <p:nvSpPr>
          <p:cNvPr id="138" name=""/>
          <p:cNvSpPr/>
          <p:nvPr/>
        </p:nvSpPr>
        <p:spPr>
          <a:xfrm rot="0" flipH="0" flipV="0">
            <a:off x="609600" y="190500"/>
            <a:ext cx="11029950" cy="952500"/>
          </a:xfrm>
          <a:custGeom>
            <a:pathLst>
              <a:path w="1158" h="100">
                <a:moveTo>
                  <a:pt x="0" y="0"/>
                </a:moveTo>
                <a:lnTo>
                  <a:pt x="6" y="0"/>
                </a:lnTo>
                <a:lnTo>
                  <a:pt x="6" y="100"/>
                </a:lnTo>
                <a:lnTo>
                  <a:pt x="0" y="100"/>
                </a:lnTo>
                <a:close/>
              </a:path>
            </a:pathLst>
          </a:custGeom>
          <a:solidFill>
            <a:srgbClr val="38BDF8"/>
          </a:solidFill>
          <a:ln/>
        </p:spPr>
        <p:txBody>
          <a:bodyPr/>
          <a:p>
            <a:pPr/>
            <a:endParaRPr/>
          </a:p>
        </p:txBody>
      </p:sp>
      <p:sp>
        <p:nvSpPr>
          <p:cNvPr id="139" name="" descr="{&quot;isTemplate&quot;:true,&quot;type&quot;:&quot;text&quot;}"/>
          <p:cNvSpPr txBox="1"/>
          <p:nvPr/>
        </p:nvSpPr>
        <p:spPr>
          <a:xfrm rot="0" flipH="0" flipV="0">
            <a:off x="838200" y="476250"/>
            <a:ext cx="107442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E5EDF7"/>
                </a:solidFill>
                <a:latin typeface="Microsoft YaHei"/>
                <a:ea typeface="Microsoft YaHei"/>
              </a:rPr>
              <a:t>演示二</a:t>
            </a:r>
            <a:r>
              <a:rPr lang="en-US" sz="2550" b="1">
                <a:solidFill>
                  <a:srgbClr val="E5EDF7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2550" b="1">
                <a:solidFill>
                  <a:srgbClr val="E5EDF7"/>
                </a:solidFill>
                <a:latin typeface="Microsoft YaHei"/>
                <a:ea typeface="Microsoft YaHei"/>
              </a:rPr>
              <a:t>扩展现有配置（</a:t>
            </a:r>
            <a:r>
              <a:rPr lang="en-US" sz="2550" b="1">
                <a:solidFill>
                  <a:srgbClr val="E5EDF7"/>
                </a:solidFill>
                <a:latin typeface="Microsoft YaHei"/>
                <a:ea typeface="Microsoft YaHei"/>
              </a:rPr>
              <a:t xml:space="preserve">CAN-LIN </a:t>
            </a:r>
            <a:r>
              <a:rPr lang="zh-CN" sz="2550" b="1">
                <a:solidFill>
                  <a:srgbClr val="E5EDF7"/>
                </a:solidFill>
                <a:latin typeface="Microsoft YaHei"/>
                <a:ea typeface="Microsoft YaHei"/>
              </a:rPr>
              <a:t>网关）</a:t>
            </a:r>
            <a:endParaRPr/>
          </a:p>
        </p:txBody>
      </p:sp>
      <p:sp>
        <p:nvSpPr>
          <p:cNvPr id="140" name=""/>
          <p:cNvSpPr/>
          <p:nvPr/>
        </p:nvSpPr>
        <p:spPr>
          <a:xfrm rot="0" flipH="0" flipV="0">
            <a:off x="609600" y="1143000"/>
            <a:ext cx="5762625" cy="3314700"/>
          </a:xfrm>
          <a:prstGeom prst="roundRect">
            <a:avLst>
              <a:gd name="adj" fmla="val 3448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pic>
        <p:nvPicPr>
          <p:cNvPr id="141" name=""/>
          <p:cNvPicPr>
            <a:picLocks noChangeAspect="1"/>
          </p:cNvPicPr>
          <p:nvPr/>
        </p:nvPicPr>
        <p:blipFill>
          <a:blip r:embed="rId1"/>
          <a:srcRect l="0" t="1198" r="0" b="1198"/>
          <a:stretch>
            <a:fillRect/>
          </a:stretch>
        </p:blipFill>
        <p:spPr>
          <a:xfrm rot="0" flipH="0" flipV="0">
            <a:off x="723900" y="1257300"/>
            <a:ext cx="5534025" cy="3086100"/>
          </a:xfrm>
          <a:prstGeom prst="rect">
            <a:avLst/>
          </a:prstGeom>
          <a:ln/>
        </p:spPr>
      </p:pic>
      <p:sp>
        <p:nvSpPr>
          <p:cNvPr id="142" name=""/>
          <p:cNvSpPr/>
          <p:nvPr/>
        </p:nvSpPr>
        <p:spPr>
          <a:xfrm rot="0" flipH="0" flipV="0">
            <a:off x="609600" y="4572000"/>
            <a:ext cx="5762625" cy="1714500"/>
          </a:xfrm>
          <a:prstGeom prst="roundRect">
            <a:avLst>
              <a:gd name="adj" fmla="val 6667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762000" y="5295900"/>
            <a:ext cx="5457825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图：用自然语言扩展配置——代理添加节点并生成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CAPL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，再补全行为与验证。</a:t>
            </a:r>
            <a:endParaRPr/>
          </a:p>
        </p:txBody>
      </p:sp>
      <p:sp>
        <p:nvSpPr>
          <p:cNvPr id="144" name=""/>
          <p:cNvSpPr/>
          <p:nvPr/>
        </p:nvSpPr>
        <p:spPr>
          <a:xfrm rot="0" flipH="0" flipV="0">
            <a:off x="6715125" y="1990725"/>
            <a:ext cx="4905375" cy="1162050"/>
          </a:xfrm>
          <a:prstGeom prst="roundRect">
            <a:avLst>
              <a:gd name="adj" fmla="val 8197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sp>
        <p:nvSpPr>
          <p:cNvPr id="145" name=""/>
          <p:cNvSpPr/>
          <p:nvPr/>
        </p:nvSpPr>
        <p:spPr>
          <a:xfrm rot="0" flipH="0" flipV="0">
            <a:off x="6715125" y="1990725"/>
            <a:ext cx="4905375" cy="1162050"/>
          </a:xfrm>
          <a:custGeom>
            <a:pathLst>
              <a:path w="515" h="122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116"/>
                </a:lnTo>
                <a:cubicBezTo>
                  <a:pt x="4" y="119"/>
                  <a:pt x="6" y="121"/>
                  <a:pt x="9" y="122"/>
                </a:cubicBezTo>
                <a:cubicBezTo>
                  <a:pt x="4" y="121"/>
                  <a:pt x="0" y="117"/>
                  <a:pt x="0" y="11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8BDF8"/>
          </a:solidFill>
          <a:ln/>
        </p:spPr>
        <p:txBody>
          <a:bodyPr/>
          <a:p>
            <a:pPr/>
            <a:endParaRPr/>
          </a:p>
        </p:txBody>
      </p:sp>
      <p:sp>
        <p:nvSpPr>
          <p:cNvPr id="146" name="" descr="{&quot;isTemplate&quot;:true,&quot;type&quot;:&quot;text&quot;}"/>
          <p:cNvSpPr txBox="1"/>
          <p:nvPr/>
        </p:nvSpPr>
        <p:spPr>
          <a:xfrm rot="0" flipH="0" flipV="0">
            <a:off x="6867525" y="2143125"/>
            <a:ext cx="45624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E5EDF7"/>
                </a:solidFill>
                <a:latin typeface="Microsoft YaHei"/>
                <a:ea typeface="Microsoft YaHei"/>
              </a:rPr>
              <a:t>自然语言建节点</a:t>
            </a:r>
            <a:endParaRPr/>
          </a:p>
        </p:txBody>
      </p:sp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6867525" y="2409825"/>
            <a:ext cx="4562475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在含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CAN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与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LIN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网络的配置中，仅说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在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CAN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与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LIN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间实现网关节点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148" name=""/>
          <p:cNvSpPr/>
          <p:nvPr/>
        </p:nvSpPr>
        <p:spPr>
          <a:xfrm rot="0" flipH="0" flipV="0">
            <a:off x="6715125" y="3286125"/>
            <a:ext cx="4905375" cy="1162050"/>
          </a:xfrm>
          <a:prstGeom prst="roundRect">
            <a:avLst>
              <a:gd name="adj" fmla="val 8197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sp>
        <p:nvSpPr>
          <p:cNvPr id="149" name=""/>
          <p:cNvSpPr/>
          <p:nvPr/>
        </p:nvSpPr>
        <p:spPr>
          <a:xfrm rot="0" flipH="0" flipV="0">
            <a:off x="6715125" y="3286125"/>
            <a:ext cx="4905375" cy="1162050"/>
          </a:xfrm>
          <a:custGeom>
            <a:pathLst>
              <a:path w="515" h="122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116"/>
                </a:lnTo>
                <a:cubicBezTo>
                  <a:pt x="4" y="119"/>
                  <a:pt x="6" y="121"/>
                  <a:pt x="9" y="122"/>
                </a:cubicBezTo>
                <a:cubicBezTo>
                  <a:pt x="4" y="121"/>
                  <a:pt x="0" y="117"/>
                  <a:pt x="0" y="11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8BDF8"/>
          </a:solidFill>
          <a:ln/>
        </p:spPr>
        <p:txBody>
          <a:bodyPr/>
          <a:p>
            <a:pPr/>
            <a:endParaRPr/>
          </a:p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6867525" y="3438525"/>
            <a:ext cx="45624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E5EDF7"/>
                </a:solidFill>
                <a:latin typeface="Microsoft YaHei"/>
                <a:ea typeface="Microsoft YaHei"/>
              </a:rPr>
              <a:t>生成并补全代码</a:t>
            </a:r>
            <a:endParaRPr/>
          </a:p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6867525" y="3705225"/>
            <a:ext cx="4562475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代理向配置添加网关节点、生成（空）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CAPL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脚本；再要求其实现网关行为补全代码。</a:t>
            </a:r>
            <a:endParaRPr/>
          </a:p>
        </p:txBody>
      </p:sp>
      <p:sp>
        <p:nvSpPr>
          <p:cNvPr id="152" name=""/>
          <p:cNvSpPr/>
          <p:nvPr/>
        </p:nvSpPr>
        <p:spPr>
          <a:xfrm rot="0" flipH="0" flipV="0">
            <a:off x="6715125" y="4581525"/>
            <a:ext cx="4905375" cy="866775"/>
          </a:xfrm>
          <a:prstGeom prst="roundRect">
            <a:avLst>
              <a:gd name="adj" fmla="val 10989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sp>
        <p:nvSpPr>
          <p:cNvPr id="153" name=""/>
          <p:cNvSpPr/>
          <p:nvPr/>
        </p:nvSpPr>
        <p:spPr>
          <a:xfrm rot="0" flipH="0" flipV="0">
            <a:off x="6715125" y="4581525"/>
            <a:ext cx="4905375" cy="866775"/>
          </a:xfrm>
          <a:custGeom>
            <a:pathLst>
              <a:path w="515" h="91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85"/>
                </a:lnTo>
                <a:cubicBezTo>
                  <a:pt x="4" y="88"/>
                  <a:pt x="6" y="90"/>
                  <a:pt x="9" y="91"/>
                </a:cubicBezTo>
                <a:cubicBezTo>
                  <a:pt x="4" y="90"/>
                  <a:pt x="0" y="86"/>
                  <a:pt x="0" y="81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F97316"/>
          </a:solidFill>
          <a:ln/>
        </p:spPr>
        <p:txBody>
          <a:bodyPr/>
          <a:p>
            <a:pPr/>
            <a:endParaRPr/>
          </a:p>
        </p:txBody>
      </p:sp>
      <p:sp>
        <p:nvSpPr>
          <p:cNvPr id="154" name="" descr="{&quot;isTemplate&quot;:true,&quot;type&quot;:&quot;text&quot;}"/>
          <p:cNvSpPr txBox="1"/>
          <p:nvPr/>
        </p:nvSpPr>
        <p:spPr>
          <a:xfrm rot="0" flipH="0" flipV="0">
            <a:off x="6867525" y="4733925"/>
            <a:ext cx="45624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E5EDF7"/>
                </a:solidFill>
                <a:latin typeface="Microsoft YaHei"/>
                <a:ea typeface="Microsoft YaHei"/>
              </a:rPr>
              <a:t>验证</a:t>
            </a:r>
            <a:endParaRPr/>
          </a:p>
        </p:txBody>
      </p:sp>
      <p:sp>
        <p:nvSpPr>
          <p:cNvPr id="155" name="" descr="{&quot;isTemplate&quot;:true,&quot;type&quot;:&quot;text&quot;}"/>
          <p:cNvSpPr txBox="1"/>
          <p:nvPr/>
        </p:nvSpPr>
        <p:spPr>
          <a:xfrm rot="0" flipH="0" flipV="0">
            <a:off x="6867525" y="5000625"/>
            <a:ext cx="4562475" cy="2952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运行测量并聚焦网关流量，确认代码确实生效。</a:t>
            </a:r>
            <a:endParaRPr/>
          </a:p>
        </p:txBody>
      </p:sp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18573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 xml:space="preserve">Vector CANoe AI · </a:t>
            </a:r>
            <a:r>
              <a:rPr lang="zh-CN" sz="1050">
                <a:solidFill>
                  <a:srgbClr val="94A3B8"/>
                </a:solidFill>
                <a:latin typeface="Microsoft YaHei"/>
                <a:ea typeface="Microsoft YaHei"/>
              </a:rPr>
              <a:t>研讨会分享</a:t>
            </a:r>
            <a:endParaRPr/>
          </a:p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11125200" y="640080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>17 / 23</a:t>
            </a:r>
            <a:endParaRPr/>
          </a:p>
        </p:txBody>
      </p:sp>
    </p:spTree>
  </p:cSld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5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>
            <a:pPr/>
            <a:endParaRPr/>
          </a:p>
        </p:txBody>
      </p:sp>
      <p:sp>
        <p:nvSpPr>
          <p:cNvPr id="160" name=""/>
          <p:cNvSpPr/>
          <p:nvPr/>
        </p:nvSpPr>
        <p:spPr>
          <a:xfrm rot="0" flipH="0" flipV="0">
            <a:off x="609600" y="190500"/>
            <a:ext cx="11029950" cy="952500"/>
          </a:xfrm>
          <a:custGeom>
            <a:pathLst>
              <a:path w="1158" h="100">
                <a:moveTo>
                  <a:pt x="0" y="0"/>
                </a:moveTo>
                <a:lnTo>
                  <a:pt x="6" y="0"/>
                </a:lnTo>
                <a:lnTo>
                  <a:pt x="6" y="100"/>
                </a:lnTo>
                <a:lnTo>
                  <a:pt x="0" y="100"/>
                </a:lnTo>
                <a:close/>
              </a:path>
            </a:pathLst>
          </a:custGeom>
          <a:solidFill>
            <a:srgbClr val="38BDF8"/>
          </a:solidFill>
          <a:ln/>
        </p:spPr>
        <p:txBody>
          <a:bodyPr/>
          <a:p>
            <a:pPr/>
            <a:endParaRPr/>
          </a:p>
        </p:txBody>
      </p:sp>
      <p:sp>
        <p:nvSpPr>
          <p:cNvPr id="161" name="" descr="{&quot;isTemplate&quot;:true,&quot;type&quot;:&quot;text&quot;}"/>
          <p:cNvSpPr txBox="1"/>
          <p:nvPr/>
        </p:nvSpPr>
        <p:spPr>
          <a:xfrm rot="0" flipH="0" flipV="0">
            <a:off x="838200" y="476250"/>
            <a:ext cx="107442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E5EDF7"/>
                </a:solidFill>
                <a:latin typeface="Microsoft YaHei"/>
                <a:ea typeface="Microsoft YaHei"/>
              </a:rPr>
              <a:t>演示三</a:t>
            </a:r>
            <a:r>
              <a:rPr lang="en-US" sz="2550" b="1">
                <a:solidFill>
                  <a:srgbClr val="E5EDF7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2550" b="1">
                <a:solidFill>
                  <a:srgbClr val="E5EDF7"/>
                </a:solidFill>
                <a:latin typeface="Microsoft YaHei"/>
                <a:ea typeface="Microsoft YaHei"/>
              </a:rPr>
              <a:t>编排器驱动的代理式工作流</a:t>
            </a:r>
            <a:endParaRPr/>
          </a:p>
        </p:txBody>
      </p:sp>
      <p:sp>
        <p:nvSpPr>
          <p:cNvPr id="162" name=""/>
          <p:cNvSpPr/>
          <p:nvPr/>
        </p:nvSpPr>
        <p:spPr>
          <a:xfrm rot="0" flipH="0" flipV="0">
            <a:off x="609600" y="1143000"/>
            <a:ext cx="5762625" cy="3314700"/>
          </a:xfrm>
          <a:prstGeom prst="roundRect">
            <a:avLst>
              <a:gd name="adj" fmla="val 3448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pic>
        <p:nvPicPr>
          <p:cNvPr id="163" name=""/>
          <p:cNvPicPr>
            <a:picLocks noChangeAspect="1"/>
          </p:cNvPicPr>
          <p:nvPr/>
        </p:nvPicPr>
        <p:blipFill>
          <a:blip r:embed="rId1"/>
          <a:srcRect l="0" t="994" r="0" b="994"/>
          <a:stretch>
            <a:fillRect/>
          </a:stretch>
        </p:blipFill>
        <p:spPr>
          <a:xfrm rot="0" flipH="0" flipV="0">
            <a:off x="723900" y="1257300"/>
            <a:ext cx="5534025" cy="3086100"/>
          </a:xfrm>
          <a:prstGeom prst="rect">
            <a:avLst/>
          </a:prstGeom>
          <a:ln/>
        </p:spPr>
      </p:pic>
      <p:sp>
        <p:nvSpPr>
          <p:cNvPr id="164" name=""/>
          <p:cNvSpPr/>
          <p:nvPr/>
        </p:nvSpPr>
        <p:spPr>
          <a:xfrm rot="0" flipH="0" flipV="0">
            <a:off x="609600" y="4572000"/>
            <a:ext cx="5762625" cy="1714500"/>
          </a:xfrm>
          <a:prstGeom prst="roundRect">
            <a:avLst>
              <a:gd name="adj" fmla="val 6667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sp>
        <p:nvSpPr>
          <p:cNvPr id="165" name="" descr="{&quot;isTemplate&quot;:true,&quot;type&quot;:&quot;text&quot;}"/>
          <p:cNvSpPr txBox="1"/>
          <p:nvPr/>
        </p:nvSpPr>
        <p:spPr>
          <a:xfrm rot="0" flipH="0" flipV="0">
            <a:off x="762000" y="5295900"/>
            <a:ext cx="5457825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图：编排器（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>Orchestrator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）统筹子代理，构建端到端代理式工作流。</a:t>
            </a:r>
            <a:endParaRPr/>
          </a:p>
        </p:txBody>
      </p:sp>
      <p:sp>
        <p:nvSpPr>
          <p:cNvPr id="166" name=""/>
          <p:cNvSpPr/>
          <p:nvPr/>
        </p:nvSpPr>
        <p:spPr>
          <a:xfrm rot="0" flipH="0" flipV="0">
            <a:off x="6715125" y="1990725"/>
            <a:ext cx="4905375" cy="866775"/>
          </a:xfrm>
          <a:prstGeom prst="roundRect">
            <a:avLst>
              <a:gd name="adj" fmla="val 10989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sp>
        <p:nvSpPr>
          <p:cNvPr id="167" name=""/>
          <p:cNvSpPr/>
          <p:nvPr/>
        </p:nvSpPr>
        <p:spPr>
          <a:xfrm rot="0" flipH="0" flipV="0">
            <a:off x="6715125" y="1990725"/>
            <a:ext cx="4905375" cy="866775"/>
          </a:xfrm>
          <a:custGeom>
            <a:pathLst>
              <a:path w="515" h="91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85"/>
                </a:lnTo>
                <a:cubicBezTo>
                  <a:pt x="4" y="88"/>
                  <a:pt x="6" y="90"/>
                  <a:pt x="9" y="91"/>
                </a:cubicBezTo>
                <a:cubicBezTo>
                  <a:pt x="4" y="90"/>
                  <a:pt x="0" y="86"/>
                  <a:pt x="0" y="81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8BDF8"/>
          </a:solidFill>
          <a:ln/>
        </p:spPr>
        <p:txBody>
          <a:bodyPr/>
          <a:p>
            <a:pPr/>
            <a:endParaRPr/>
          </a:p>
        </p:txBody>
      </p:sp>
      <p:sp>
        <p:nvSpPr>
          <p:cNvPr id="168" name="" descr="{&quot;isTemplate&quot;:true,&quot;type&quot;:&quot;text&quot;}"/>
          <p:cNvSpPr txBox="1"/>
          <p:nvPr/>
        </p:nvSpPr>
        <p:spPr>
          <a:xfrm rot="0" flipH="0" flipV="0">
            <a:off x="6867525" y="2143125"/>
            <a:ext cx="45624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E5EDF7"/>
                </a:solidFill>
                <a:latin typeface="Microsoft YaHei"/>
                <a:ea typeface="Microsoft YaHei"/>
              </a:rPr>
              <a:t>以车窗升降</a:t>
            </a:r>
            <a:r>
              <a:rPr lang="en-US" sz="1500" b="1">
                <a:solidFill>
                  <a:srgbClr val="E5EDF7"/>
                </a:solidFill>
                <a:latin typeface="Microsoft YaHei"/>
                <a:ea typeface="Microsoft YaHei"/>
              </a:rPr>
              <a:t xml:space="preserve"> ECU </a:t>
            </a:r>
            <a:r>
              <a:rPr lang="zh-CN" sz="1500" b="1">
                <a:solidFill>
                  <a:srgbClr val="E5EDF7"/>
                </a:solidFill>
                <a:latin typeface="Microsoft YaHei"/>
                <a:ea typeface="Microsoft YaHei"/>
              </a:rPr>
              <a:t>为例</a:t>
            </a:r>
            <a:endParaRPr/>
          </a:p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6867525" y="2409825"/>
            <a:ext cx="4562475" cy="2952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编排器统筹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编码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测试运行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测试报告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三个子代理。</a:t>
            </a:r>
            <a:endParaRPr/>
          </a:p>
        </p:txBody>
      </p:sp>
      <p:sp>
        <p:nvSpPr>
          <p:cNvPr id="170" name=""/>
          <p:cNvSpPr/>
          <p:nvPr/>
        </p:nvSpPr>
        <p:spPr>
          <a:xfrm rot="0" flipH="0" flipV="0">
            <a:off x="6715125" y="2990850"/>
            <a:ext cx="4905375" cy="1162050"/>
          </a:xfrm>
          <a:prstGeom prst="roundRect">
            <a:avLst>
              <a:gd name="adj" fmla="val 8197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sp>
        <p:nvSpPr>
          <p:cNvPr id="171" name=""/>
          <p:cNvSpPr/>
          <p:nvPr/>
        </p:nvSpPr>
        <p:spPr>
          <a:xfrm rot="0" flipH="0" flipV="0">
            <a:off x="6715125" y="2990850"/>
            <a:ext cx="4905375" cy="1162050"/>
          </a:xfrm>
          <a:custGeom>
            <a:pathLst>
              <a:path w="515" h="122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116"/>
                </a:lnTo>
                <a:cubicBezTo>
                  <a:pt x="4" y="119"/>
                  <a:pt x="6" y="121"/>
                  <a:pt x="9" y="122"/>
                </a:cubicBezTo>
                <a:cubicBezTo>
                  <a:pt x="4" y="121"/>
                  <a:pt x="0" y="117"/>
                  <a:pt x="0" y="11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8BDF8"/>
          </a:solidFill>
          <a:ln/>
        </p:spPr>
        <p:txBody>
          <a:bodyPr/>
          <a:p>
            <a:pPr/>
            <a:endParaRPr/>
          </a:p>
        </p:txBody>
      </p:sp>
      <p:sp>
        <p:nvSpPr>
          <p:cNvPr id="172" name="" descr="{&quot;isTemplate&quot;:true,&quot;type&quot;:&quot;text&quot;}"/>
          <p:cNvSpPr txBox="1"/>
          <p:nvPr/>
        </p:nvSpPr>
        <p:spPr>
          <a:xfrm rot="0" flipH="0" flipV="0">
            <a:off x="6867525" y="3143250"/>
            <a:ext cx="45624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E5EDF7"/>
                </a:solidFill>
                <a:latin typeface="Microsoft YaHei"/>
                <a:ea typeface="Microsoft YaHei"/>
              </a:rPr>
              <a:t>端到端执行</a:t>
            </a:r>
            <a:endParaRPr/>
          </a:p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6867525" y="3409950"/>
            <a:ext cx="4562475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读取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vTEST Studio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测试规范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自动实现用例、运行测试、产出报告。</a:t>
            </a:r>
            <a:endParaRPr/>
          </a:p>
        </p:txBody>
      </p:sp>
      <p:sp>
        <p:nvSpPr>
          <p:cNvPr id="174" name=""/>
          <p:cNvSpPr/>
          <p:nvPr/>
        </p:nvSpPr>
        <p:spPr>
          <a:xfrm rot="0" flipH="0" flipV="0">
            <a:off x="6715125" y="4286250"/>
            <a:ext cx="4905375" cy="1162050"/>
          </a:xfrm>
          <a:prstGeom prst="roundRect">
            <a:avLst>
              <a:gd name="adj" fmla="val 8197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sp>
        <p:nvSpPr>
          <p:cNvPr id="175" name=""/>
          <p:cNvSpPr/>
          <p:nvPr/>
        </p:nvSpPr>
        <p:spPr>
          <a:xfrm rot="0" flipH="0" flipV="0">
            <a:off x="6715125" y="4286250"/>
            <a:ext cx="4905375" cy="1162050"/>
          </a:xfrm>
          <a:custGeom>
            <a:pathLst>
              <a:path w="515" h="122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116"/>
                </a:lnTo>
                <a:cubicBezTo>
                  <a:pt x="4" y="119"/>
                  <a:pt x="6" y="121"/>
                  <a:pt x="9" y="122"/>
                </a:cubicBezTo>
                <a:cubicBezTo>
                  <a:pt x="4" y="121"/>
                  <a:pt x="0" y="117"/>
                  <a:pt x="0" y="11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F97316"/>
          </a:solidFill>
          <a:ln/>
        </p:spPr>
        <p:txBody>
          <a:bodyPr/>
          <a:p>
            <a:pPr/>
            <a:endParaRPr/>
          </a:p>
        </p:txBody>
      </p:sp>
      <p:sp>
        <p:nvSpPr>
          <p:cNvPr id="176" name="" descr="{&quot;isTemplate&quot;:true,&quot;type&quot;:&quot;text&quot;}"/>
          <p:cNvSpPr txBox="1"/>
          <p:nvPr/>
        </p:nvSpPr>
        <p:spPr>
          <a:xfrm rot="0" flipH="0" flipV="0">
            <a:off x="6867525" y="4438650"/>
            <a:ext cx="45624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E5EDF7"/>
                </a:solidFill>
                <a:latin typeface="Microsoft YaHei"/>
                <a:ea typeface="Microsoft YaHei"/>
              </a:rPr>
              <a:t>为什么好</a:t>
            </a:r>
            <a:endParaRPr/>
          </a:p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6867525" y="4705350"/>
            <a:ext cx="4562475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子代理上下文干净、专注；编排器据结果动态迭代，而非固定流水线。</a:t>
            </a:r>
            <a:endParaRPr/>
          </a:p>
        </p:txBody>
      </p:sp>
      <p:sp>
        <p:nvSpPr>
          <p:cNvPr id="178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18573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 xml:space="preserve">Vector CANoe AI · </a:t>
            </a:r>
            <a:r>
              <a:rPr lang="zh-CN" sz="1050">
                <a:solidFill>
                  <a:srgbClr val="94A3B8"/>
                </a:solidFill>
                <a:latin typeface="Microsoft YaHei"/>
                <a:ea typeface="Microsoft YaHei"/>
              </a:rPr>
              <a:t>研讨会分享</a:t>
            </a:r>
            <a:endParaRPr/>
          </a:p>
        </p:txBody>
      </p:sp>
      <p:sp>
        <p:nvSpPr>
          <p:cNvPr id="179" name="" descr="{&quot;isTemplate&quot;:true,&quot;type&quot;:&quot;text&quot;}"/>
          <p:cNvSpPr txBox="1"/>
          <p:nvPr/>
        </p:nvSpPr>
        <p:spPr>
          <a:xfrm rot="0" flipH="0" flipV="0">
            <a:off x="11125200" y="640080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>18 / 23</a:t>
            </a:r>
            <a:endParaRPr/>
          </a:p>
        </p:txBody>
      </p:sp>
    </p:spTree>
  </p:cSld>
</p:sld>
</file>

<file path=ppt/slides/slide19.xml><?xml version="1.0" encoding="utf-8"?>
<p:sld xmlns:p="http://schemas.openxmlformats.org/presentationml/2006/main" xmlns:a="http://schemas.openxmlformats.org/drawingml/2006/main">
  <p:cSld>
    <p:spTree>
      <p:nvGrpSpPr>
        <p:cNvPr id="18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B1220"/>
              </a:gs>
              <a:gs pos="100000">
                <a:srgbClr val="16203A"/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182" name=""/>
          <p:cNvSpPr/>
          <p:nvPr/>
        </p:nvSpPr>
        <p:spPr>
          <a:xfrm rot="0" flipH="0" flipV="0">
            <a:off x="8763000" y="-571500"/>
            <a:ext cx="4000500" cy="4000500"/>
          </a:xfrm>
          <a:prstGeom prst="rect">
            <a:avLst/>
          </a:prstGeom>
          <a:gradFill>
            <a:gsLst>
              <a:gs pos="0">
                <a:srgbClr val="38BDF8">
                  <a:alpha val="12000"/>
                </a:srgbClr>
              </a:gs>
              <a:gs pos="70000">
                <a:srgbClr val="FFFF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/>
          <a:p>
            <a:pPr/>
            <a:endParaRPr/>
          </a:p>
        </p:txBody>
      </p:sp>
      <p:sp>
        <p:nvSpPr>
          <p:cNvPr id="183" name="" descr="{&quot;isTemplate&quot;:true,&quot;type&quot;:&quot;text&quot;}"/>
          <p:cNvSpPr txBox="1"/>
          <p:nvPr/>
        </p:nvSpPr>
        <p:spPr>
          <a:xfrm rot="0" flipH="0" flipV="0">
            <a:off x="6791325" y="1428750"/>
            <a:ext cx="5172075" cy="5029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0" b="1">
                <a:solidFill>
                  <a:srgbClr val="38BDF8">
                    <a:alpha val="20000"/>
                  </a:srgbClr>
                </a:solidFill>
                <a:latin typeface="Microsoft YaHei"/>
                <a:ea typeface="Microsoft YaHei"/>
              </a:rPr>
              <a:t>05</a:t>
            </a:r>
            <a:endParaRPr/>
          </a:p>
        </p:txBody>
      </p:sp>
      <p:sp>
        <p:nvSpPr>
          <p:cNvPr id="184" name="" descr="{&quot;isTemplate&quot;:true,&quot;type&quot;:&quot;text&quot;}"/>
          <p:cNvSpPr txBox="1"/>
          <p:nvPr/>
        </p:nvSpPr>
        <p:spPr>
          <a:xfrm rot="0" flipH="0" flipV="0">
            <a:off x="914400" y="2657475"/>
            <a:ext cx="5600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 spc="300">
                <a:solidFill>
                  <a:srgbClr val="38BDF8"/>
                </a:solidFill>
                <a:latin typeface="Microsoft YaHei"/>
                <a:ea typeface="Microsoft YaHei"/>
              </a:rPr>
              <a:t>CHAPTER 05</a:t>
            </a:r>
            <a:endParaRPr/>
          </a:p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914400" y="3048000"/>
            <a:ext cx="5600700" cy="685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4500" b="1">
                <a:solidFill>
                  <a:srgbClr val="E5EDF7"/>
                </a:solidFill>
                <a:latin typeface="Microsoft YaHei"/>
                <a:ea typeface="Microsoft YaHei"/>
              </a:rPr>
              <a:t>路线图与问答</a:t>
            </a:r>
            <a:endParaRPr/>
          </a:p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914400" y="3943350"/>
            <a:ext cx="5600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94A3B8"/>
                </a:solidFill>
                <a:latin typeface="Microsoft YaHei"/>
                <a:ea typeface="Microsoft YaHei"/>
              </a:rPr>
              <a:t>产品路线图、精选问答与术语表</a:t>
            </a:r>
            <a:endParaRPr/>
          </a:p>
        </p:txBody>
      </p:sp>
      <p:sp>
        <p:nvSpPr>
          <p:cNvPr id="187" name=""/>
          <p:cNvSpPr/>
          <p:nvPr/>
        </p:nvSpPr>
        <p:spPr>
          <a:xfrm rot="0" flipH="0" flipV="0">
            <a:off x="609600" y="6200775"/>
            <a:ext cx="10972800" cy="342900"/>
          </a:xfrm>
          <a:custGeom>
            <a:pathLst>
              <a:path w="1152" h="36">
                <a:moveTo>
                  <a:pt x="0" y="0"/>
                </a:moveTo>
                <a:lnTo>
                  <a:pt x="1152" y="0"/>
                </a:lnTo>
                <a:lnTo>
                  <a:pt x="1152" y="1"/>
                </a:lnTo>
                <a:lnTo>
                  <a:pt x="0" y="1"/>
                </a:lnTo>
                <a:close/>
              </a:path>
            </a:pathLst>
          </a:custGeom>
          <a:solidFill>
            <a:srgbClr val="94A3B8">
              <a:alpha val="25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609600" y="6343650"/>
            <a:ext cx="26479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第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章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接下来怎么走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你关心的问题</a:t>
            </a:r>
            <a:endParaRPr/>
          </a:p>
        </p:txBody>
      </p:sp>
      <p:sp>
        <p:nvSpPr>
          <p:cNvPr id="189" name="" descr="{&quot;isTemplate&quot;:true,&quot;type&quot;:&quot;text&quot;}"/>
          <p:cNvSpPr txBox="1"/>
          <p:nvPr/>
        </p:nvSpPr>
        <p:spPr>
          <a:xfrm rot="0" flipH="0" flipV="0">
            <a:off x="10315575" y="6343650"/>
            <a:ext cx="12668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>Vector Informatik</a:t>
            </a:r>
            <a:endParaRPr/>
          </a:p>
        </p:txBody>
      </p:sp>
    </p:spTree>
  </p:cSld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214" name="" descr="&lt;Slide style={{ width: '1280px', height: '720px', background: '#0B1220', padding: '20px 64px' }}&gt;&#10;  &lt;Box style={{ height: 100, borderLeft: '6px solid #38BDF8', paddingLeft: 18, justifyContent: 'center' }}&gt;&#10;    &lt;Text style={{ fontSize: 34, fontWeight: 'bold', color: '#E5EDF7' }}&gt;产品路线图 · 持续演进&lt;/Text&gt;&#10;  &lt;/Box&gt;&#10;  &lt;Box style={{ height: 540, flexDirection: 'row', gap: 32, alignItems: 'stretch' }}&gt;&#10;    &lt;Box style={{ width: '54%', flexDirection: 'column', gap: 12 }}&gt;&#10;      &lt;Box style={{ height: 348, background: '#16203A', borderRadius: 12, padding: 12, justifyContent: 'center' }}&gt;&#10;        &lt;Image src=&quot;assets/roadmap_overview.png&quot; style={{ width: '100%', height: '100%', objectFit: 'contain' }} /&gt;&#10;      &lt;/Box&gt;&#10;      &lt;Box style={{ flex: 1, background: '#16203A', borderRadius: 12, padding: 16, justifyContent: 'center' }}&gt;&#10;        &lt;Text style={{ fontSize: 16, color: '#94A3B8', lineHeight: 1.5 }}&gt;图：路线图总览——AI 能力随 CANoe 版本分阶段交付，从基础代理到代理式编排逐步深入。&lt;/Text&gt;&#10;      &lt;/Box&gt;&#10;    &lt;/Box&gt;&#10;    &lt;Box style={{ width: '46%', gap: 12, justifyContent: 'space-between' }}&gt;&#10;      &lt;Box style={{ background: '#16203A', borderRadius: 10, padding: 14, borderLeft: '4px solid #38BDF8' }}&gt;&#10;        &lt;Text style={{ fontSize: 19, fontWeight: 'bold', color: '#E5EDF7' }}&gt;已发布&lt;/Text&gt;&#10;        &lt;Text style={{ fontSize: 15, color: '#94A3B8', lineHeight: 1.5, marginTop: 4 }}&gt;CANoe AI Package、4 个内置代理、Vector Knowledge Server、MCP 接口；需 CANoe 20 SP2。&lt;/Text&gt;&#10;      &lt;/Box&gt;&#10;      &lt;Box style={{ background: '#16203A', borderRadius: 10, padding: 14, borderLeft: '4px solid #F97316' }}&gt;&#10;        &lt;Text style={{ fontSize: 19, fontWeight: 'bold', color: '#E5EDF7' }}&gt;2026 年底前&lt;/Text&gt;&#10;        &lt;Text style={{ fontSize: 15, color: '#94A3B8', lineHeight: 1.5, marginTop: 4 }}&gt;更多内置代理、更多 MCP 服务器；Knowledge Server 扩展知识源与检索。&lt;/Text&gt;&#10;      &lt;/Box&gt;&#10;      &lt;Box style={{ height: 290, background: '#16203A', borderRadius: 12, padding: 6, justifyContent: 'center' }}&gt;&#10;        &lt;Image src=&quot;assets/ai_roadmap_detail.png&quot; style={{ width: '100%', height: '100%', objectFit: 'contain' }} /&gt;&#10;      &lt;/Box&gt;&#10;    &lt;/Box&gt;&#10;  &lt;/Box&gt;&#10;  &lt;Box style={{ height: 40, flexDirection: 'row', justifyContent: 'space-between', alignItems: 'center' }}&gt;&#10;    &lt;Text style={{ fontSize: 14, color: '#94A3B8' }}&gt;Vector CANoe AI · 研讨会分享&lt;/Text&gt;&#10;    &lt;Text style={{ fontSize: 14, color: '#94A3B8' }}&gt;20 / 23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216" name=""/>
          <p:cNvSpPr/>
          <p:nvPr/>
        </p:nvSpPr>
        <p:spPr>
          <a:xfrm rot="0" flipH="0" flipV="0">
            <a:off x="609600" y="190500"/>
            <a:ext cx="11029950" cy="952500"/>
          </a:xfrm>
          <a:custGeom>
            <a:pathLst>
              <a:path w="1158" h="100">
                <a:moveTo>
                  <a:pt x="0" y="0"/>
                </a:moveTo>
                <a:lnTo>
                  <a:pt x="6" y="0"/>
                </a:lnTo>
                <a:lnTo>
                  <a:pt x="6" y="100"/>
                </a:lnTo>
                <a:lnTo>
                  <a:pt x="0" y="100"/>
                </a:lnTo>
                <a:close/>
              </a:path>
            </a:pathLst>
          </a:custGeom>
          <a:solidFill>
            <a:srgbClr val="38BDF8"/>
          </a:solidFill>
          <a:ln/>
        </p:spPr>
        <p:txBody>
          <a:bodyPr/>
          <a:p/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838200" y="476250"/>
            <a:ext cx="107442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E5EDF7"/>
                </a:solidFill>
                <a:latin typeface="Microsoft YaHei"/>
                <a:ea typeface="Microsoft YaHei"/>
              </a:rPr>
              <a:t>产品路线图</a:t>
            </a:r>
            <a:r>
              <a:rPr lang="en-US" sz="2550" b="1">
                <a:solidFill>
                  <a:srgbClr val="E5EDF7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2550" b="1">
                <a:solidFill>
                  <a:srgbClr val="E5EDF7"/>
                </a:solidFill>
                <a:latin typeface="Microsoft YaHei"/>
                <a:ea typeface="Microsoft YaHei"/>
              </a:rPr>
              <a:t>持续演进</a:t>
            </a:r>
            <a:endParaRPr/>
          </a:p>
        </p:txBody>
      </p:sp>
      <p:sp>
        <p:nvSpPr>
          <p:cNvPr id="218" name=""/>
          <p:cNvSpPr/>
          <p:nvPr/>
        </p:nvSpPr>
        <p:spPr>
          <a:xfrm rot="0" flipH="0" flipV="0">
            <a:off x="609600" y="1143000"/>
            <a:ext cx="5762625" cy="3314700"/>
          </a:xfrm>
          <a:prstGeom prst="roundRect">
            <a:avLst>
              <a:gd name="adj" fmla="val 3448"/>
            </a:avLst>
          </a:prstGeom>
          <a:solidFill>
            <a:srgbClr val="16203A"/>
          </a:solidFill>
          <a:ln/>
        </p:spPr>
        <p:txBody>
          <a:bodyPr/>
          <a:p/>
        </p:txBody>
      </p:sp>
      <p:pic>
        <p:nvPicPr>
          <p:cNvPr id="219" name=""/>
          <p:cNvPicPr>
            <a:picLocks noChangeAspect="1"/>
          </p:cNvPicPr>
          <p:nvPr/>
        </p:nvPicPr>
        <p:blipFill>
          <a:blip r:embed="rId1"/>
          <a:srcRect l="0" t="408" r="0" b="408"/>
          <a:stretch>
            <a:fillRect/>
          </a:stretch>
        </p:blipFill>
        <p:spPr>
          <a:xfrm rot="0" flipH="0" flipV="0">
            <a:off x="723900" y="1257300"/>
            <a:ext cx="5534025" cy="3086100"/>
          </a:xfrm>
          <a:prstGeom prst="rect">
            <a:avLst/>
          </a:prstGeom>
          <a:ln/>
        </p:spPr>
      </p:pic>
      <p:sp>
        <p:nvSpPr>
          <p:cNvPr id="220" name=""/>
          <p:cNvSpPr/>
          <p:nvPr/>
        </p:nvSpPr>
        <p:spPr>
          <a:xfrm rot="0" flipH="0" flipV="0">
            <a:off x="609600" y="4572000"/>
            <a:ext cx="5762625" cy="1714500"/>
          </a:xfrm>
          <a:prstGeom prst="roundRect">
            <a:avLst>
              <a:gd name="adj" fmla="val 6667"/>
            </a:avLst>
          </a:prstGeom>
          <a:solidFill>
            <a:srgbClr val="16203A"/>
          </a:solidFill>
          <a:ln/>
        </p:spPr>
        <p:txBody>
          <a:bodyPr/>
          <a:p/>
        </p:txBody>
      </p:sp>
      <p:sp>
        <p:nvSpPr>
          <p:cNvPr id="221" name="" descr="{&quot;isTemplate&quot;:true,&quot;type&quot;:&quot;text&quot;}"/>
          <p:cNvSpPr txBox="1"/>
          <p:nvPr/>
        </p:nvSpPr>
        <p:spPr>
          <a:xfrm rot="0" flipH="0" flipV="0">
            <a:off x="762000" y="5153025"/>
            <a:ext cx="545782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图：路线图总览——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能力随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CANoe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版本分阶段交付，从基础代理到代理式编排逐步深入。</a:t>
            </a:r>
            <a:endParaRPr/>
          </a:p>
        </p:txBody>
      </p:sp>
      <p:sp>
        <p:nvSpPr>
          <p:cNvPr id="222" name=""/>
          <p:cNvSpPr/>
          <p:nvPr/>
        </p:nvSpPr>
        <p:spPr>
          <a:xfrm rot="0" flipH="0" flipV="0">
            <a:off x="6715125" y="1143000"/>
            <a:ext cx="4905375" cy="1038225"/>
          </a:xfrm>
          <a:prstGeom prst="roundRect">
            <a:avLst>
              <a:gd name="adj" fmla="val 9174"/>
            </a:avLst>
          </a:prstGeom>
          <a:solidFill>
            <a:srgbClr val="16203A"/>
          </a:solidFill>
          <a:ln/>
        </p:spPr>
        <p:txBody>
          <a:bodyPr/>
          <a:p/>
        </p:txBody>
      </p:sp>
      <p:sp>
        <p:nvSpPr>
          <p:cNvPr id="223" name=""/>
          <p:cNvSpPr/>
          <p:nvPr/>
        </p:nvSpPr>
        <p:spPr>
          <a:xfrm rot="0" flipH="0" flipV="0">
            <a:off x="6715125" y="1143000"/>
            <a:ext cx="4905375" cy="1038225"/>
          </a:xfrm>
          <a:custGeom>
            <a:pathLst>
              <a:path w="515" h="109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103"/>
                </a:lnTo>
                <a:cubicBezTo>
                  <a:pt x="4" y="106"/>
                  <a:pt x="6" y="108"/>
                  <a:pt x="9" y="109"/>
                </a:cubicBezTo>
                <a:cubicBezTo>
                  <a:pt x="4" y="108"/>
                  <a:pt x="0" y="104"/>
                  <a:pt x="0" y="99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8BDF8"/>
          </a:solidFill>
          <a:ln/>
        </p:spPr>
        <p:txBody>
          <a:bodyPr/>
          <a:p/>
        </p:txBody>
      </p:sp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6848475" y="1276350"/>
            <a:ext cx="46005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E5EDF7"/>
                </a:solidFill>
                <a:latin typeface="Microsoft YaHei"/>
                <a:ea typeface="Microsoft YaHei"/>
              </a:rPr>
              <a:t>已发布</a:t>
            </a:r>
            <a:endParaRPr/>
          </a:p>
        </p:txBody>
      </p:sp>
      <p:sp>
        <p:nvSpPr>
          <p:cNvPr id="225" name="" descr="{&quot;isTemplate&quot;:true,&quot;type&quot;:&quot;text&quot;}"/>
          <p:cNvSpPr txBox="1"/>
          <p:nvPr/>
        </p:nvSpPr>
        <p:spPr>
          <a:xfrm rot="0" flipH="0" flipV="0">
            <a:off x="6848475" y="1533525"/>
            <a:ext cx="460057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94A3B8"/>
                </a:solidFill>
                <a:latin typeface="Microsoft YaHei"/>
                <a:ea typeface="Microsoft YaHei"/>
              </a:rPr>
              <a:t>CANoe AI Package</a:t>
            </a: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、</a:t>
            </a:r>
            <a:r>
              <a:rPr lang="en-US" sz="1125">
                <a:solidFill>
                  <a:srgbClr val="94A3B8"/>
                </a:solidFill>
                <a:latin typeface="Microsoft YaHei"/>
                <a:ea typeface="Microsoft YaHei"/>
              </a:rPr>
              <a:t xml:space="preserve">4 </a:t>
            </a: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个内置代理、</a:t>
            </a:r>
            <a:r>
              <a:rPr lang="en-US" sz="1125">
                <a:solidFill>
                  <a:srgbClr val="94A3B8"/>
                </a:solidFill>
                <a:latin typeface="Microsoft YaHei"/>
                <a:ea typeface="Microsoft YaHei"/>
              </a:rPr>
              <a:t>Vector Knowledge Server</a:t>
            </a: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、</a:t>
            </a:r>
            <a:r>
              <a:rPr lang="en-US" sz="1125">
                <a:solidFill>
                  <a:srgbClr val="94A3B8"/>
                </a:solidFill>
                <a:latin typeface="Microsoft YaHei"/>
                <a:ea typeface="Microsoft YaHei"/>
              </a:rPr>
              <a:t xml:space="preserve">MCP </a:t>
            </a: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接口；需</a:t>
            </a:r>
            <a:r>
              <a:rPr lang="en-US" sz="1125">
                <a:solidFill>
                  <a:srgbClr val="94A3B8"/>
                </a:solidFill>
                <a:latin typeface="Microsoft YaHei"/>
                <a:ea typeface="Microsoft YaHei"/>
              </a:rPr>
              <a:t xml:space="preserve"> CANoe 20 SP2</a:t>
            </a: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226" name=""/>
          <p:cNvSpPr/>
          <p:nvPr/>
        </p:nvSpPr>
        <p:spPr>
          <a:xfrm rot="0" flipH="0" flipV="0">
            <a:off x="6715125" y="2333625"/>
            <a:ext cx="4905375" cy="1038225"/>
          </a:xfrm>
          <a:prstGeom prst="roundRect">
            <a:avLst>
              <a:gd name="adj" fmla="val 9174"/>
            </a:avLst>
          </a:prstGeom>
          <a:solidFill>
            <a:srgbClr val="16203A"/>
          </a:solidFill>
          <a:ln/>
        </p:spPr>
        <p:txBody>
          <a:bodyPr/>
          <a:p/>
        </p:txBody>
      </p:sp>
      <p:sp>
        <p:nvSpPr>
          <p:cNvPr id="227" name=""/>
          <p:cNvSpPr/>
          <p:nvPr/>
        </p:nvSpPr>
        <p:spPr>
          <a:xfrm rot="0" flipH="0" flipV="0">
            <a:off x="6715125" y="2333625"/>
            <a:ext cx="4905375" cy="1038225"/>
          </a:xfrm>
          <a:custGeom>
            <a:pathLst>
              <a:path w="515" h="109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103"/>
                </a:lnTo>
                <a:cubicBezTo>
                  <a:pt x="4" y="106"/>
                  <a:pt x="6" y="108"/>
                  <a:pt x="9" y="109"/>
                </a:cubicBezTo>
                <a:cubicBezTo>
                  <a:pt x="4" y="108"/>
                  <a:pt x="0" y="104"/>
                  <a:pt x="0" y="99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F97316"/>
          </a:solidFill>
          <a:ln/>
        </p:spPr>
        <p:txBody>
          <a:bodyPr/>
          <a:p/>
        </p:txBody>
      </p:sp>
      <p:sp>
        <p:nvSpPr>
          <p:cNvPr id="228" name="" descr="{&quot;isTemplate&quot;:true,&quot;type&quot;:&quot;text&quot;}"/>
          <p:cNvSpPr txBox="1"/>
          <p:nvPr/>
        </p:nvSpPr>
        <p:spPr>
          <a:xfrm rot="0" flipH="0" flipV="0">
            <a:off x="6848475" y="2466975"/>
            <a:ext cx="46005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E5EDF7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1425" b="1">
                <a:solidFill>
                  <a:srgbClr val="E5EDF7"/>
                </a:solidFill>
                <a:latin typeface="Microsoft YaHei"/>
                <a:ea typeface="Microsoft YaHei"/>
              </a:rPr>
              <a:t>年底前</a:t>
            </a:r>
            <a:endParaRPr/>
          </a:p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6848475" y="2724150"/>
            <a:ext cx="460057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更多内置代理、更多</a:t>
            </a:r>
            <a:r>
              <a:rPr lang="en-US" sz="1125">
                <a:solidFill>
                  <a:srgbClr val="94A3B8"/>
                </a:solidFill>
                <a:latin typeface="Microsoft YaHei"/>
                <a:ea typeface="Microsoft YaHei"/>
              </a:rPr>
              <a:t xml:space="preserve"> MCP </a:t>
            </a: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服务器；</a:t>
            </a:r>
            <a:r>
              <a:rPr lang="en-US" sz="1125">
                <a:solidFill>
                  <a:srgbClr val="94A3B8"/>
                </a:solidFill>
                <a:latin typeface="Microsoft YaHei"/>
                <a:ea typeface="Microsoft YaHei"/>
              </a:rPr>
              <a:t xml:space="preserve">Knowledge Server </a:t>
            </a: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扩展知识源与检索。</a:t>
            </a:r>
            <a:endParaRPr/>
          </a:p>
        </p:txBody>
      </p:sp>
      <p:sp>
        <p:nvSpPr>
          <p:cNvPr id="230" name=""/>
          <p:cNvSpPr/>
          <p:nvPr/>
        </p:nvSpPr>
        <p:spPr>
          <a:xfrm rot="0" flipH="0" flipV="0">
            <a:off x="6677025" y="3524250"/>
            <a:ext cx="4905375" cy="2762250"/>
          </a:xfrm>
          <a:prstGeom prst="roundRect">
            <a:avLst>
              <a:gd name="adj" fmla="val 4138"/>
            </a:avLst>
          </a:prstGeom>
          <a:solidFill>
            <a:srgbClr val="16203A"/>
          </a:solidFill>
          <a:ln/>
        </p:spPr>
        <p:txBody>
          <a:bodyPr/>
          <a:p/>
        </p:txBody>
      </p:sp>
      <p:pic>
        <p:nvPicPr>
          <p:cNvPr id="231" name=""/>
          <p:cNvPicPr>
            <a:picLocks noChangeAspect="1"/>
          </p:cNvPicPr>
          <p:nvPr/>
        </p:nvPicPr>
        <p:blipFill>
          <a:blip r:embed="rId2"/>
          <a:srcRect l="0" t="1363" r="0" b="1363"/>
          <a:stretch>
            <a:fillRect/>
          </a:stretch>
        </p:blipFill>
        <p:spPr>
          <a:xfrm rot="0" flipH="0" flipV="0">
            <a:off x="6734175" y="3581400"/>
            <a:ext cx="4791075" cy="2647950"/>
          </a:xfrm>
          <a:prstGeom prst="rect">
            <a:avLst/>
          </a:prstGeom>
          <a:ln/>
        </p:spPr>
      </p:pic>
      <p:sp>
        <p:nvSpPr>
          <p:cNvPr id="232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18573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 xml:space="preserve">Vector CANoe AI · </a:t>
            </a:r>
            <a:r>
              <a:rPr lang="zh-CN" sz="1050">
                <a:solidFill>
                  <a:srgbClr val="94A3B8"/>
                </a:solidFill>
                <a:latin typeface="Microsoft YaHei"/>
                <a:ea typeface="Microsoft YaHei"/>
              </a:rPr>
              <a:t>研讨会分享</a:t>
            </a:r>
            <a:endParaRPr/>
          </a:p>
        </p:txBody>
      </p:sp>
      <p:sp>
        <p:nvSpPr>
          <p:cNvPr id="233" name="" descr="{&quot;isTemplate&quot;:true,&quot;type&quot;:&quot;text&quot;}"/>
          <p:cNvSpPr txBox="1"/>
          <p:nvPr/>
        </p:nvSpPr>
        <p:spPr>
          <a:xfrm rot="0" flipH="0" flipV="0">
            <a:off x="11125200" y="640080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>20 / 23</a:t>
            </a:r>
            <a:endParaRPr/>
          </a:p>
        </p:txBody>
      </p:sp>
    </p:spTree>
  </p:cSld>
</p:sld>
</file>

<file path=ppt/slides/slide21.xml><?xml version="1.0" encoding="utf-8"?>
<p:sld xmlns:p="http://schemas.openxmlformats.org/presentationml/2006/main" xmlns:a="http://schemas.openxmlformats.org/drawingml/2006/main">
  <p:cSld>
    <p:spTree>
      <p:nvGrpSpPr>
        <p:cNvPr id="23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>
            <a:pPr/>
            <a:endParaRPr/>
          </a:p>
        </p:txBody>
      </p:sp>
      <p:sp>
        <p:nvSpPr>
          <p:cNvPr id="236" name=""/>
          <p:cNvSpPr/>
          <p:nvPr/>
        </p:nvSpPr>
        <p:spPr>
          <a:xfrm rot="0" flipH="0" flipV="0">
            <a:off x="609600" y="190500"/>
            <a:ext cx="11029950" cy="952500"/>
          </a:xfrm>
          <a:custGeom>
            <a:pathLst>
              <a:path w="1158" h="100">
                <a:moveTo>
                  <a:pt x="0" y="0"/>
                </a:moveTo>
                <a:lnTo>
                  <a:pt x="6" y="0"/>
                </a:lnTo>
                <a:lnTo>
                  <a:pt x="6" y="100"/>
                </a:lnTo>
                <a:lnTo>
                  <a:pt x="0" y="100"/>
                </a:lnTo>
                <a:close/>
              </a:path>
            </a:pathLst>
          </a:custGeom>
          <a:solidFill>
            <a:srgbClr val="38BDF8"/>
          </a:solidFill>
          <a:ln/>
        </p:spPr>
        <p:txBody>
          <a:bodyPr/>
          <a:p>
            <a:pPr/>
            <a:endParaRPr/>
          </a:p>
        </p:txBody>
      </p:sp>
      <p:sp>
        <p:nvSpPr>
          <p:cNvPr id="237" name="" descr="{&quot;isTemplate&quot;:true,&quot;type&quot;:&quot;text&quot;}"/>
          <p:cNvSpPr txBox="1"/>
          <p:nvPr/>
        </p:nvSpPr>
        <p:spPr>
          <a:xfrm rot="0" flipH="0" flipV="0">
            <a:off x="838200" y="476250"/>
            <a:ext cx="107442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E5EDF7"/>
                </a:solidFill>
                <a:latin typeface="Microsoft YaHei"/>
                <a:ea typeface="Microsoft YaHei"/>
              </a:rPr>
              <a:t>精选问答</a:t>
            </a:r>
            <a:r>
              <a:rPr lang="en-US" sz="2550" b="1">
                <a:solidFill>
                  <a:srgbClr val="E5EDF7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2550" b="1">
                <a:solidFill>
                  <a:srgbClr val="E5EDF7"/>
                </a:solidFill>
                <a:latin typeface="Microsoft YaHei"/>
                <a:ea typeface="Microsoft YaHei"/>
              </a:rPr>
              <a:t>你关心的问题</a:t>
            </a:r>
            <a:endParaRPr/>
          </a:p>
        </p:txBody>
      </p:sp>
      <p:sp>
        <p:nvSpPr>
          <p:cNvPr id="238" name="" descr="{&quot;isTemplate&quot;:true,&quot;type&quot;:&quot;text&quot;}"/>
          <p:cNvSpPr txBox="1"/>
          <p:nvPr/>
        </p:nvSpPr>
        <p:spPr>
          <a:xfrm rot="0" flipH="0" flipV="0">
            <a:off x="609600" y="2714625"/>
            <a:ext cx="3200400" cy="7334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500">
                <a:solidFill>
                  <a:srgbClr val="94A3B8"/>
                </a:solidFill>
                <a:latin typeface="Microsoft YaHei"/>
                <a:ea typeface="Microsoft YaHei"/>
              </a:rPr>
              <a:t>现场与聊天区高频问题，精选</a:t>
            </a:r>
            <a:r>
              <a:rPr lang="en-US" sz="1500">
                <a:solidFill>
                  <a:srgbClr val="94A3B8"/>
                </a:solidFill>
                <a:latin typeface="Microsoft YaHei"/>
                <a:ea typeface="Microsoft YaHei"/>
              </a:rPr>
              <a:t xml:space="preserve"> 6 </a:t>
            </a:r>
            <a:r>
              <a:rPr lang="zh-CN" sz="1500">
                <a:solidFill>
                  <a:srgbClr val="94A3B8"/>
                </a:solidFill>
                <a:latin typeface="Microsoft YaHei"/>
                <a:ea typeface="Microsoft YaHei"/>
              </a:rPr>
              <a:t>条；其中</a:t>
            </a:r>
            <a:r>
              <a:rPr lang="en-US" sz="1500">
                <a:solidFill>
                  <a:srgbClr val="94A3B8"/>
                </a:solidFill>
                <a:latin typeface="Microsoft YaHei"/>
                <a:ea typeface="Microsoft YaHei"/>
              </a:rPr>
              <a:t xml:space="preserve"> Q6 </a:t>
            </a:r>
            <a:r>
              <a:rPr lang="zh-CN" sz="1500">
                <a:solidFill>
                  <a:srgbClr val="94A3B8"/>
                </a:solidFill>
                <a:latin typeface="Microsoft YaHei"/>
                <a:ea typeface="Microsoft YaHei"/>
              </a:rPr>
              <a:t>原稿未作答，已标注。</a:t>
            </a:r>
            <a:endParaRPr/>
          </a:p>
        </p:txBody>
      </p:sp>
      <p:sp>
        <p:nvSpPr>
          <p:cNvPr id="239" name=""/>
          <p:cNvSpPr/>
          <p:nvPr/>
        </p:nvSpPr>
        <p:spPr>
          <a:xfrm rot="0" flipH="0" flipV="0">
            <a:off x="647700" y="3619500"/>
            <a:ext cx="3200400" cy="1104900"/>
          </a:xfrm>
          <a:prstGeom prst="roundRect">
            <a:avLst>
              <a:gd name="adj" fmla="val 8621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sp>
        <p:nvSpPr>
          <p:cNvPr id="240" name=""/>
          <p:cNvSpPr/>
          <p:nvPr/>
        </p:nvSpPr>
        <p:spPr>
          <a:xfrm rot="0" flipH="0" flipV="0">
            <a:off x="647700" y="3619500"/>
            <a:ext cx="3200400" cy="1104900"/>
          </a:xfrm>
          <a:custGeom>
            <a:pathLst>
              <a:path w="336" h="116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110"/>
                </a:lnTo>
                <a:cubicBezTo>
                  <a:pt x="4" y="113"/>
                  <a:pt x="6" y="115"/>
                  <a:pt x="9" y="116"/>
                </a:cubicBezTo>
                <a:cubicBezTo>
                  <a:pt x="4" y="115"/>
                  <a:pt x="0" y="111"/>
                  <a:pt x="0" y="106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F97316"/>
          </a:solidFill>
          <a:ln/>
        </p:spPr>
        <p:txBody>
          <a:bodyPr/>
          <a:p>
            <a:pPr/>
            <a:endParaRPr/>
          </a:p>
        </p:txBody>
      </p:sp>
      <p:sp>
        <p:nvSpPr>
          <p:cNvPr id="241" name="" descr="{&quot;isTemplate&quot;:true,&quot;type&quot;:&quot;text&quot;}"/>
          <p:cNvSpPr txBox="1"/>
          <p:nvPr/>
        </p:nvSpPr>
        <p:spPr>
          <a:xfrm rot="0" flipH="0" flipV="0">
            <a:off x="800100" y="3771900"/>
            <a:ext cx="28575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E5EDF7"/>
                </a:solidFill>
                <a:latin typeface="Microsoft YaHei"/>
                <a:ea typeface="Microsoft YaHei"/>
              </a:rPr>
              <a:t>提示</a:t>
            </a:r>
            <a:endParaRPr/>
          </a:p>
        </p:txBody>
      </p:sp>
      <p:sp>
        <p:nvSpPr>
          <p:cNvPr id="242" name="" descr="{&quot;isTemplate&quot;:true,&quot;type&quot;:&quot;text&quot;}"/>
          <p:cNvSpPr txBox="1"/>
          <p:nvPr/>
        </p:nvSpPr>
        <p:spPr>
          <a:xfrm rot="0" flipH="0" flipV="0">
            <a:off x="800100" y="4019550"/>
            <a:ext cx="28575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所有回答均基于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Vector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官方分享口径，未自行发挥。</a:t>
            </a:r>
            <a:endParaRPr/>
          </a:p>
        </p:txBody>
      </p:sp>
      <p:sp>
        <p:nvSpPr>
          <p:cNvPr id="243" name=""/>
          <p:cNvSpPr/>
          <p:nvPr/>
        </p:nvSpPr>
        <p:spPr>
          <a:xfrm rot="0" flipH="0" flipV="0">
            <a:off x="4114800" y="1352550"/>
            <a:ext cx="7467600" cy="914400"/>
          </a:xfrm>
          <a:prstGeom prst="roundRect">
            <a:avLst>
              <a:gd name="adj" fmla="val 10417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sp>
        <p:nvSpPr>
          <p:cNvPr id="244" name="" descr="{&quot;isTemplate&quot;:true,&quot;type&quot;:&quot;text&quot;}"/>
          <p:cNvSpPr txBox="1"/>
          <p:nvPr/>
        </p:nvSpPr>
        <p:spPr>
          <a:xfrm rot="0" flipH="0" flipV="0">
            <a:off x="4248150" y="1447800"/>
            <a:ext cx="7200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38BDF8"/>
                </a:solidFill>
                <a:latin typeface="Microsoft YaHei"/>
                <a:ea typeface="Microsoft YaHei"/>
              </a:rPr>
              <a:t xml:space="preserve">Q1 · </a:t>
            </a:r>
            <a:r>
              <a:rPr lang="zh-CN" sz="1275" b="1">
                <a:solidFill>
                  <a:srgbClr val="38BDF8"/>
                </a:solidFill>
                <a:latin typeface="Microsoft YaHei"/>
                <a:ea typeface="Microsoft YaHei"/>
              </a:rPr>
              <a:t>是否需要联网</a:t>
            </a:r>
            <a:r>
              <a:rPr lang="en-US" sz="1275" b="1">
                <a:solidFill>
                  <a:srgbClr val="38BDF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75" b="1">
                <a:solidFill>
                  <a:srgbClr val="38BDF8"/>
                </a:solidFill>
                <a:latin typeface="Microsoft YaHei"/>
                <a:ea typeface="Microsoft YaHei"/>
              </a:rPr>
              <a:t>云端？</a:t>
            </a:r>
            <a:endParaRPr/>
          </a:p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4248150" y="1666875"/>
            <a:ext cx="720090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默认可本地</a:t>
            </a:r>
            <a:r>
              <a:rPr lang="en-US" sz="1125">
                <a:solidFill>
                  <a:srgbClr val="94A3B8"/>
                </a:solidFill>
                <a:latin typeface="Microsoft YaHei"/>
                <a:ea typeface="Microsoft YaHei"/>
              </a:rPr>
              <a:t xml:space="preserve"> harness</a:t>
            </a: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（如</a:t>
            </a:r>
            <a:r>
              <a:rPr lang="en-US" sz="1125">
                <a:solidFill>
                  <a:srgbClr val="94A3B8"/>
                </a:solidFill>
                <a:latin typeface="Microsoft YaHei"/>
                <a:ea typeface="Microsoft YaHei"/>
              </a:rPr>
              <a:t xml:space="preserve"> Claude Code</a:t>
            </a: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）配合本地模型或自建</a:t>
            </a:r>
            <a:r>
              <a:rPr lang="en-US" sz="1125">
                <a:solidFill>
                  <a:srgbClr val="94A3B8"/>
                </a:solidFill>
                <a:latin typeface="Microsoft YaHei"/>
                <a:ea typeface="Microsoft YaHei"/>
              </a:rPr>
              <a:t xml:space="preserve"> LLM </a:t>
            </a: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端点；</a:t>
            </a:r>
            <a:r>
              <a:rPr lang="en-US" sz="1125">
                <a:solidFill>
                  <a:srgbClr val="94A3B8"/>
                </a:solidFill>
                <a:latin typeface="Microsoft YaHei"/>
                <a:ea typeface="Microsoft YaHei"/>
              </a:rPr>
              <a:t xml:space="preserve">Knowledge Server </a:t>
            </a: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也可本地部署，数据可控。</a:t>
            </a:r>
            <a:endParaRPr/>
          </a:p>
        </p:txBody>
      </p:sp>
      <p:sp>
        <p:nvSpPr>
          <p:cNvPr id="246" name=""/>
          <p:cNvSpPr/>
          <p:nvPr/>
        </p:nvSpPr>
        <p:spPr>
          <a:xfrm rot="0" flipH="0" flipV="0">
            <a:off x="4114800" y="2362200"/>
            <a:ext cx="7467600" cy="666750"/>
          </a:xfrm>
          <a:prstGeom prst="roundRect">
            <a:avLst>
              <a:gd name="adj" fmla="val 14286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4248150" y="2457450"/>
            <a:ext cx="7200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38BDF8"/>
                </a:solidFill>
                <a:latin typeface="Microsoft YaHei"/>
                <a:ea typeface="Microsoft YaHei"/>
              </a:rPr>
              <a:t xml:space="preserve">Q2 · </a:t>
            </a:r>
            <a:r>
              <a:rPr lang="zh-CN" sz="1275" b="1">
                <a:solidFill>
                  <a:srgbClr val="38BDF8"/>
                </a:solidFill>
                <a:latin typeface="Microsoft YaHei"/>
                <a:ea typeface="Microsoft YaHei"/>
              </a:rPr>
              <a:t>必须绑定某个</a:t>
            </a:r>
            <a:r>
              <a:rPr lang="en-US" sz="1275" b="1">
                <a:solidFill>
                  <a:srgbClr val="38BDF8"/>
                </a:solidFill>
                <a:latin typeface="Microsoft YaHei"/>
                <a:ea typeface="Microsoft YaHei"/>
              </a:rPr>
              <a:t xml:space="preserve"> LLM </a:t>
            </a:r>
            <a:r>
              <a:rPr lang="zh-CN" sz="1275" b="1">
                <a:solidFill>
                  <a:srgbClr val="38BDF8"/>
                </a:solidFill>
                <a:latin typeface="Microsoft YaHei"/>
                <a:ea typeface="Microsoft YaHei"/>
              </a:rPr>
              <a:t>吗？</a:t>
            </a:r>
            <a:endParaRPr/>
          </a:p>
        </p:txBody>
      </p:sp>
      <p:sp>
        <p:nvSpPr>
          <p:cNvPr id="248" name="" descr="{&quot;isTemplate&quot;:true,&quot;type&quot;:&quot;text&quot;}"/>
          <p:cNvSpPr txBox="1"/>
          <p:nvPr/>
        </p:nvSpPr>
        <p:spPr>
          <a:xfrm rot="0" flipH="0" flipV="0">
            <a:off x="4248150" y="2676525"/>
            <a:ext cx="7200900" cy="2571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支持</a:t>
            </a:r>
            <a:r>
              <a:rPr lang="en-US" sz="1125">
                <a:solidFill>
                  <a:srgbClr val="94A3B8"/>
                </a:solidFill>
                <a:latin typeface="Microsoft YaHei"/>
                <a:ea typeface="Microsoft YaHei"/>
              </a:rPr>
              <a:t xml:space="preserve"> BYOM</a:t>
            </a: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（自带模型），可接入自有或第三方</a:t>
            </a:r>
            <a:r>
              <a:rPr lang="en-US" sz="1125">
                <a:solidFill>
                  <a:srgbClr val="94A3B8"/>
                </a:solidFill>
                <a:latin typeface="Microsoft YaHei"/>
                <a:ea typeface="Microsoft YaHei"/>
              </a:rPr>
              <a:t xml:space="preserve"> LLM </a:t>
            </a: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端点，不锁定厂商。</a:t>
            </a:r>
            <a:endParaRPr/>
          </a:p>
        </p:txBody>
      </p:sp>
      <p:sp>
        <p:nvSpPr>
          <p:cNvPr id="249" name=""/>
          <p:cNvSpPr/>
          <p:nvPr/>
        </p:nvSpPr>
        <p:spPr>
          <a:xfrm rot="0" flipH="0" flipV="0">
            <a:off x="4114800" y="3124200"/>
            <a:ext cx="7467600" cy="666750"/>
          </a:xfrm>
          <a:prstGeom prst="roundRect">
            <a:avLst>
              <a:gd name="adj" fmla="val 14286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4248150" y="3219450"/>
            <a:ext cx="7200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38BDF8"/>
                </a:solidFill>
                <a:latin typeface="Microsoft YaHei"/>
                <a:ea typeface="Microsoft YaHei"/>
              </a:rPr>
              <a:t xml:space="preserve">Q3 · MCP </a:t>
            </a:r>
            <a:r>
              <a:rPr lang="zh-CN" sz="1275" b="1">
                <a:solidFill>
                  <a:srgbClr val="38BDF8"/>
                </a:solidFill>
                <a:latin typeface="Microsoft YaHei"/>
                <a:ea typeface="Microsoft YaHei"/>
              </a:rPr>
              <a:t>与以往脚本自动化有何区别？</a:t>
            </a:r>
            <a:endParaRPr/>
          </a:p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4248150" y="3438525"/>
            <a:ext cx="7200900" cy="2571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125">
                <a:solidFill>
                  <a:srgbClr val="94A3B8"/>
                </a:solidFill>
                <a:latin typeface="Microsoft YaHei"/>
                <a:ea typeface="Microsoft YaHei"/>
              </a:rPr>
              <a:t>MCP</a:t>
            </a: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（模型上下文协议）让</a:t>
            </a:r>
            <a:r>
              <a:rPr lang="en-US" sz="1125">
                <a:solidFill>
                  <a:srgbClr val="94A3B8"/>
                </a:solidFill>
                <a:latin typeface="Microsoft YaHei"/>
                <a:ea typeface="Microsoft YaHei"/>
              </a:rPr>
              <a:t xml:space="preserve"> LLM </a:t>
            </a: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通过标准接口读写</a:t>
            </a:r>
            <a:r>
              <a:rPr lang="en-US" sz="1125">
                <a:solidFill>
                  <a:srgbClr val="94A3B8"/>
                </a:solidFill>
                <a:latin typeface="Microsoft YaHei"/>
                <a:ea typeface="Microsoft YaHei"/>
              </a:rPr>
              <a:t xml:space="preserve"> CANoe </a:t>
            </a: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数据；比写死脚本更灵活，由模型按需调用工具。</a:t>
            </a:r>
            <a:endParaRPr/>
          </a:p>
        </p:txBody>
      </p:sp>
      <p:sp>
        <p:nvSpPr>
          <p:cNvPr id="252" name=""/>
          <p:cNvSpPr/>
          <p:nvPr/>
        </p:nvSpPr>
        <p:spPr>
          <a:xfrm rot="0" flipH="0" flipV="0">
            <a:off x="4114800" y="3886200"/>
            <a:ext cx="7467600" cy="666750"/>
          </a:xfrm>
          <a:prstGeom prst="roundRect">
            <a:avLst>
              <a:gd name="adj" fmla="val 14286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sp>
        <p:nvSpPr>
          <p:cNvPr id="253" name="" descr="{&quot;isTemplate&quot;:true,&quot;type&quot;:&quot;text&quot;}"/>
          <p:cNvSpPr txBox="1"/>
          <p:nvPr/>
        </p:nvSpPr>
        <p:spPr>
          <a:xfrm rot="0" flipH="0" flipV="0">
            <a:off x="4248150" y="3981450"/>
            <a:ext cx="7200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38BDF8"/>
                </a:solidFill>
                <a:latin typeface="Microsoft YaHei"/>
                <a:ea typeface="Microsoft YaHei"/>
              </a:rPr>
              <a:t xml:space="preserve">Q4 · 4 </a:t>
            </a:r>
            <a:r>
              <a:rPr lang="zh-CN" sz="1275" b="1">
                <a:solidFill>
                  <a:srgbClr val="38BDF8"/>
                </a:solidFill>
                <a:latin typeface="Microsoft YaHei"/>
                <a:ea typeface="Microsoft YaHei"/>
              </a:rPr>
              <a:t>个内置代理分别做什么？</a:t>
            </a:r>
            <a:endParaRPr/>
          </a:p>
        </p:txBody>
      </p:sp>
      <p:sp>
        <p:nvSpPr>
          <p:cNvPr id="254" name="" descr="{&quot;isTemplate&quot;:true,&quot;type&quot;:&quot;text&quot;}"/>
          <p:cNvSpPr txBox="1"/>
          <p:nvPr/>
        </p:nvSpPr>
        <p:spPr>
          <a:xfrm rot="0" flipH="0" flipV="0">
            <a:off x="4248150" y="4200525"/>
            <a:ext cx="7200900" cy="2571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125">
                <a:solidFill>
                  <a:srgbClr val="94A3B8"/>
                </a:solidFill>
                <a:latin typeface="Microsoft YaHei"/>
                <a:ea typeface="Microsoft YaHei"/>
              </a:rPr>
              <a:t xml:space="preserve">Discovery </a:t>
            </a: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探查配置、</a:t>
            </a:r>
            <a:r>
              <a:rPr lang="en-US" sz="1125">
                <a:solidFill>
                  <a:srgbClr val="94A3B8"/>
                </a:solidFill>
                <a:latin typeface="Microsoft YaHei"/>
                <a:ea typeface="Microsoft YaHei"/>
              </a:rPr>
              <a:t xml:space="preserve">Configuration </a:t>
            </a: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生成</a:t>
            </a:r>
            <a:r>
              <a:rPr lang="en-US" sz="1125">
                <a:solidFill>
                  <a:srgbClr val="94A3B8"/>
                </a:solidFill>
                <a:latin typeface="Microsoft YaHei"/>
                <a:ea typeface="Microsoft YaHei"/>
              </a:rPr>
              <a:t>/</a:t>
            </a: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修改配置、</a:t>
            </a:r>
            <a:r>
              <a:rPr lang="en-US" sz="1125">
                <a:solidFill>
                  <a:srgbClr val="94A3B8"/>
                </a:solidFill>
                <a:latin typeface="Microsoft YaHei"/>
                <a:ea typeface="Microsoft YaHei"/>
              </a:rPr>
              <a:t xml:space="preserve">Coding </a:t>
            </a: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写</a:t>
            </a:r>
            <a:r>
              <a:rPr lang="en-US" sz="1125">
                <a:solidFill>
                  <a:srgbClr val="94A3B8"/>
                </a:solidFill>
                <a:latin typeface="Microsoft YaHei"/>
                <a:ea typeface="Microsoft YaHei"/>
              </a:rPr>
              <a:t xml:space="preserve"> CAPL/C#</a:t>
            </a: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、</a:t>
            </a:r>
            <a:r>
              <a:rPr lang="en-US" sz="1125">
                <a:solidFill>
                  <a:srgbClr val="94A3B8"/>
                </a:solidFill>
                <a:latin typeface="Microsoft YaHei"/>
                <a:ea typeface="Microsoft YaHei"/>
              </a:rPr>
              <a:t xml:space="preserve">Analysis </a:t>
            </a: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分析测量与日志。</a:t>
            </a:r>
            <a:endParaRPr/>
          </a:p>
        </p:txBody>
      </p:sp>
      <p:sp>
        <p:nvSpPr>
          <p:cNvPr id="255" name=""/>
          <p:cNvSpPr/>
          <p:nvPr/>
        </p:nvSpPr>
        <p:spPr>
          <a:xfrm rot="0" flipH="0" flipV="0">
            <a:off x="4114800" y="4648200"/>
            <a:ext cx="7467600" cy="666750"/>
          </a:xfrm>
          <a:prstGeom prst="roundRect">
            <a:avLst>
              <a:gd name="adj" fmla="val 14286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4248150" y="4743450"/>
            <a:ext cx="7200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38BDF8"/>
                </a:solidFill>
                <a:latin typeface="Microsoft YaHei"/>
                <a:ea typeface="Microsoft YaHei"/>
              </a:rPr>
              <a:t xml:space="preserve">Q5 · </a:t>
            </a:r>
            <a:r>
              <a:rPr lang="zh-CN" sz="1275" b="1">
                <a:solidFill>
                  <a:srgbClr val="38BDF8"/>
                </a:solidFill>
                <a:latin typeface="Microsoft YaHei"/>
                <a:ea typeface="Microsoft YaHei"/>
              </a:rPr>
              <a:t>最低版本要求？</a:t>
            </a:r>
            <a:endParaRPr/>
          </a:p>
        </p:txBody>
      </p:sp>
      <p:sp>
        <p:nvSpPr>
          <p:cNvPr id="257" name="" descr="{&quot;isTemplate&quot;:true,&quot;type&quot;:&quot;text&quot;}"/>
          <p:cNvSpPr txBox="1"/>
          <p:nvPr/>
        </p:nvSpPr>
        <p:spPr>
          <a:xfrm rot="0" flipH="0" flipV="0">
            <a:off x="4248150" y="4962525"/>
            <a:ext cx="7200900" cy="2571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需要</a:t>
            </a:r>
            <a:r>
              <a:rPr lang="en-US" sz="1125">
                <a:solidFill>
                  <a:srgbClr val="94A3B8"/>
                </a:solidFill>
                <a:latin typeface="Microsoft YaHei"/>
                <a:ea typeface="Microsoft YaHei"/>
              </a:rPr>
              <a:t xml:space="preserve"> CANoe 20 SP2</a:t>
            </a: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258" name=""/>
          <p:cNvSpPr/>
          <p:nvPr/>
        </p:nvSpPr>
        <p:spPr>
          <a:xfrm rot="0" flipH="0" flipV="0">
            <a:off x="4152900" y="5410200"/>
            <a:ext cx="7467600" cy="666750"/>
          </a:xfrm>
          <a:prstGeom prst="roundRect">
            <a:avLst>
              <a:gd name="adj" fmla="val 14286"/>
            </a:avLst>
          </a:prstGeom>
          <a:solidFill>
            <a:srgbClr val="1C2740"/>
          </a:solidFill>
          <a:ln/>
        </p:spPr>
        <p:txBody>
          <a:bodyPr/>
          <a:p>
            <a:pPr/>
            <a:endParaRPr/>
          </a:p>
        </p:txBody>
      </p:sp>
      <p:sp>
        <p:nvSpPr>
          <p:cNvPr id="259" name=""/>
          <p:cNvSpPr/>
          <p:nvPr/>
        </p:nvSpPr>
        <p:spPr>
          <a:xfrm rot="0" flipH="0" flipV="0">
            <a:off x="4152900" y="5410200"/>
            <a:ext cx="7467600" cy="666750"/>
          </a:xfrm>
          <a:custGeom>
            <a:pathLst>
              <a:path w="784" h="70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64"/>
                </a:lnTo>
                <a:cubicBezTo>
                  <a:pt x="4" y="67"/>
                  <a:pt x="6" y="69"/>
                  <a:pt x="9" y="70"/>
                </a:cubicBezTo>
                <a:cubicBezTo>
                  <a:pt x="4" y="69"/>
                  <a:pt x="0" y="65"/>
                  <a:pt x="0" y="60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EF4444"/>
          </a:solidFill>
          <a:ln/>
        </p:spPr>
        <p:txBody>
          <a:bodyPr/>
          <a:p>
            <a:pPr/>
            <a:endParaRPr/>
          </a:p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4286250" y="5505450"/>
            <a:ext cx="71628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EF4444"/>
                </a:solidFill>
                <a:latin typeface="Microsoft YaHei"/>
                <a:ea typeface="Microsoft YaHei"/>
              </a:rPr>
              <a:t xml:space="preserve">Q6 · </a:t>
            </a:r>
            <a:r>
              <a:rPr lang="zh-CN" sz="1275" b="1">
                <a:solidFill>
                  <a:srgbClr val="EF4444"/>
                </a:solidFill>
                <a:latin typeface="Microsoft YaHei"/>
                <a:ea typeface="Microsoft YaHei"/>
              </a:rPr>
              <a:t>调用次数</a:t>
            </a:r>
            <a:r>
              <a:rPr lang="en-US" sz="1275" b="1">
                <a:solidFill>
                  <a:srgbClr val="EF4444"/>
                </a:solidFill>
                <a:latin typeface="Microsoft YaHei"/>
                <a:ea typeface="Microsoft YaHei"/>
              </a:rPr>
              <a:t xml:space="preserve"> / token </a:t>
            </a:r>
            <a:r>
              <a:rPr lang="zh-CN" sz="1275" b="1">
                <a:solidFill>
                  <a:srgbClr val="EF4444"/>
                </a:solidFill>
                <a:latin typeface="Microsoft YaHei"/>
                <a:ea typeface="Microsoft YaHei"/>
              </a:rPr>
              <a:t>限制或计费？（未作答）</a:t>
            </a:r>
            <a:endParaRPr/>
          </a:p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4286250" y="5724525"/>
            <a:ext cx="7162800" cy="2571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原稿现场未明确回答，仅记录问题。以</a:t>
            </a:r>
            <a:r>
              <a:rPr lang="en-US" sz="1125">
                <a:solidFill>
                  <a:srgbClr val="94A3B8"/>
                </a:solidFill>
                <a:latin typeface="Microsoft YaHei"/>
                <a:ea typeface="Microsoft YaHei"/>
              </a:rPr>
              <a:t xml:space="preserve"> Vector </a:t>
            </a: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官方文档为准。</a:t>
            </a:r>
            <a:endParaRPr/>
          </a:p>
        </p:txBody>
      </p:sp>
      <p:sp>
        <p:nvSpPr>
          <p:cNvPr id="262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18573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 xml:space="preserve">Vector CANoe AI · </a:t>
            </a:r>
            <a:r>
              <a:rPr lang="zh-CN" sz="1050">
                <a:solidFill>
                  <a:srgbClr val="94A3B8"/>
                </a:solidFill>
                <a:latin typeface="Microsoft YaHei"/>
                <a:ea typeface="Microsoft YaHei"/>
              </a:rPr>
              <a:t>研讨会分享</a:t>
            </a:r>
            <a:endParaRPr/>
          </a:p>
        </p:txBody>
      </p:sp>
      <p:sp>
        <p:nvSpPr>
          <p:cNvPr id="263" name="" descr="{&quot;isTemplate&quot;:true,&quot;type&quot;:&quot;text&quot;}"/>
          <p:cNvSpPr txBox="1"/>
          <p:nvPr/>
        </p:nvSpPr>
        <p:spPr>
          <a:xfrm rot="0" flipH="0" flipV="0">
            <a:off x="11125200" y="640080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>21 / 23</a:t>
            </a:r>
            <a:endParaRPr/>
          </a:p>
        </p:txBody>
      </p:sp>
    </p:spTree>
  </p:cSld>
</p:sld>
</file>

<file path=ppt/slides/slide22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>
    <p:spTree>
      <p:nvGrpSpPr>
        <p:cNvPr id="26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>
            <a:pPr/>
            <a:endParaRPr/>
          </a:p>
        </p:txBody>
      </p:sp>
      <p:sp>
        <p:nvSpPr>
          <p:cNvPr id="266" name=""/>
          <p:cNvSpPr/>
          <p:nvPr/>
        </p:nvSpPr>
        <p:spPr>
          <a:xfrm rot="0" flipH="0" flipV="0">
            <a:off x="609600" y="190500"/>
            <a:ext cx="11029950" cy="952500"/>
          </a:xfrm>
          <a:custGeom>
            <a:pathLst>
              <a:path w="1158" h="100">
                <a:moveTo>
                  <a:pt x="0" y="0"/>
                </a:moveTo>
                <a:lnTo>
                  <a:pt x="6" y="0"/>
                </a:lnTo>
                <a:lnTo>
                  <a:pt x="6" y="100"/>
                </a:lnTo>
                <a:lnTo>
                  <a:pt x="0" y="100"/>
                </a:lnTo>
                <a:close/>
              </a:path>
            </a:pathLst>
          </a:custGeom>
          <a:solidFill>
            <a:srgbClr val="38BDF8"/>
          </a:solidFill>
          <a:ln/>
        </p:spPr>
        <p:txBody>
          <a:bodyPr/>
          <a:p>
            <a:pPr/>
            <a:endParaRPr/>
          </a:p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838200" y="476250"/>
            <a:ext cx="107442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E5EDF7"/>
                </a:solidFill>
                <a:latin typeface="Microsoft YaHei"/>
                <a:ea typeface="Microsoft YaHei"/>
              </a:rPr>
              <a:t>术语表</a:t>
            </a:r>
            <a:r>
              <a:rPr lang="en-US" sz="2550" b="1">
                <a:solidFill>
                  <a:srgbClr val="E5EDF7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2550" b="1">
                <a:solidFill>
                  <a:srgbClr val="E5EDF7"/>
                </a:solidFill>
                <a:latin typeface="Microsoft YaHei"/>
                <a:ea typeface="Microsoft YaHei"/>
              </a:rPr>
              <a:t>不再被机翻误导</a:t>
            </a:r>
            <a:endParaRPr/>
          </a:p>
        </p:txBody>
      </p:sp>
      <p:sp>
        <p:nvSpPr>
          <p:cNvPr id="268" name="" descr="{&quot;isTemplate&quot;:true,&quot;type&quot;:&quot;text&quot;}"/>
          <p:cNvSpPr txBox="1"/>
          <p:nvPr/>
        </p:nvSpPr>
        <p:spPr>
          <a:xfrm rot="0" flipH="0" flipV="0">
            <a:off x="609600" y="2524125"/>
            <a:ext cx="2771775" cy="1104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500">
                <a:solidFill>
                  <a:srgbClr val="94A3B8"/>
                </a:solidFill>
                <a:latin typeface="Microsoft YaHei"/>
                <a:ea typeface="Microsoft YaHei"/>
              </a:rPr>
              <a:t>整理自研讨会口径，修正了转录中的机翻错译，便于团队统一用语。</a:t>
            </a:r>
            <a:endParaRPr/>
          </a:p>
        </p:txBody>
      </p:sp>
      <p:sp>
        <p:nvSpPr>
          <p:cNvPr id="269" name=""/>
          <p:cNvSpPr/>
          <p:nvPr/>
        </p:nvSpPr>
        <p:spPr>
          <a:xfrm rot="0" flipH="0" flipV="0">
            <a:off x="647700" y="3800475"/>
            <a:ext cx="2771775" cy="1104900"/>
          </a:xfrm>
          <a:prstGeom prst="roundRect">
            <a:avLst>
              <a:gd name="adj" fmla="val 8621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sp>
        <p:nvSpPr>
          <p:cNvPr id="270" name=""/>
          <p:cNvSpPr/>
          <p:nvPr/>
        </p:nvSpPr>
        <p:spPr>
          <a:xfrm rot="0" flipH="0" flipV="0">
            <a:off x="647700" y="3800475"/>
            <a:ext cx="2771775" cy="1104900"/>
          </a:xfrm>
          <a:custGeom>
            <a:pathLst>
              <a:path w="291" h="116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110"/>
                </a:lnTo>
                <a:cubicBezTo>
                  <a:pt x="4" y="113"/>
                  <a:pt x="6" y="115"/>
                  <a:pt x="9" y="116"/>
                </a:cubicBezTo>
                <a:cubicBezTo>
                  <a:pt x="4" y="115"/>
                  <a:pt x="0" y="111"/>
                  <a:pt x="0" y="106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F97316"/>
          </a:solidFill>
          <a:ln/>
        </p:spPr>
        <p:txBody>
          <a:bodyPr/>
          <a:p>
            <a:pPr/>
            <a:endParaRPr/>
          </a:p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800100" y="3952875"/>
            <a:ext cx="24288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E5EDF7"/>
                </a:solidFill>
                <a:latin typeface="Microsoft YaHei"/>
                <a:ea typeface="Microsoft YaHei"/>
              </a:rPr>
              <a:t>读法提示</a:t>
            </a:r>
            <a:endParaRPr/>
          </a:p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800100" y="4200525"/>
            <a:ext cx="242887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CANoe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读作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>"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卡诺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>"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，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Vector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读作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>"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维克托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>"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，不要按字面硬译。</a:t>
            </a:r>
            <a:endParaRPr/>
          </a:p>
        </p:txBody>
      </p:sp>
      <p:sp>
        <p:nvSpPr>
          <p:cNvPr id="273" name=""/>
          <p:cNvSpPr/>
          <p:nvPr/>
        </p:nvSpPr>
        <p:spPr>
          <a:xfrm rot="0" flipH="0" flipV="0">
            <a:off x="3686175" y="1143000"/>
            <a:ext cx="7896225" cy="5143500"/>
          </a:xfrm>
          <a:prstGeom prst="roundRect">
            <a:avLst>
              <a:gd name="adj" fmla="val 2222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graphicFrame>
        <p:nvGraphicFramePr>
          <p:cNvPr id="274" name=""/>
          <p:cNvGraphicFramePr/>
          <p:nvPr/>
        </p:nvGraphicFramePr>
        <p:xfrm rot="0" flipH="0" flipV="0">
          <a:off x="3838575" y="1295400"/>
          <a:ext cx="7591425" cy="4838700"/>
        </p:xfrm>
        <a:graphic>
          <a:graphicData uri="http://schemas.openxmlformats.org/drawingml/2006/table">
            <a:tbl>
              <a:tblGrid>
                <a:gridCol w="1617694">
                  <a:extLst>
                    <a:ext uri="{9D8B030D-6E8A-4147-A177-3AD203B41FA5}">
                      <a16:colId val="1"/>
                    </a:ext>
                  </a:extLst>
                </a:gridCol>
                <a:gridCol w="2192976">
                  <a:extLst>
                    <a:ext uri="{9D8B030D-6E8A-4147-A177-3AD203B41FA5}">
                      <a16:colId val="2"/>
                    </a:ext>
                  </a:extLst>
                </a:gridCol>
                <a:gridCol w="3780755">
                  <a:extLst>
                    <a:ext uri="{9D8B030D-6E8A-4147-A177-3AD203B41FA5}">
                      <a16:colId val="3"/>
                    </a:ext>
                  </a:extLst>
                </a:gridCol>
              </a:tblGrid>
              <a:tr h="439882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0B1220"/>
                          </a:solidFill>
                          <a:latin typeface="Microsoft YaHei"/>
                          <a:ea typeface="Microsoft YaHei"/>
                        </a:rPr>
                        <a:t>术语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8BDF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0B1220"/>
                          </a:solidFill>
                          <a:latin typeface="Microsoft YaHei"/>
                          <a:ea typeface="Microsoft YaHei"/>
                        </a:rPr>
                        <a:t>英文 / 缩写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8BDF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0B1220"/>
                          </a:solidFill>
                          <a:latin typeface="Microsoft YaHei"/>
                          <a:ea typeface="Microsoft YaHei"/>
                        </a:rPr>
                        <a:t>含义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8BDF8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439882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5EDF7"/>
                          </a:solidFill>
                          <a:latin typeface="Microsoft YaHei"/>
                          <a:ea typeface="Microsoft YaHei"/>
                        </a:rPr>
                        <a:t>CANoe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5EDF7"/>
                          </a:solidFill>
                          <a:latin typeface="Microsoft YaHei"/>
                          <a:ea typeface="Microsoft YaHei"/>
                        </a:rPr>
                        <a:t>CANoe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5EDF7"/>
                          </a:solidFill>
                          <a:latin typeface="Microsoft YaHei"/>
                          <a:ea typeface="Microsoft YaHei"/>
                        </a:rPr>
                        <a:t>Vector 汽车总线开发与测试软件（非"独木舟"）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439882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5EDF7"/>
                          </a:solidFill>
                          <a:latin typeface="Microsoft YaHei"/>
                          <a:ea typeface="Microsoft YaHei"/>
                        </a:rPr>
                        <a:t>Vector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5EDF7"/>
                          </a:solidFill>
                          <a:latin typeface="Microsoft YaHei"/>
                          <a:ea typeface="Microsoft YaHei"/>
                        </a:rPr>
                        <a:t>Vector Informatik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5EDF7"/>
                          </a:solidFill>
                          <a:latin typeface="Microsoft YaHei"/>
                          <a:ea typeface="Microsoft YaHei"/>
                        </a:rPr>
                        <a:t>德国汽车软件供应商，CANoe 出品方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439882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5EDF7"/>
                          </a:solidFill>
                          <a:latin typeface="Microsoft YaHei"/>
                          <a:ea typeface="Microsoft YaHei"/>
                        </a:rPr>
                        <a:t>MCP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5EDF7"/>
                          </a:solidFill>
                          <a:latin typeface="Microsoft YaHei"/>
                          <a:ea typeface="Microsoft YaHei"/>
                        </a:rPr>
                        <a:t>Model Context Protocol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5EDF7"/>
                          </a:solidFill>
                          <a:latin typeface="Microsoft YaHei"/>
                          <a:ea typeface="Microsoft YaHei"/>
                        </a:rPr>
                        <a:t>模型上下文协议：LLM 经标准接口读写 CANoe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439882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5EDF7"/>
                          </a:solidFill>
                          <a:latin typeface="Microsoft YaHei"/>
                          <a:ea typeface="Microsoft YaHei"/>
                        </a:rPr>
                        <a:t>LLM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5EDF7"/>
                          </a:solidFill>
                          <a:latin typeface="Microsoft YaHei"/>
                          <a:ea typeface="Microsoft YaHei"/>
                        </a:rPr>
                        <a:t>Large Language Model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5EDF7"/>
                          </a:solidFill>
                          <a:latin typeface="Microsoft YaHei"/>
                          <a:ea typeface="Microsoft YaHei"/>
                        </a:rPr>
                        <a:t>大语言模型（非"法学硕士"）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439882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5EDF7"/>
                          </a:solidFill>
                          <a:latin typeface="Microsoft YaHei"/>
                          <a:ea typeface="Microsoft YaHei"/>
                        </a:rPr>
                        <a:t>Token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5EDF7"/>
                          </a:solidFill>
                          <a:latin typeface="Microsoft YaHei"/>
                          <a:ea typeface="Microsoft YaHei"/>
                        </a:rPr>
                        <a:t>Token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5EDF7"/>
                          </a:solidFill>
                          <a:latin typeface="Microsoft YaHei"/>
                          <a:ea typeface="Microsoft YaHei"/>
                        </a:rPr>
                        <a:t>模型最小处理单元（非"手续费"）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439882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5EDF7"/>
                          </a:solidFill>
                          <a:latin typeface="Microsoft YaHei"/>
                          <a:ea typeface="Microsoft YaHei"/>
                        </a:rPr>
                        <a:t>Harness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5EDF7"/>
                          </a:solidFill>
                          <a:latin typeface="Microsoft YaHei"/>
                          <a:ea typeface="Microsoft YaHei"/>
                        </a:rPr>
                        <a:t>AI Harness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5EDF7"/>
                          </a:solidFill>
                          <a:latin typeface="Microsoft YaHei"/>
                          <a:ea typeface="Microsoft YaHei"/>
                        </a:rPr>
                        <a:t>AI 运行时/宿主，承载 LLM 与工具调用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  <a:tr h="439882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5EDF7"/>
                          </a:solidFill>
                          <a:latin typeface="Microsoft YaHei"/>
                          <a:ea typeface="Microsoft YaHei"/>
                        </a:rPr>
                        <a:t>Orchestrator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5EDF7"/>
                          </a:solidFill>
                          <a:latin typeface="Microsoft YaHei"/>
                          <a:ea typeface="Microsoft YaHei"/>
                        </a:rPr>
                        <a:t>Orchestrator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5EDF7"/>
                          </a:solidFill>
                          <a:latin typeface="Microsoft YaHei"/>
                          <a:ea typeface="Microsoft YaHei"/>
                        </a:rPr>
                        <a:t>编排器：协调多个代理完成复杂工作流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8"/>
                  </a:ext>
                </a:extLst>
              </a:tr>
              <a:tr h="439882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5EDF7"/>
                          </a:solidFill>
                          <a:latin typeface="Microsoft YaHei"/>
                          <a:ea typeface="Microsoft YaHei"/>
                        </a:rPr>
                        <a:t>BYOM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5EDF7"/>
                          </a:solidFill>
                          <a:latin typeface="Microsoft YaHei"/>
                          <a:ea typeface="Microsoft YaHei"/>
                        </a:rPr>
                        <a:t>Bring Your Own Model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5EDF7"/>
                          </a:solidFill>
                          <a:latin typeface="Microsoft YaHei"/>
                          <a:ea typeface="Microsoft YaHei"/>
                        </a:rPr>
                        <a:t>自带模型：接入自有/第三方 LLM 端点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9"/>
                  </a:ext>
                </a:extLst>
              </a:tr>
              <a:tr h="439882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5EDF7"/>
                          </a:solidFill>
                          <a:latin typeface="Microsoft YaHei"/>
                          <a:ea typeface="Microsoft YaHei"/>
                        </a:rPr>
                        <a:t>Knowledge Server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5EDF7"/>
                          </a:solidFill>
                          <a:latin typeface="Microsoft YaHei"/>
                          <a:ea typeface="Microsoft YaHei"/>
                        </a:rPr>
                        <a:t>Vector Knowledge Server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5EDF7"/>
                          </a:solidFill>
                          <a:latin typeface="Microsoft YaHei"/>
                          <a:ea typeface="Microsoft YaHei"/>
                        </a:rPr>
                        <a:t>知识服务器：为 LLM 提供领域检索增强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10"/>
                  </a:ext>
                </a:extLst>
              </a:tr>
              <a:tr h="439882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5EDF7"/>
                          </a:solidFill>
                          <a:latin typeface="Microsoft YaHei"/>
                          <a:ea typeface="Microsoft YaHei"/>
                        </a:rPr>
                        <a:t>AI Package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5EDF7"/>
                          </a:solidFill>
                          <a:latin typeface="Microsoft YaHei"/>
                          <a:ea typeface="Microsoft YaHei"/>
                        </a:rPr>
                        <a:t>CANoe AI Package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5EDF7"/>
                          </a:solidFill>
                          <a:latin typeface="Microsoft YaHei"/>
                          <a:ea typeface="Microsoft YaHei"/>
                        </a:rPr>
                        <a:t>插件包：代理 + 技能 + MCP 服务器 + 文档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11"/>
                  </a:ext>
                </a:extLst>
              </a:tr>
            </a:tbl>
          </a:graphicData>
        </a:graphic>
      </p:graphicFrame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18573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 xml:space="preserve">Vector CANoe AI · </a:t>
            </a:r>
            <a:r>
              <a:rPr lang="zh-CN" sz="1050">
                <a:solidFill>
                  <a:srgbClr val="94A3B8"/>
                </a:solidFill>
                <a:latin typeface="Microsoft YaHei"/>
                <a:ea typeface="Microsoft YaHei"/>
              </a:rPr>
              <a:t>研讨会分享</a:t>
            </a:r>
            <a:endParaRPr/>
          </a:p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11125200" y="640080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>22 / 23</a:t>
            </a:r>
            <a:endParaRPr/>
          </a:p>
        </p:txBody>
      </p:sp>
    </p:spTree>
  </p:cSld>
</p:sld>
</file>

<file path=ppt/slides/slide23.xml><?xml version="1.0" encoding="utf-8"?>
<p:sld xmlns:p="http://schemas.openxmlformats.org/presentationml/2006/main" xmlns:a="http://schemas.openxmlformats.org/drawingml/2006/main">
  <p:cSld>
    <p:spTree>
      <p:nvGrpSpPr>
        <p:cNvPr id="27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B1220"/>
              </a:gs>
              <a:gs pos="100000">
                <a:srgbClr val="16203A"/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279" name=""/>
          <p:cNvSpPr/>
          <p:nvPr/>
        </p:nvSpPr>
        <p:spPr>
          <a:xfrm rot="0" flipH="0" flipV="0">
            <a:off x="8382000" y="-762000"/>
            <a:ext cx="4572000" cy="4572000"/>
          </a:xfrm>
          <a:prstGeom prst="rect">
            <a:avLst/>
          </a:prstGeom>
          <a:gradFill>
            <a:gsLst>
              <a:gs pos="0">
                <a:srgbClr val="F97316">
                  <a:alpha val="14000"/>
                </a:srgbClr>
              </a:gs>
              <a:gs pos="70000">
                <a:srgbClr val="FFFF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/>
          <a:p>
            <a:pPr/>
            <a:endParaRPr/>
          </a:p>
        </p:txBody>
      </p:sp>
      <p:sp>
        <p:nvSpPr>
          <p:cNvPr id="280" name=""/>
          <p:cNvSpPr/>
          <p:nvPr/>
        </p:nvSpPr>
        <p:spPr>
          <a:xfrm rot="0" flipH="0" flipV="0">
            <a:off x="-952500" y="3429000"/>
            <a:ext cx="4381500" cy="4381500"/>
          </a:xfrm>
          <a:prstGeom prst="rect">
            <a:avLst/>
          </a:prstGeom>
          <a:gradFill>
            <a:gsLst>
              <a:gs pos="0">
                <a:srgbClr val="38BDF8">
                  <a:alpha val="12000"/>
                </a:srgbClr>
              </a:gs>
              <a:gs pos="70000">
                <a:srgbClr val="FFFF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/>
          <a:p>
            <a:pPr/>
            <a:endParaRPr/>
          </a:p>
        </p:txBody>
      </p:sp>
      <p:sp>
        <p:nvSpPr>
          <p:cNvPr id="281" name=""/>
          <p:cNvSpPr/>
          <p:nvPr/>
        </p:nvSpPr>
        <p:spPr>
          <a:xfrm rot="0" flipH="0" flipV="0">
            <a:off x="5715000" y="2124075"/>
            <a:ext cx="762000" cy="57150"/>
          </a:xfrm>
          <a:prstGeom prst="roundRect">
            <a:avLst>
              <a:gd name="adj" fmla="val 50000"/>
            </a:avLst>
          </a:prstGeom>
          <a:solidFill>
            <a:srgbClr val="F97316"/>
          </a:solidFill>
          <a:ln/>
        </p:spPr>
        <p:txBody>
          <a:bodyPr/>
          <a:p>
            <a:pPr/>
            <a:endParaRPr/>
          </a:p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3619500" y="2447925"/>
            <a:ext cx="4953000" cy="781050"/>
          </a:xfrm>
          <a:prstGeom prst="rect"/>
        </p:spPr>
        <p:txBody>
          <a:bodyPr wrap="none" lIns="0" tIns="0" rIns="0" bIns="0"/>
          <a:p>
            <a:pPr algn="ctr">
              <a:lnSpc>
                <a:spcPct val="130000"/>
              </a:lnSpc>
            </a:pPr>
            <a:r>
              <a:rPr lang="zh-CN" sz="3900" b="1">
                <a:solidFill>
                  <a:srgbClr val="E5EDF7"/>
                </a:solidFill>
                <a:latin typeface="Microsoft YaHei"/>
                <a:ea typeface="Microsoft YaHei"/>
              </a:rPr>
              <a:t>把重复劳动交给代理，</a:t>
            </a:r>
            <a:endParaRPr/>
          </a:p>
        </p:txBody>
      </p:sp>
      <p:sp>
        <p:nvSpPr>
          <p:cNvPr id="283" name="" descr="{&quot;isTemplate&quot;:true,&quot;type&quot;:&quot;text&quot;}"/>
          <p:cNvSpPr txBox="1"/>
          <p:nvPr/>
        </p:nvSpPr>
        <p:spPr>
          <a:xfrm rot="0" flipH="0" flipV="0">
            <a:off x="3867150" y="3286125"/>
            <a:ext cx="4457700" cy="781050"/>
          </a:xfrm>
          <a:prstGeom prst="rect"/>
        </p:spPr>
        <p:txBody>
          <a:bodyPr wrap="none" lIns="0" tIns="0" rIns="0" bIns="0"/>
          <a:p>
            <a:pPr algn="ctr">
              <a:lnSpc>
                <a:spcPct val="130000"/>
              </a:lnSpc>
            </a:pPr>
            <a:r>
              <a:rPr lang="zh-CN" sz="3900" b="1">
                <a:solidFill>
                  <a:srgbClr val="38BDF8"/>
                </a:solidFill>
                <a:latin typeface="Microsoft YaHei"/>
                <a:ea typeface="Microsoft YaHei"/>
              </a:rPr>
              <a:t>把判断留给工程师。</a:t>
            </a:r>
            <a:endParaRPr/>
          </a:p>
        </p:txBody>
      </p:sp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2466975" y="4333875"/>
            <a:ext cx="7258050" cy="409575"/>
          </a:xfrm>
          <a:prstGeom prst="rect"/>
        </p:spPr>
        <p:txBody>
          <a:bodyPr wrap="none" lIns="0" tIns="0" rIns="0" bIns="0"/>
          <a:p>
            <a:pPr algn="ctr">
              <a:lnSpc>
                <a:spcPct val="160000"/>
              </a:lnSpc>
            </a:pPr>
            <a:r>
              <a:rPr lang="en-US" sz="1650">
                <a:solidFill>
                  <a:srgbClr val="94A3B8"/>
                </a:solidFill>
                <a:latin typeface="Microsoft YaHei"/>
                <a:ea typeface="Microsoft YaHei"/>
              </a:rPr>
              <a:t xml:space="preserve">CANoe + AI + MCP </a:t>
            </a:r>
            <a:r>
              <a:rPr lang="zh-CN" sz="1650">
                <a:solidFill>
                  <a:srgbClr val="94A3B8"/>
                </a:solidFill>
                <a:latin typeface="Microsoft YaHei"/>
                <a:ea typeface="Microsoft YaHei"/>
              </a:rPr>
              <a:t>不是替代，而是把工程师从繁琐配置与脚本中解放出来。</a:t>
            </a:r>
            <a:endParaRPr/>
          </a:p>
        </p:txBody>
      </p:sp>
      <p:sp>
        <p:nvSpPr>
          <p:cNvPr id="285" name=""/>
          <p:cNvSpPr/>
          <p:nvPr/>
        </p:nvSpPr>
        <p:spPr>
          <a:xfrm rot="0" flipH="0" flipV="0">
            <a:off x="609600" y="6200775"/>
            <a:ext cx="10972800" cy="342900"/>
          </a:xfrm>
          <a:custGeom>
            <a:pathLst>
              <a:path w="1152" h="36">
                <a:moveTo>
                  <a:pt x="0" y="0"/>
                </a:moveTo>
                <a:lnTo>
                  <a:pt x="1152" y="0"/>
                </a:lnTo>
                <a:lnTo>
                  <a:pt x="1152" y="1"/>
                </a:lnTo>
                <a:lnTo>
                  <a:pt x="0" y="1"/>
                </a:lnTo>
                <a:close/>
              </a:path>
            </a:pathLst>
          </a:custGeom>
          <a:solidFill>
            <a:srgbClr val="94A3B8">
              <a:alpha val="25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286" name="" descr="{&quot;isTemplate&quot;:true,&quot;type&quot;:&quot;text&quot;}"/>
          <p:cNvSpPr txBox="1"/>
          <p:nvPr/>
        </p:nvSpPr>
        <p:spPr>
          <a:xfrm rot="0" flipH="0" flipV="0">
            <a:off x="609600" y="6343650"/>
            <a:ext cx="21145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Vector CANoe AI ·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研讨会分享</a:t>
            </a:r>
            <a:endParaRPr/>
          </a:p>
        </p:txBody>
      </p:sp>
      <p:sp>
        <p:nvSpPr>
          <p:cNvPr id="287" name="" descr="{&quot;isTemplate&quot;:true,&quot;type&quot;:&quot;text&quot;}"/>
          <p:cNvSpPr txBox="1"/>
          <p:nvPr/>
        </p:nvSpPr>
        <p:spPr>
          <a:xfrm rot="0" flipH="0" flipV="0">
            <a:off x="10391775" y="6343650"/>
            <a:ext cx="11906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谢谢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· Thank You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2026-10-13T19:04:09Z</dcterms:created>
  <dcterms:modified xsi:type="dcterms:W3CDTF">2026-10-13T19:04:09Z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{"AIGC":{"Label":"1","ContentProducer":"00119111010856365494821B355","ProduceID":"01a1346f8e657c1fb3e31601811bc0fb","ReservedCode1":"","ContentPropagator":"00119111010856365494821B355","PropagateID":"01a1346f8e657c1fb3e31601811bc0fb","ReservedCode2":""}}</vt:lpwstr>
  </property>
</Properties>
</file>