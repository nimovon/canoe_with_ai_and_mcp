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27" Type="http://schemas.openxmlformats.org/officeDocument/2006/relationships/viewProps" Target="viewProps.xml" /><Relationship Id="rId12" Type="http://schemas.openxmlformats.org/officeDocument/2006/relationships/slide" Target="slides/slide12.xml" /><Relationship Id="rId8" Type="http://schemas.openxmlformats.org/officeDocument/2006/relationships/slide" Target="slides/slide8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Relationship Id="rId2" Type="http://schemas.openxmlformats.org/officeDocument/2006/relationships/image" Target="media/image10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7048500" y="0"/>
            <a:ext cx="5143500" cy="5143500"/>
          </a:xfrm>
          <a:prstGeom prst="rect">
            <a:avLst/>
          </a:prstGeom>
          <a:gradFill>
            <a:gsLst>
              <a:gs pos="0">
                <a:srgbClr val="38BDF8">
                  <a:alpha val="14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-666750" y="4095750"/>
            <a:ext cx="3619500" cy="3619500"/>
          </a:xfrm>
          <a:prstGeom prst="rect">
            <a:avLst/>
          </a:prstGeom>
          <a:gradFill>
            <a:gsLst>
              <a:gs pos="0">
                <a:srgbClr val="F97316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75">
                <a:solidFill>
                  <a:srgbClr val="94A3B8"/>
                </a:solidFill>
                <a:latin typeface="Microsoft YaHei"/>
                <a:ea typeface="Microsoft YaHei"/>
              </a:rPr>
              <a:t>VECTOR · CANoe AI MASTERCLASS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10972800" cy="8477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4950" b="1">
                <a:solidFill>
                  <a:srgbClr val="E5EDF7"/>
                </a:solidFill>
                <a:latin typeface="Microsoft YaHei"/>
                <a:ea typeface="Microsoft YaHei"/>
              </a:rPr>
              <a:t>用</a:t>
            </a:r>
            <a:r>
              <a:rPr lang="en-US" sz="49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4950" b="1">
                <a:solidFill>
                  <a:srgbClr val="E5EDF7"/>
                </a:solidFill>
                <a:latin typeface="Microsoft YaHei"/>
                <a:ea typeface="Microsoft YaHei"/>
              </a:rPr>
              <a:t>加速</a:t>
            </a:r>
            <a:r>
              <a:rPr lang="en-US" sz="49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4950" b="1">
                <a:solidFill>
                  <a:srgbClr val="E5EDF7"/>
                </a:solidFill>
                <a:latin typeface="Microsoft YaHei"/>
                <a:ea typeface="Microsoft YaHei"/>
              </a:rPr>
              <a:t>工作流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38BDF8"/>
                </a:solidFill>
                <a:latin typeface="Microsoft YaHei"/>
                <a:ea typeface="Microsoft YaHei"/>
              </a:rPr>
              <a:t>Accelerate Your Workflows in CANoe with AI &amp; MCP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3800475"/>
            <a:ext cx="11430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086225"/>
            <a:ext cx="1097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网络研讨会纪要分享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团队技术复盘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个人存档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800600"/>
            <a:ext cx="1504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日期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2026-10-13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419350" y="4800600"/>
            <a:ext cx="1857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主讲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Daniela · Tobias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581525" y="480060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答疑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David Kruse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314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Informatik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汽车工业软件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086725" y="6343650"/>
            <a:ext cx="3495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Next Horizons · 11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月开放报名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nexthorizons.com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504825"/>
            <a:ext cx="1362075" cy="638175"/>
          </a:xfrm>
          <a:custGeom>
            <a:pathLst>
              <a:path w="143" h="67">
                <a:moveTo>
                  <a:pt x="0" y="0"/>
                </a:moveTo>
                <a:lnTo>
                  <a:pt x="6" y="0"/>
                </a:lnTo>
                <a:lnTo>
                  <a:pt x="6" y="67"/>
                </a:lnTo>
                <a:lnTo>
                  <a:pt x="0" y="6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38200" y="504825"/>
            <a:ext cx="1076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38200" y="933450"/>
            <a:ext cx="1076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34004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6203A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4324350"/>
            <a:ext cx="3400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五大章节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从背景到路线图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352925" y="2314575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8BDF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867275" y="22574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背景与愿景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867275" y="251460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定位、使命公式与工程团队五大挑战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352925" y="293370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8BDF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867275" y="2876550"/>
            <a:ext cx="2981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解决方案</a:t>
            </a:r>
            <a:r>
              <a:rPr lang="en-US" sz="16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MCP </a:t>
            </a: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与架构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867275" y="3133725"/>
            <a:ext cx="298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协议、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CANoe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架构与两种使用方式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352925" y="3552825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8BDF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867275" y="3495675"/>
            <a:ext cx="3390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核心组件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867275" y="3752850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Knowledge Server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Package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与四大代理交付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352925" y="417195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8BDF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867275" y="4114800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实战演示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867275" y="437197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安装配置、分析工作流、配置扩展与编排器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352925" y="4791075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8BDF8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867275" y="4733925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路线图与问答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867275" y="49911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产品路线图、精选问答与术语表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763000" y="-571500"/>
            <a:ext cx="4000500" cy="4000500"/>
          </a:xfrm>
          <a:prstGeom prst="rect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791325" y="1428750"/>
            <a:ext cx="5172075" cy="5029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0" b="1">
                <a:solidFill>
                  <a:srgbClr val="38BDF8">
                    <a:alpha val="20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14400" y="2657475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38BDF8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14400" y="3048000"/>
            <a:ext cx="5600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背景与愿景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的定位、使命公式与工程团队的真实挑战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为什么需要把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带进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315575" y="634365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Vector Informatik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的定位与愿景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F97316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1419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E5EDF7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5553075"/>
            <a:ext cx="25908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深耕汽车相关领域，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把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融入你已在用的工具链。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638675" y="1143000"/>
            <a:ext cx="694372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E5EDF7"/>
                </a:solidFill>
                <a:latin typeface="Microsoft YaHei"/>
                <a:ea typeface="Microsoft YaHei"/>
              </a:rPr>
              <a:t>核心公式：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领域专长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＋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你的数据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＋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你已信任的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工具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＝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融入工作流的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638675" y="2552700"/>
            <a:ext cx="6943725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目标：把复杂变为进展（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>turning complexity into progress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4676775" y="3533775"/>
            <a:ext cx="6943725" cy="1485900"/>
          </a:xfrm>
          <a:prstGeom prst="roundRect">
            <a:avLst>
              <a:gd name="adj" fmla="val 7692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4676775" y="3533775"/>
            <a:ext cx="6943725" cy="1485900"/>
          </a:xfrm>
          <a:custGeom>
            <a:pathLst>
              <a:path w="729" h="15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8"/>
                </a:lnTo>
                <a:cubicBezTo>
                  <a:pt x="4" y="152"/>
                  <a:pt x="7" y="155"/>
                  <a:pt x="10" y="156"/>
                </a:cubicBezTo>
                <a:cubicBezTo>
                  <a:pt x="4" y="155"/>
                  <a:pt x="0" y="150"/>
                  <a:pt x="0" y="14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867275" y="3724275"/>
            <a:ext cx="652462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未来已来：以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霹雳游侠（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>Knight Rider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）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应用为例的端到端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工作流——从需求文件自动生成单元测试与虚拟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ECU 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代码、跑小规模测试、分析高亮报告、经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SDX 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部署运行，贯穿整个</a:t>
            </a:r>
            <a:r>
              <a:rPr lang="en-US" sz="1500">
                <a:solidFill>
                  <a:srgbClr val="E5EDF7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500">
                <a:solidFill>
                  <a:srgbClr val="E5EDF7"/>
                </a:solidFill>
                <a:latin typeface="Microsoft YaHei"/>
                <a:ea typeface="Microsoft YaHei"/>
              </a:rPr>
              <a:t>工具链。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638675" y="5619750"/>
            <a:ext cx="6943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工作模式：把任务交给</a:t>
            </a:r>
            <a:r>
              <a:rPr lang="zh-CN" sz="1350" b="1">
                <a:solidFill>
                  <a:srgbClr val="38BDF8"/>
                </a:solidFill>
                <a:latin typeface="Microsoft YaHei"/>
                <a:ea typeface="Microsoft YaHei"/>
              </a:rPr>
              <a:t>编排器（</a:t>
            </a:r>
            <a:r>
              <a:rPr lang="en-US" sz="1350" b="1">
                <a:solidFill>
                  <a:srgbClr val="38BDF8"/>
                </a:solidFill>
                <a:latin typeface="Microsoft YaHei"/>
                <a:ea typeface="Microsoft YaHei"/>
              </a:rPr>
              <a:t>orchestrator</a:t>
            </a:r>
            <a:r>
              <a:rPr lang="zh-CN" sz="1350" b="1">
                <a:solidFill>
                  <a:srgbClr val="38BDF8"/>
                </a:solidFill>
                <a:latin typeface="Microsoft YaHei"/>
                <a:ea typeface="Microsoft YaHei"/>
              </a:rPr>
              <a:t>）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，由其调度专用代理并管理交接，可选</a:t>
            </a:r>
            <a:r>
              <a:rPr lang="zh-CN" sz="1350" b="1">
                <a:solidFill>
                  <a:srgbClr val="38BDF8"/>
                </a:solidFill>
                <a:latin typeface="Microsoft YaHei"/>
                <a:ea typeface="Microsoft YaHei"/>
              </a:rPr>
              <a:t>观察者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经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Web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仪表板监控。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当前工程团队的五大挑战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32004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F444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2305050"/>
            <a:ext cx="3200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5EDF7"/>
                </a:solidFill>
                <a:latin typeface="Microsoft YaHei"/>
                <a:ea typeface="Microsoft YaHei"/>
              </a:rPr>
              <a:t>大真实痛点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5657850"/>
            <a:ext cx="32004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注：原演讲编号从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一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二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跳到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五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，第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3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项在转录中缺失，本页据上下文补全归类。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114800" y="1143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248150" y="1219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629150" y="1143000"/>
            <a:ext cx="6429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重复性手工工作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629150" y="1390650"/>
            <a:ext cx="64293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调试循环：查报告、翻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trace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、处理报文阻塞、全部重跑；用例编写与总线仿真全靠点击。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4114800" y="229552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248150" y="23717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629150" y="2295525"/>
            <a:ext cx="4048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依赖大量专业知识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629150" y="2543175"/>
            <a:ext cx="40481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要懂总线系统与协议，还要会写代码、做配置，门槛高。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114800" y="3448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248150" y="35242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629150" y="3448050"/>
            <a:ext cx="3076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找对文档耗时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629150" y="3695700"/>
            <a:ext cx="30765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定位正确的工程文档本身就要花大量时间。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114800" y="4591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248150" y="46672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629150" y="4591050"/>
            <a:ext cx="48672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上下文喂给</a:t>
            </a:r>
            <a:r>
              <a:rPr lang="en-US" sz="1575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成本高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629150" y="4838700"/>
            <a:ext cx="48672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看不到你的配置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数据库；直接喂大上下文因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成本而昂贵。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4114800" y="57435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248150" y="58197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629150" y="5743575"/>
            <a:ext cx="4638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答案缺乏依据（</a:t>
            </a:r>
            <a:r>
              <a:rPr lang="en-US" sz="1575" b="1">
                <a:solidFill>
                  <a:srgbClr val="E5EDF7"/>
                </a:solidFill>
                <a:latin typeface="Microsoft YaHei"/>
                <a:ea typeface="Microsoft YaHei"/>
              </a:rPr>
              <a:t>ungrounded</a:t>
            </a:r>
            <a:r>
              <a:rPr lang="zh-CN" sz="1575" b="1">
                <a:solidFill>
                  <a:srgbClr val="E5EDF7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629150" y="5991225"/>
            <a:ext cx="46386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通用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给不出针对汽车领域、更别说你当前工程的具体答案。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763000" y="-571500"/>
            <a:ext cx="4000500" cy="4000500"/>
          </a:xfrm>
          <a:prstGeom prst="rect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791325" y="1428750"/>
            <a:ext cx="5172075" cy="5029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0" b="1">
                <a:solidFill>
                  <a:srgbClr val="38BDF8">
                    <a:alpha val="20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14400" y="2314575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38BDF8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914400" y="2705100"/>
            <a:ext cx="5600700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解决方案</a:t>
            </a:r>
            <a:r>
              <a:rPr lang="en-US" sz="450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MCP </a:t>
            </a: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与架构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14400" y="4286250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模型上下文协议、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CANoe AI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架构与两种使用方式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用开放标准把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接入工具链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0315575" y="634365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Vector Informatik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解决方案：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>MCP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（模型上下文协议）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2752725"/>
            <a:ext cx="34004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38BDF8"/>
                </a:solidFill>
                <a:latin typeface="Microsoft YaHei"/>
                <a:ea typeface="Microsoft YaHei"/>
              </a:rPr>
              <a:t>MCP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3724275"/>
            <a:ext cx="3400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5EDF7"/>
                </a:solidFill>
                <a:latin typeface="Microsoft YaHei"/>
                <a:ea typeface="Microsoft YaHei"/>
              </a:rPr>
              <a:t>模型上下文协议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34004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Model Context Protocol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与工具之间的开放标准接口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391025" y="2133600"/>
            <a:ext cx="72294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391025" y="2133600"/>
            <a:ext cx="7229475" cy="866775"/>
          </a:xfrm>
          <a:custGeom>
            <a:pathLst>
              <a:path w="759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543425" y="2286000"/>
            <a:ext cx="688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开放标准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543425" y="2552700"/>
            <a:ext cx="68865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与应用程序之间的标准接口，由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Anthropic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发起，现为厂商中立、行业广泛采用。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4391025" y="3133725"/>
            <a:ext cx="72294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4391025" y="3133725"/>
            <a:ext cx="7229475" cy="866775"/>
          </a:xfrm>
          <a:custGeom>
            <a:pathLst>
              <a:path w="759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543425" y="3286125"/>
            <a:ext cx="688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4543425" y="3552825"/>
            <a:ext cx="68865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正把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及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服务器引入越来越多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工具，并持续扩展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工具。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4391025" y="4133850"/>
            <a:ext cx="72294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4391025" y="4133850"/>
            <a:ext cx="7229475" cy="1162050"/>
          </a:xfrm>
          <a:custGeom>
            <a:pathLst>
              <a:path w="759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43425" y="4286250"/>
            <a:ext cx="688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对</a:t>
            </a:r>
            <a:r>
              <a:rPr lang="en-US" sz="150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的两大赋能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43425" y="4552950"/>
            <a:ext cx="6886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① Knowledge Server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解决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答案无依据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；②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本体（内置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）解决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缺少工具访问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CANoe AI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架构：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提供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你自带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47700" y="1143000"/>
            <a:ext cx="4886325" cy="1847850"/>
          </a:xfrm>
          <a:prstGeom prst="roundRect">
            <a:avLst>
              <a:gd name="adj" fmla="val 5155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47700" y="1143000"/>
            <a:ext cx="4886325" cy="1847850"/>
          </a:xfrm>
          <a:custGeom>
            <a:pathLst>
              <a:path w="513" h="1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88"/>
                </a:lnTo>
                <a:cubicBezTo>
                  <a:pt x="4" y="191"/>
                  <a:pt x="6" y="193"/>
                  <a:pt x="9" y="194"/>
                </a:cubicBezTo>
                <a:cubicBezTo>
                  <a:pt x="4" y="193"/>
                  <a:pt x="0" y="189"/>
                  <a:pt x="0" y="1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00100" y="1457325"/>
            <a:ext cx="4543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F4444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500" b="1">
                <a:solidFill>
                  <a:srgbClr val="EF4444"/>
                </a:solidFill>
                <a:latin typeface="Microsoft YaHei"/>
                <a:ea typeface="Microsoft YaHei"/>
              </a:rPr>
              <a:t>提供（红）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4543425" cy="933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>· CANoe AI Package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>· Vector Knowledge Server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· CANoe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本体（内置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服务器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+ AI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助手）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47700" y="3124200"/>
            <a:ext cx="4886325" cy="1847850"/>
          </a:xfrm>
          <a:prstGeom prst="roundRect">
            <a:avLst>
              <a:gd name="adj" fmla="val 5155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47700" y="3124200"/>
            <a:ext cx="4886325" cy="1847850"/>
          </a:xfrm>
          <a:custGeom>
            <a:pathLst>
              <a:path w="513" h="1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88"/>
                </a:lnTo>
                <a:cubicBezTo>
                  <a:pt x="4" y="191"/>
                  <a:pt x="6" y="193"/>
                  <a:pt x="9" y="194"/>
                </a:cubicBezTo>
                <a:cubicBezTo>
                  <a:pt x="4" y="193"/>
                  <a:pt x="0" y="189"/>
                  <a:pt x="0" y="1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00100" y="3438525"/>
            <a:ext cx="4543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8BDF8"/>
                </a:solidFill>
                <a:latin typeface="Microsoft YaHei"/>
                <a:ea typeface="Microsoft YaHei"/>
              </a:rPr>
              <a:t>你自带（蓝）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4543425" cy="933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工程师：目标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任务（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>prompt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· AI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运行时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harness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：承载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LLM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你的上下文：数据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规范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需求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数据库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47700" y="5105400"/>
            <a:ext cx="4886325" cy="1181100"/>
          </a:xfrm>
          <a:prstGeom prst="roundRect">
            <a:avLst>
              <a:gd name="adj" fmla="val 8065"/>
            </a:avLst>
          </a:prstGeom>
          <a:solidFill>
            <a:srgbClr val="F97316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47700" y="5105400"/>
            <a:ext cx="4886325" cy="1181100"/>
          </a:xfrm>
          <a:custGeom>
            <a:pathLst>
              <a:path w="513" h="12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8"/>
                </a:lnTo>
                <a:cubicBezTo>
                  <a:pt x="4" y="121"/>
                  <a:pt x="6" y="123"/>
                  <a:pt x="9" y="124"/>
                </a:cubicBezTo>
                <a:cubicBezTo>
                  <a:pt x="4" y="123"/>
                  <a:pt x="0" y="119"/>
                  <a:pt x="0" y="11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81050" y="5400675"/>
            <a:ext cx="45815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关键原则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BYOM </a:t>
            </a: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自带模型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不提供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LLM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，需自带端点（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GitHub Copilot / Claude /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自训）。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5838825" y="1143000"/>
            <a:ext cx="574357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90" name=""/>
          <p:cNvPicPr>
            <a:picLocks noChangeAspect="1"/>
          </p:cNvPicPr>
          <p:nvPr/>
        </p:nvPicPr>
        <p:blipFill>
          <a:blip r:embed="rId1"/>
          <a:srcRect l="0" t="2195" r="0" b="2195"/>
          <a:stretch>
            <a:fillRect/>
          </a:stretch>
        </p:blipFill>
        <p:spPr>
          <a:xfrm rot="0" flipH="0" flipV="0">
            <a:off x="5953125" y="1257300"/>
            <a:ext cx="5514975" cy="3086100"/>
          </a:xfrm>
          <a:prstGeom prst="rect">
            <a:avLst/>
          </a:prstGeom>
          <a:ln/>
        </p:spPr>
      </p:pic>
      <p:sp>
        <p:nvSpPr>
          <p:cNvPr id="391" name=""/>
          <p:cNvSpPr/>
          <p:nvPr/>
        </p:nvSpPr>
        <p:spPr>
          <a:xfrm rot="0" flipH="0" flipV="0">
            <a:off x="5838825" y="4572000"/>
            <a:ext cx="574357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991225" y="5153025"/>
            <a:ext cx="5438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内部代理架构——工程师的任务经</a:t>
            </a:r>
            <a:r>
              <a:rPr lang="zh-CN" sz="1200">
                <a:solidFill>
                  <a:srgbClr val="38BDF8"/>
                </a:solidFill>
                <a:latin typeface="Microsoft YaHei"/>
                <a:ea typeface="Microsoft YaHei"/>
              </a:rPr>
              <a:t>编排器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调度专用代理，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助手与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服务器内置于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两种使用方式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1171575"/>
            <a:ext cx="4905375" cy="1666875"/>
          </a:xfrm>
          <a:prstGeom prst="roundRect">
            <a:avLst>
              <a:gd name="adj" fmla="val 685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1171575"/>
            <a:ext cx="4905375" cy="1666875"/>
          </a:xfrm>
          <a:custGeom>
            <a:pathLst>
              <a:path w="515" h="175">
                <a:moveTo>
                  <a:pt x="504" y="0"/>
                </a:moveTo>
                <a:cubicBezTo>
                  <a:pt x="509" y="0"/>
                  <a:pt x="514" y="4"/>
                  <a:pt x="515" y="9"/>
                </a:cubicBezTo>
                <a:cubicBezTo>
                  <a:pt x="513" y="6"/>
                  <a:pt x="510" y="3"/>
                  <a:pt x="50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03" y="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00100" y="1514475"/>
            <a:ext cx="4524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方式一</a:t>
            </a:r>
            <a:r>
              <a:rPr lang="en-US" sz="16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IDE </a:t>
            </a: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内聊天客户端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00100" y="1847850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如已购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GitHub Copilot / Claude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许可，在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IDE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内配置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端点。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适合开发者、高级用户、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CI/CD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与多步工作流。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2971800"/>
            <a:ext cx="4905375" cy="1676400"/>
          </a:xfrm>
          <a:prstGeom prst="roundRect">
            <a:avLst>
              <a:gd name="adj" fmla="val 681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2971800"/>
            <a:ext cx="4905375" cy="1676400"/>
          </a:xfrm>
          <a:custGeom>
            <a:pathLst>
              <a:path w="515" h="176">
                <a:moveTo>
                  <a:pt x="504" y="0"/>
                </a:moveTo>
                <a:cubicBezTo>
                  <a:pt x="509" y="0"/>
                  <a:pt x="514" y="4"/>
                  <a:pt x="515" y="9"/>
                </a:cubicBezTo>
                <a:cubicBezTo>
                  <a:pt x="513" y="6"/>
                  <a:pt x="510" y="3"/>
                  <a:pt x="50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03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00100" y="3314700"/>
            <a:ext cx="4524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方式二</a:t>
            </a:r>
            <a:r>
              <a:rPr lang="en-US" sz="16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CANoe </a:t>
            </a: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内置</a:t>
            </a:r>
            <a:r>
              <a:rPr lang="en-US" sz="16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 b="1">
                <a:solidFill>
                  <a:srgbClr val="E5EDF7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00100" y="3648075"/>
            <a:ext cx="45243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聊天窗口直接嵌在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中。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适合不使用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VS Code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、主要工作在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上的人与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新手。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47700" y="4752975"/>
            <a:ext cx="4905375" cy="1533525"/>
          </a:xfrm>
          <a:prstGeom prst="roundRect">
            <a:avLst>
              <a:gd name="adj" fmla="val 7453"/>
            </a:avLst>
          </a:prstGeom>
          <a:solidFill>
            <a:srgbClr val="38BDF8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47700" y="4752975"/>
            <a:ext cx="4905375" cy="1533525"/>
          </a:xfrm>
          <a:custGeom>
            <a:pathLst>
              <a:path w="515" h="16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53"/>
                </a:lnTo>
                <a:cubicBezTo>
                  <a:pt x="4" y="157"/>
                  <a:pt x="7" y="160"/>
                  <a:pt x="10" y="161"/>
                </a:cubicBezTo>
                <a:cubicBezTo>
                  <a:pt x="4" y="160"/>
                  <a:pt x="0" y="155"/>
                  <a:pt x="0" y="14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4486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8BDF8"/>
                </a:solidFill>
                <a:latin typeface="Microsoft YaHei"/>
                <a:ea typeface="Microsoft YaHei"/>
              </a:rPr>
              <a:t>怎么选？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8200" y="5362575"/>
            <a:ext cx="44862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重自动化、要跑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CI/CD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方式一；只想在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里随手问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方式二。两者共用同一套代理与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能力。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5819775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12" name=""/>
          <p:cNvPicPr>
            <a:picLocks noChangeAspect="1"/>
          </p:cNvPicPr>
          <p:nvPr/>
        </p:nvPicPr>
        <p:blipFill>
          <a:blip r:embed="rId1"/>
          <a:srcRect l="0" t="1623" r="0" b="1623"/>
          <a:stretch>
            <a:fillRect/>
          </a:stretch>
        </p:blipFill>
        <p:spPr>
          <a:xfrm rot="0" flipH="0" flipV="0">
            <a:off x="5934075" y="1257300"/>
            <a:ext cx="5534025" cy="3086100"/>
          </a:xfrm>
          <a:prstGeom prst="rect">
            <a:avLst/>
          </a:prstGeom>
          <a:ln/>
        </p:spPr>
      </p:pic>
      <p:sp>
        <p:nvSpPr>
          <p:cNvPr id="413" name=""/>
          <p:cNvSpPr/>
          <p:nvPr/>
        </p:nvSpPr>
        <p:spPr>
          <a:xfrm rot="0" flipH="0" flipV="0">
            <a:off x="5819775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972175" y="5153025"/>
            <a:ext cx="5457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运行时（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harness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）承载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LLM——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内或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IDE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中，接入你自己的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端点。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763000" y="-571500"/>
            <a:ext cx="4000500" cy="4000500"/>
          </a:xfrm>
          <a:prstGeom prst="rect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791325" y="1428750"/>
            <a:ext cx="5172075" cy="5029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0" b="1">
                <a:solidFill>
                  <a:srgbClr val="38BDF8">
                    <a:alpha val="20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14400" y="2657475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38BDF8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4400" y="3048000"/>
            <a:ext cx="5600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核心组件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>Knowledge Server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Package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与四大代理交付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Vector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实际交付了什么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0315575" y="634365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Vector Informatik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>Vector Knowledge Server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（知识服务器）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1" name=""/>
          <p:cNvPicPr>
            <a:picLocks noChangeAspect="1"/>
          </p:cNvPicPr>
          <p:nvPr/>
        </p:nvPicPr>
        <p:blipFill>
          <a:blip r:embed="rId1"/>
          <a:srcRect l="0" t="1261" r="0" b="1261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32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5457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Knowledge Server——LLM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不确定时经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取官方知识，答案有据可依、减少幻觉。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677025" y="1143000"/>
            <a:ext cx="49053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38BDF8"/>
                </a:solidFill>
                <a:latin typeface="Microsoft YaHei"/>
                <a:ea typeface="Microsoft YaHei"/>
              </a:rPr>
              <a:t>解决答案无依据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E5EDF7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不确定时经</a:t>
            </a:r>
            <a:r>
              <a:rPr lang="en-US" sz="1350">
                <a:solidFill>
                  <a:srgbClr val="E5EDF7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取</a:t>
            </a:r>
            <a:r>
              <a:rPr lang="en-US" sz="1350">
                <a:solidFill>
                  <a:srgbClr val="E5EDF7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知识，答案基于官方文档而非臆测，减少幻觉。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677025" y="2009775"/>
            <a:ext cx="49053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模型不变：无需训练或微调，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也不会用你的数据训练模型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；需以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Vector ID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认证登录。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677025" y="2876550"/>
            <a:ext cx="49053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F97316"/>
                </a:solidFill>
                <a:latin typeface="Microsoft YaHei"/>
                <a:ea typeface="Microsoft YaHei"/>
              </a:rPr>
              <a:t>价值</a:t>
            </a:r>
            <a:r>
              <a:rPr lang="zh-CN" sz="1350">
                <a:solidFill>
                  <a:srgbClr val="F97316"/>
                </a:solidFill>
                <a:latin typeface="Microsoft YaHei"/>
                <a:ea typeface="Microsoft YaHei"/>
              </a:rPr>
              <a:t>：更快得到答案、更少幻觉、单一可信来源。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677025" y="3429000"/>
            <a:ext cx="4905375" cy="2857500"/>
          </a:xfrm>
          <a:prstGeom prst="roundRect">
            <a:avLst>
              <a:gd name="adj" fmla="val 4000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2"/>
          <a:srcRect l="610" t="0" r="610" b="0"/>
          <a:stretch>
            <a:fillRect/>
          </a:stretch>
        </p:blipFill>
        <p:spPr>
          <a:xfrm rot="0" flipH="0" flipV="0">
            <a:off x="6715125" y="3467100"/>
            <a:ext cx="4829175" cy="27813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>CANoe AI Package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（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软件包）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6" name=""/>
          <p:cNvPicPr>
            <a:picLocks noChangeAspect="1"/>
          </p:cNvPicPr>
          <p:nvPr/>
        </p:nvPicPr>
        <p:blipFill>
          <a:blip r:embed="rId1"/>
          <a:srcRect l="188" t="0" r="188" b="0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47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5457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CANoe AI Package =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代理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技能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预配置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服务器，以插件形式提供，兼容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20 SP2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677025" y="1171575"/>
            <a:ext cx="4905375" cy="1238250"/>
          </a:xfrm>
          <a:prstGeom prst="roundRect">
            <a:avLst>
              <a:gd name="adj" fmla="val 9231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677025" y="1171575"/>
            <a:ext cx="4905375" cy="1238250"/>
          </a:xfrm>
          <a:custGeom>
            <a:pathLst>
              <a:path w="515" h="130">
                <a:moveTo>
                  <a:pt x="504" y="0"/>
                </a:moveTo>
                <a:cubicBezTo>
                  <a:pt x="509" y="0"/>
                  <a:pt x="514" y="4"/>
                  <a:pt x="515" y="9"/>
                </a:cubicBezTo>
                <a:cubicBezTo>
                  <a:pt x="513" y="6"/>
                  <a:pt x="510" y="3"/>
                  <a:pt x="50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03" y="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48475" y="1343025"/>
            <a:ext cx="4562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代理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Agents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48475" y="1657350"/>
            <a:ext cx="45624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为特定任务预定义的专职角色（如编码代理，经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编译核验）。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677025" y="3124200"/>
            <a:ext cx="4905375" cy="1238250"/>
          </a:xfrm>
          <a:prstGeom prst="roundRect">
            <a:avLst>
              <a:gd name="adj" fmla="val 9231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677025" y="3124200"/>
            <a:ext cx="4905375" cy="1238250"/>
          </a:xfrm>
          <a:custGeom>
            <a:pathLst>
              <a:path w="515" h="130">
                <a:moveTo>
                  <a:pt x="504" y="0"/>
                </a:moveTo>
                <a:cubicBezTo>
                  <a:pt x="509" y="0"/>
                  <a:pt x="514" y="4"/>
                  <a:pt x="515" y="9"/>
                </a:cubicBezTo>
                <a:cubicBezTo>
                  <a:pt x="513" y="6"/>
                  <a:pt x="510" y="3"/>
                  <a:pt x="50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03" y="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48475" y="3295650"/>
            <a:ext cx="4562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8BDF8"/>
                </a:solidFill>
                <a:latin typeface="Microsoft YaHei"/>
                <a:ea typeface="Microsoft YaHei"/>
              </a:rPr>
              <a:t>技能</a:t>
            </a:r>
            <a:r>
              <a:rPr lang="en-US" sz="16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Skills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848475" y="3609975"/>
            <a:ext cx="45624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个跨代理共享的领域专长（如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如何用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C#/Python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写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CAPL"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677025" y="5076825"/>
            <a:ext cx="4905375" cy="1238250"/>
          </a:xfrm>
          <a:prstGeom prst="roundRect">
            <a:avLst>
              <a:gd name="adj" fmla="val 9231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677025" y="5076825"/>
            <a:ext cx="4905375" cy="1238250"/>
          </a:xfrm>
          <a:custGeom>
            <a:pathLst>
              <a:path w="515" h="130">
                <a:moveTo>
                  <a:pt x="504" y="0"/>
                </a:moveTo>
                <a:cubicBezTo>
                  <a:pt x="509" y="0"/>
                  <a:pt x="514" y="4"/>
                  <a:pt x="515" y="9"/>
                </a:cubicBezTo>
                <a:cubicBezTo>
                  <a:pt x="513" y="6"/>
                  <a:pt x="510" y="3"/>
                  <a:pt x="50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03" y="0"/>
                </a:ln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848475" y="5248275"/>
            <a:ext cx="4562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650" b="1">
                <a:solidFill>
                  <a:srgbClr val="F97316"/>
                </a:solidFill>
                <a:latin typeface="Microsoft YaHei"/>
                <a:ea typeface="Microsoft YaHei"/>
              </a:rPr>
              <a:t>服务器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48475" y="5562600"/>
            <a:ext cx="45624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两个预配置：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Knowledge Server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＋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MCP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服务器；兼容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20 SP2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交付内容总结：四大代理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68" name=""/>
          <p:cNvPicPr>
            <a:picLocks noChangeAspect="1"/>
          </p:cNvPicPr>
          <p:nvPr/>
        </p:nvPicPr>
        <p:blipFill>
          <a:blip r:embed="rId1"/>
          <a:srcRect l="0" t="144" r="0" b="144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5457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一次性交付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助手与四大代理，覆盖发现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配置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编码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分析。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677025" y="1143000"/>
            <a:ext cx="4905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E5EDF7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侧交付</a:t>
            </a:r>
            <a:r>
              <a:rPr lang="en-US" sz="1350">
                <a:solidFill>
                  <a:srgbClr val="E5EDF7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350" b="1">
                <a:solidFill>
                  <a:srgbClr val="38BDF8"/>
                </a:solidFill>
                <a:latin typeface="Microsoft YaHei"/>
                <a:ea typeface="Microsoft YaHei"/>
              </a:rPr>
              <a:t>个代理</a:t>
            </a:r>
            <a:r>
              <a:rPr lang="zh-CN" sz="1350">
                <a:solidFill>
                  <a:srgbClr val="E5EDF7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677025" y="196215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48475" y="2028825"/>
            <a:ext cx="3076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EDF7"/>
                </a:solidFill>
                <a:latin typeface="Microsoft YaHei"/>
                <a:ea typeface="Microsoft YaHei"/>
              </a:rPr>
              <a:t>Discovery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：匹配能力并建议可运行工作流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677025" y="289560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48475" y="2962275"/>
            <a:ext cx="2600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EDF7"/>
                </a:solidFill>
                <a:latin typeface="Microsoft YaHei"/>
                <a:ea typeface="Microsoft YaHei"/>
              </a:rPr>
              <a:t>Configuration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：读取并可修改配置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677025" y="382905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48475" y="3895725"/>
            <a:ext cx="2333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EDF7"/>
                </a:solidFill>
                <a:latin typeface="Microsoft YaHei"/>
                <a:ea typeface="Microsoft YaHei"/>
              </a:rPr>
              <a:t>Coding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：面向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CAPL 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E5EDF7"/>
                </a:solidFill>
                <a:latin typeface="Microsoft YaHei"/>
                <a:ea typeface="Microsoft YaHei"/>
              </a:rPr>
              <a:t xml:space="preserve"> Python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677025" y="4762500"/>
            <a:ext cx="7620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48475" y="48291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5EDF7"/>
                </a:solidFill>
                <a:latin typeface="Microsoft YaHei"/>
                <a:ea typeface="Microsoft YaHei"/>
              </a:rPr>
              <a:t>Analysis</a:t>
            </a:r>
            <a:r>
              <a:rPr lang="zh-CN" sz="1275">
                <a:solidFill>
                  <a:srgbClr val="E5EDF7"/>
                </a:solidFill>
                <a:latin typeface="Microsoft YaHei"/>
                <a:ea typeface="Microsoft YaHei"/>
              </a:rPr>
              <a:t>：帮你分析数据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677025" y="5734050"/>
            <a:ext cx="4905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97316"/>
                </a:solidFill>
                <a:latin typeface="Microsoft YaHei"/>
                <a:ea typeface="Microsoft YaHei"/>
              </a:rPr>
              <a:t>第三支柱</a:t>
            </a:r>
            <a:r>
              <a:rPr lang="en-US" sz="1200">
                <a:solidFill>
                  <a:srgbClr val="F97316"/>
                </a:solidFill>
                <a:latin typeface="Microsoft YaHei"/>
                <a:ea typeface="Microsoft YaHei"/>
              </a:rPr>
              <a:t xml:space="preserve"> Everything as Code</a:t>
            </a:r>
            <a:r>
              <a:rPr lang="zh-CN" sz="1200">
                <a:solidFill>
                  <a:srgbClr val="F97316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F97316"/>
                </a:solidFill>
                <a:latin typeface="Microsoft YaHei"/>
                <a:ea typeface="Microsoft YaHei"/>
              </a:rPr>
              <a:t>YAML</a:t>
            </a:r>
            <a:r>
              <a:rPr lang="zh-CN" sz="1200">
                <a:solidFill>
                  <a:srgbClr val="F97316"/>
                </a:solidFill>
                <a:latin typeface="Microsoft YaHei"/>
                <a:ea typeface="Microsoft YaHei"/>
              </a:rPr>
              <a:t>）；代理与技能人类可读、可按需修改。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763000" y="-571500"/>
            <a:ext cx="4000500" cy="4000500"/>
          </a:xfrm>
          <a:prstGeom prst="rect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791325" y="1428750"/>
            <a:ext cx="5172075" cy="5029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0" b="1">
                <a:solidFill>
                  <a:srgbClr val="38BDF8">
                    <a:alpha val="20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14400" y="2657475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38BDF8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4400" y="3048000"/>
            <a:ext cx="5600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实战演示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安装配置、分析工作流、配置扩展与编排器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533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看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怎么在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里干活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0315575" y="634365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Vector Informatik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安装与配置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CANoe AI Package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98" name=""/>
          <p:cNvPicPr>
            <a:picLocks noChangeAspect="1"/>
          </p:cNvPicPr>
          <p:nvPr/>
        </p:nvPicPr>
        <p:blipFill>
          <a:blip r:embed="rId1"/>
          <a:srcRect l="0" t="599" r="0" b="599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99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62000" y="5295900"/>
            <a:ext cx="5457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Getting Started——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下载、安装指南与文档一站式到位。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715125" y="1143000"/>
            <a:ext cx="49053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715125" y="1143000"/>
            <a:ext cx="4905375" cy="866775"/>
          </a:xfrm>
          <a:custGeom>
            <a:pathLst>
              <a:path w="515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67525" y="129540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前置条件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67525" y="1562100"/>
            <a:ext cx="4562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需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20 SP2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；从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官网下载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AI Package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715125" y="2990850"/>
            <a:ext cx="49053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715125" y="2990850"/>
            <a:ext cx="4905375" cy="1162050"/>
          </a:xfrm>
          <a:custGeom>
            <a:pathLst>
              <a:path w="515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67525" y="314325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完整文档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67525" y="3409950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官网提供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Copilot / Claude Code / CANoe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内置聊天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其他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harness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的安装指南。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715125" y="5124450"/>
            <a:ext cx="49053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715125" y="5124450"/>
            <a:ext cx="4905375" cy="1162050"/>
          </a:xfrm>
          <a:custGeom>
            <a:pathLst>
              <a:path w="515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867525" y="527685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形式与入口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867525" y="5543550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以插件提供，含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README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分步指引；文档在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帮助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Software Interfaces → AI Features → MCP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演示一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分析工作流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47700" y="2286000"/>
            <a:ext cx="49053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47700" y="2286000"/>
            <a:ext cx="4905375" cy="866775"/>
          </a:xfrm>
          <a:custGeom>
            <a:pathLst>
              <a:path w="515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00100" y="2705100"/>
            <a:ext cx="4562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Protocol Monitor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（协议监控器）分析日志文件与通信。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47700" y="3286125"/>
            <a:ext cx="49053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47700" y="3286125"/>
            <a:ext cx="4905375" cy="866775"/>
          </a:xfrm>
          <a:custGeom>
            <a:pathLst>
              <a:path w="515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00100" y="3438525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自动分析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4562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代理自动读取日志、定位错误与时间戳、生成概览与建议。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47700" y="4286250"/>
            <a:ext cx="49053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47700" y="4286250"/>
            <a:ext cx="4905375" cy="866775"/>
          </a:xfrm>
          <a:custGeom>
            <a:pathLst>
              <a:path w="515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00100" y="443865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价值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00100" y="4705350"/>
            <a:ext cx="4562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可创建过滤器聚焦出错服务，大幅加快问题定位。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819775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32" name=""/>
          <p:cNvPicPr>
            <a:picLocks noChangeAspect="1"/>
          </p:cNvPicPr>
          <p:nvPr/>
        </p:nvPicPr>
        <p:blipFill>
          <a:blip r:embed="rId1"/>
          <a:srcRect l="0" t="520" r="0" b="520"/>
          <a:stretch>
            <a:fillRect/>
          </a:stretch>
        </p:blipFill>
        <p:spPr>
          <a:xfrm rot="0" flipH="0" flipV="0">
            <a:off x="5934075" y="1257300"/>
            <a:ext cx="5534025" cy="308610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5819775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972175" y="5295900"/>
            <a:ext cx="5457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驱动的协议监控分析——自动读日志、定位错误、生成建议。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演示二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扩展现有配置（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CAN-LIN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网关）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42" name=""/>
          <p:cNvPicPr>
            <a:picLocks noChangeAspect="1"/>
          </p:cNvPicPr>
          <p:nvPr/>
        </p:nvPicPr>
        <p:blipFill>
          <a:blip r:embed="rId1"/>
          <a:srcRect l="0" t="1198" r="0" b="1198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143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2000" y="5295900"/>
            <a:ext cx="5457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图：用自然语言扩展配置——代理添加节点并生成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CAPL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，再补全行为与验证。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715125" y="1990725"/>
            <a:ext cx="49053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715125" y="1990725"/>
            <a:ext cx="4905375" cy="1162050"/>
          </a:xfrm>
          <a:custGeom>
            <a:pathLst>
              <a:path w="515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67525" y="2143125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自然语言建节点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67525" y="2409825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在含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LIN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网络的配置中，仅说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在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LIN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间实现网关节点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715125" y="3286125"/>
            <a:ext cx="49053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715125" y="3286125"/>
            <a:ext cx="4905375" cy="1162050"/>
          </a:xfrm>
          <a:custGeom>
            <a:pathLst>
              <a:path w="515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867525" y="3438525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生成并补全代码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867525" y="3705225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代理向配置添加网关节点、生成（空）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CAPL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脚本；再要求其实现网关行为补全代码。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715125" y="4581525"/>
            <a:ext cx="49053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715125" y="4581525"/>
            <a:ext cx="4905375" cy="866775"/>
          </a:xfrm>
          <a:custGeom>
            <a:pathLst>
              <a:path w="515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867525" y="4733925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867525" y="5000625"/>
            <a:ext cx="4562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运行测量并聚焦网关流量，确认代码确实生效。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演示三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编排器驱动的代理式工作流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4" name=""/>
          <p:cNvPicPr>
            <a:picLocks noChangeAspect="1"/>
          </p:cNvPicPr>
          <p:nvPr/>
        </p:nvPicPr>
        <p:blipFill>
          <a:blip r:embed="rId1"/>
          <a:srcRect l="0" t="994" r="0" b="994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165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2000" y="5295900"/>
            <a:ext cx="5457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图：编排器（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Orchestrator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）统筹子代理，构建端到端代理式工作流。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715125" y="1990725"/>
            <a:ext cx="4905375" cy="866775"/>
          </a:xfrm>
          <a:prstGeom prst="roundRect">
            <a:avLst>
              <a:gd name="adj" fmla="val 10989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715125" y="1990725"/>
            <a:ext cx="4905375" cy="866775"/>
          </a:xfrm>
          <a:custGeom>
            <a:pathLst>
              <a:path w="515" h="9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5"/>
                </a:lnTo>
                <a:cubicBezTo>
                  <a:pt x="4" y="88"/>
                  <a:pt x="6" y="90"/>
                  <a:pt x="9" y="91"/>
                </a:cubicBezTo>
                <a:cubicBezTo>
                  <a:pt x="4" y="90"/>
                  <a:pt x="0" y="86"/>
                  <a:pt x="0" y="8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67525" y="2143125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以车窗升降</a:t>
            </a:r>
            <a:r>
              <a:rPr lang="en-US" sz="150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ECU </a:t>
            </a: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为例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867525" y="2409825"/>
            <a:ext cx="45624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编排器统筹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编码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测试运行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测试报告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三个子代理。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715125" y="2990850"/>
            <a:ext cx="49053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715125" y="2990850"/>
            <a:ext cx="4905375" cy="1162050"/>
          </a:xfrm>
          <a:custGeom>
            <a:pathLst>
              <a:path w="515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867525" y="314325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端到端执行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67525" y="3409950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读取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vTEST Studio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测试规范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自动实现用例、运行测试、产出报告。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715125" y="4286250"/>
            <a:ext cx="4905375" cy="1162050"/>
          </a:xfrm>
          <a:prstGeom prst="roundRect">
            <a:avLst>
              <a:gd name="adj" fmla="val 81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715125" y="4286250"/>
            <a:ext cx="4905375" cy="1162050"/>
          </a:xfrm>
          <a:custGeom>
            <a:pathLst>
              <a:path w="515" h="122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6"/>
                </a:lnTo>
                <a:cubicBezTo>
                  <a:pt x="4" y="119"/>
                  <a:pt x="6" y="121"/>
                  <a:pt x="9" y="122"/>
                </a:cubicBezTo>
                <a:cubicBezTo>
                  <a:pt x="4" y="121"/>
                  <a:pt x="0" y="117"/>
                  <a:pt x="0" y="11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867525" y="4438650"/>
            <a:ext cx="4562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5EDF7"/>
                </a:solidFill>
                <a:latin typeface="Microsoft YaHei"/>
                <a:ea typeface="Microsoft YaHei"/>
              </a:rPr>
              <a:t>为什么好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67525" y="4705350"/>
            <a:ext cx="45624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子代理上下文干净、专注；编排器据结果动态迭代，而非固定流水线。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8763000" y="-571500"/>
            <a:ext cx="4000500" cy="4000500"/>
          </a:xfrm>
          <a:prstGeom prst="rect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791325" y="1428750"/>
            <a:ext cx="5172075" cy="5029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0" b="1">
                <a:solidFill>
                  <a:srgbClr val="38BDF8">
                    <a:alpha val="20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914400" y="2657475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38BDF8"/>
                </a:solidFill>
                <a:latin typeface="Microsoft YaHei"/>
                <a:ea typeface="Microsoft YaHei"/>
              </a:rPr>
              <a:t>CHAPTER 05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14400" y="3048000"/>
            <a:ext cx="5600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E5EDF7"/>
                </a:solidFill>
                <a:latin typeface="Microsoft YaHei"/>
                <a:ea typeface="Microsoft YaHei"/>
              </a:rPr>
              <a:t>路线图与问答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14400" y="3943350"/>
            <a:ext cx="5600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产品路线图、精选问答与术语表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647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章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接下来怎么走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你关心的问题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315575" y="6343650"/>
            <a:ext cx="1266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Vector Informatik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15" name="" descr="&lt;Slide style={{ width: '1280px', height: '720px', background: '#0B1220', padding: '20px 64px' }}&gt;&#10;  &lt;Box style={{ height: 100, borderLeft: '6px solid #38BDF8', paddingLeft: 18, justifyContent: 'center' }}&gt;&#10;    &lt;Text style={{ fontSize: 34, fontWeight: 'bold', color: '#E5EDF7' }}&gt;产品路线图 · 持续演进&lt;/Text&gt;&#10;  &lt;/Box&gt;&#10;  &lt;Box style={{ height: 540, flexDirection: 'row', gap: 32, alignItems: 'stretch' }}&gt;&#10;    &lt;Box style={{ width: '54%', flexDirection: 'column', gap: 12 }}&gt;&#10;      &lt;Box style={{ height: 348, background: '#16203A', borderRadius: 12, padding: 12, justifyContent: 'center' }}&gt;&#10;        &lt;Image src=&quot;assets/roadmap_overview.png&quot; style={{ width: '100%', height: '100%', objectFit: 'contain' }} /&gt;&#10;      &lt;/Box&gt;&#10;      &lt;Box style={{ flex: 1, background: '#16203A', borderRadius: 12, padding: 16, justifyContent: 'center' }}&gt;&#10;        &lt;Text style={{ fontSize: 16, color: '#94A3B8', lineHeight: 1.5 }}&gt;图：路线图总览——AI 能力随 CANoe 版本分阶段交付，从基础代理到代理式编排逐步深入。&lt;/Text&gt;&#10;      &lt;/Box&gt;&#10;    &lt;/Box&gt;&#10;    &lt;Box style={{ width: '46%', gap: 12, justifyContent: 'space-between' }}&gt;&#10;      &lt;Box style={{ background: '#16203A', borderRadius: 10, padding: 14, borderLeft: '4px solid #38BDF8' }}&gt;&#10;        &lt;Text style={{ fontSize: 19, fontWeight: 'bold', color: '#E5EDF7' }}&gt;已发布&lt;/Text&gt;&#10;        &lt;Text style={{ fontSize: 15, color: '#94A3B8', lineHeight: 1.5, marginTop: 4 }}&gt;CANoe AI Package、4 个内置代理、Vector Knowledge Server、MCP 接口；需 CANoe 20 SP2。&lt;/Text&gt;&#10;      &lt;/Box&gt;&#10;      &lt;Box style={{ background: '#16203A', borderRadius: 10, padding: 14, borderLeft: '4px solid #F97316' }}&gt;&#10;        &lt;Text style={{ fontSize: 19, fontWeight: 'bold', color: '#E5EDF7' }}&gt;2026 年底前&lt;/Text&gt;&#10;        &lt;Text style={{ fontSize: 15, color: '#94A3B8', lineHeight: 1.5, marginTop: 4 }}&gt;更多内置代理、更多 MCP 服务器；Knowledge Server 扩展知识源与检索。&lt;/Text&gt;&#10;      &lt;/Box&gt;&#10;      &lt;Box style={{ height: 290, background: '#16203A', borderRadius: 12, padding: 6, justifyContent: 'center' }}&gt;&#10;        &lt;Image src=&quot;assets/ai_roadmap_detail.png&quot; style={{ width: '100%', height: '100%', objectFit: 'contain' }} /&gt;&#10;      &lt;/Box&gt;&#10;    &lt;/Box&gt;&#10;  &lt;/Box&gt;&#10;  &lt;Box style={{ height: 40, flexDirection: 'row', justifyContent: 'space-between', alignItems: 'center' }}&gt;&#10;    &lt;Text style={{ fontSize: 14, color: '#94A3B8' }}&gt;Vector CANoe AI · 研讨会分享&lt;/Text&gt;&#10;    &lt;Text style={{ fontSize: 14, color: '#94A3B8' }}&gt;20 / 2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产品路线图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持续演进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1143000"/>
            <a:ext cx="5762625" cy="3314700"/>
          </a:xfrm>
          <a:prstGeom prst="roundRect">
            <a:avLst>
              <a:gd name="adj" fmla="val 3448"/>
            </a:avLst>
          </a:prstGeom>
          <a:solidFill>
            <a:srgbClr val="16203A"/>
          </a:solidFill>
          <a:ln/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 r:embed="rId1"/>
          <a:srcRect l="0" t="408" r="0" b="408"/>
          <a:stretch>
            <a:fillRect/>
          </a:stretch>
        </p:blipFill>
        <p:spPr>
          <a:xfrm rot="0" flipH="0" flipV="0">
            <a:off x="723900" y="1257300"/>
            <a:ext cx="5534025" cy="3086100"/>
          </a:xfrm>
          <a:prstGeom prst="rect">
            <a:avLst/>
          </a:prstGeom>
          <a:ln/>
        </p:spPr>
      </p:pic>
      <p:sp>
        <p:nvSpPr>
          <p:cNvPr id="221" name=""/>
          <p:cNvSpPr/>
          <p:nvPr/>
        </p:nvSpPr>
        <p:spPr>
          <a:xfrm rot="0" flipH="0" flipV="0">
            <a:off x="609600" y="4572000"/>
            <a:ext cx="5762625" cy="171450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54578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图：路线图总览——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能力随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版本分阶段交付，从基础代理到代理式编排逐步深入。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715125" y="1143000"/>
            <a:ext cx="4905375" cy="1038225"/>
          </a:xfrm>
          <a:prstGeom prst="roundRect">
            <a:avLst>
              <a:gd name="adj" fmla="val 9174"/>
            </a:avLst>
          </a:prstGeom>
          <a:solidFill>
            <a:srgbClr val="16203A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6715125" y="1143000"/>
            <a:ext cx="4905375" cy="1038225"/>
          </a:xfrm>
          <a:custGeom>
            <a:pathLst>
              <a:path w="515" h="10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3"/>
                </a:lnTo>
                <a:cubicBezTo>
                  <a:pt x="4" y="106"/>
                  <a:pt x="6" y="108"/>
                  <a:pt x="9" y="109"/>
                </a:cubicBezTo>
                <a:cubicBezTo>
                  <a:pt x="4" y="108"/>
                  <a:pt x="0" y="104"/>
                  <a:pt x="0" y="9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48475" y="1276350"/>
            <a:ext cx="4600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5EDF7"/>
                </a:solidFill>
                <a:latin typeface="Microsoft YaHei"/>
                <a:ea typeface="Microsoft YaHei"/>
              </a:rPr>
              <a:t>已发布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848475" y="1533525"/>
            <a:ext cx="4600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CANoe AI Package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个内置代理、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Vector Knowledge Server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接口；需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20 SP2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715125" y="2333625"/>
            <a:ext cx="4905375" cy="1038225"/>
          </a:xfrm>
          <a:prstGeom prst="roundRect">
            <a:avLst>
              <a:gd name="adj" fmla="val 9174"/>
            </a:avLst>
          </a:prstGeom>
          <a:solidFill>
            <a:srgbClr val="16203A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715125" y="2333625"/>
            <a:ext cx="4905375" cy="1038225"/>
          </a:xfrm>
          <a:custGeom>
            <a:pathLst>
              <a:path w="515" h="10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03"/>
                </a:lnTo>
                <a:cubicBezTo>
                  <a:pt x="4" y="106"/>
                  <a:pt x="6" y="108"/>
                  <a:pt x="9" y="109"/>
                </a:cubicBezTo>
                <a:cubicBezTo>
                  <a:pt x="4" y="108"/>
                  <a:pt x="0" y="104"/>
                  <a:pt x="0" y="9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848475" y="2466975"/>
            <a:ext cx="4600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425" b="1">
                <a:solidFill>
                  <a:srgbClr val="E5EDF7"/>
                </a:solidFill>
                <a:latin typeface="Microsoft YaHei"/>
                <a:ea typeface="Microsoft YaHei"/>
              </a:rPr>
              <a:t>年底前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848475" y="2724150"/>
            <a:ext cx="46005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更多内置代理、更多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服务器；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Knowledge Server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扩展知识源与检索。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677025" y="3524250"/>
            <a:ext cx="4905375" cy="2762250"/>
          </a:xfrm>
          <a:prstGeom prst="roundRect">
            <a:avLst>
              <a:gd name="adj" fmla="val 4138"/>
            </a:avLst>
          </a:prstGeom>
          <a:solidFill>
            <a:srgbClr val="16203A"/>
          </a:solidFill>
          <a:ln/>
        </p:spPr>
        <p:txBody>
          <a:bodyPr/>
          <a:p/>
        </p:txBody>
      </p:sp>
      <p:pic>
        <p:nvPicPr>
          <p:cNvPr id="232" name=""/>
          <p:cNvPicPr>
            <a:picLocks noChangeAspect="1"/>
          </p:cNvPicPr>
          <p:nvPr/>
        </p:nvPicPr>
        <p:blipFill>
          <a:blip r:embed="rId2"/>
          <a:srcRect l="0" t="1363" r="0" b="1363"/>
          <a:stretch>
            <a:fillRect/>
          </a:stretch>
        </p:blipFill>
        <p:spPr>
          <a:xfrm rot="0" flipH="0" flipV="0">
            <a:off x="6734175" y="3581400"/>
            <a:ext cx="4791075" cy="2647950"/>
          </a:xfrm>
          <a:prstGeom prst="rect">
            <a:avLst/>
          </a:prstGeom>
          <a:ln/>
        </p:spPr>
      </p:pic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精选问答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现场真实提问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2004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聊天区共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95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条消息、跨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15:07–16:08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，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David Kruse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回复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26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次。此处精选</a:t>
            </a:r>
            <a:r>
              <a:rPr lang="en-US" sz="1500">
                <a:solidFill>
                  <a:srgbClr val="94A3B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条高频问答，均按原话整理。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47700" y="3848100"/>
            <a:ext cx="3200400" cy="1381125"/>
          </a:xfrm>
          <a:prstGeom prst="roundRect">
            <a:avLst>
              <a:gd name="adj" fmla="val 6897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47700" y="3848100"/>
            <a:ext cx="3200400" cy="1381125"/>
          </a:xfrm>
          <a:custGeom>
            <a:pathLst>
              <a:path w="336" h="1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39"/>
                </a:lnTo>
                <a:cubicBezTo>
                  <a:pt x="4" y="142"/>
                  <a:pt x="6" y="144"/>
                  <a:pt x="9" y="145"/>
                </a:cubicBezTo>
                <a:cubicBezTo>
                  <a:pt x="4" y="144"/>
                  <a:pt x="0" y="140"/>
                  <a:pt x="0" y="1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5EDF7"/>
                </a:solidFill>
                <a:latin typeface="Microsoft YaHei"/>
                <a:ea typeface="Microsoft YaHei"/>
              </a:rPr>
              <a:t>提示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00100" y="4248150"/>
            <a:ext cx="28575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另有若干提问未获回复：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token/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调用次数、面板自动生成、许可证费用、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&lt;20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版本兼容等。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114800" y="1476375"/>
            <a:ext cx="7467600" cy="666750"/>
          </a:xfrm>
          <a:prstGeom prst="roundRect">
            <a:avLst>
              <a:gd name="adj" fmla="val 14286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248150" y="1571625"/>
            <a:ext cx="720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Q1 · MCP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需要单独购买吗？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248150" y="1790700"/>
            <a:ext cx="7200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随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>
                <a:solidFill>
                  <a:srgbClr val="E5EDF7"/>
                </a:solidFill>
                <a:latin typeface="Microsoft YaHei"/>
                <a:ea typeface="Microsoft YaHei"/>
              </a:rPr>
              <a:t>CANoe 20 SP2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一同提供，用普通授权即可，无需单独购买。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4114800" y="2238375"/>
            <a:ext cx="7467600" cy="666750"/>
          </a:xfrm>
          <a:prstGeom prst="roundRect">
            <a:avLst>
              <a:gd name="adj" fmla="val 14286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248150" y="2333625"/>
            <a:ext cx="720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Q2 ·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支持哪个版本？旧版能用吗？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248150" y="2552700"/>
            <a:ext cx="7200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自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20 SP2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起；旧版（如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CANoe 17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r>
              <a:rPr lang="zh-CN" sz="1125">
                <a:solidFill>
                  <a:srgbClr val="E5EDF7"/>
                </a:solidFill>
                <a:latin typeface="Microsoft YaHei"/>
                <a:ea typeface="Microsoft YaHei"/>
              </a:rPr>
              <a:t>不提供</a:t>
            </a:r>
            <a:r>
              <a:rPr lang="en-US" sz="1125">
                <a:solidFill>
                  <a:srgbClr val="E5EDF7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E5EDF7"/>
                </a:solidFill>
                <a:latin typeface="Microsoft YaHei"/>
                <a:ea typeface="Microsoft YaHei"/>
              </a:rPr>
              <a:t>接口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，不支持。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4114800" y="3000375"/>
            <a:ext cx="7467600" cy="666750"/>
          </a:xfrm>
          <a:prstGeom prst="roundRect">
            <a:avLst>
              <a:gd name="adj" fmla="val 14286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248150" y="3095625"/>
            <a:ext cx="720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Q3 ·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我的数据会被怎么处理？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248150" y="3314700"/>
            <a:ext cx="7200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E5EDF7"/>
                </a:solidFill>
                <a:latin typeface="Microsoft YaHei"/>
                <a:ea typeface="Microsoft YaHei"/>
              </a:rPr>
              <a:t>数据不在</a:t>
            </a:r>
            <a:r>
              <a:rPr lang="en-US" sz="1125">
                <a:solidFill>
                  <a:srgbClr val="E5EDF7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125">
                <a:solidFill>
                  <a:srgbClr val="E5EDF7"/>
                </a:solidFill>
                <a:latin typeface="Microsoft YaHei"/>
                <a:ea typeface="Microsoft YaHei"/>
              </a:rPr>
              <a:t>服务器上处理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；由你决定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可读哪些文件、选哪家供应商。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4114800" y="3762375"/>
            <a:ext cx="7467600" cy="666750"/>
          </a:xfrm>
          <a:prstGeom prst="roundRect">
            <a:avLst>
              <a:gd name="adj" fmla="val 14286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248150" y="3857625"/>
            <a:ext cx="720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Q4 ·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知识服务器能自托管</a:t>
            </a: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加自定义内容吗？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248150" y="4076700"/>
            <a:ext cx="7200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不能自托管（由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Vector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托管）；自定义内容请自建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>
                <a:solidFill>
                  <a:srgbClr val="E5EDF7"/>
                </a:solidFill>
                <a:latin typeface="Microsoft YaHei"/>
                <a:ea typeface="Microsoft YaHei"/>
              </a:rPr>
              <a:t>Skills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注册到你的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运行时。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4114800" y="4524375"/>
            <a:ext cx="7467600" cy="666750"/>
          </a:xfrm>
          <a:prstGeom prst="roundRect">
            <a:avLst>
              <a:gd name="adj" fmla="val 14286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248150" y="4619625"/>
            <a:ext cx="720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Q5 ·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能改写</a:t>
            </a: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自动生成</a:t>
            </a:r>
            <a:r>
              <a:rPr lang="en-US" sz="1275" b="1">
                <a:solidFill>
                  <a:srgbClr val="38BDF8"/>
                </a:solidFill>
                <a:latin typeface="Microsoft YaHei"/>
                <a:ea typeface="Microsoft YaHei"/>
              </a:rPr>
              <a:t xml:space="preserve"> CAPL </a:t>
            </a:r>
            <a:r>
              <a:rPr lang="zh-CN" sz="1275" b="1">
                <a:solidFill>
                  <a:srgbClr val="38BDF8"/>
                </a:solidFill>
                <a:latin typeface="Microsoft YaHei"/>
                <a:ea typeface="Microsoft YaHei"/>
              </a:rPr>
              <a:t>吗？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248150" y="4838700"/>
            <a:ext cx="72009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可以。改写现有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 CAPL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、从需求自动生成测试脚本都是典型用例。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4152900" y="5286375"/>
            <a:ext cx="7467600" cy="666750"/>
          </a:xfrm>
          <a:prstGeom prst="roundRect">
            <a:avLst>
              <a:gd name="adj" fmla="val 14286"/>
            </a:avLst>
          </a:prstGeom>
          <a:solidFill>
            <a:srgbClr val="1C274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152900" y="5286375"/>
            <a:ext cx="7467600" cy="666750"/>
          </a:xfrm>
          <a:custGeom>
            <a:pathLst>
              <a:path w="784" h="70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64"/>
                </a:lnTo>
                <a:cubicBezTo>
                  <a:pt x="4" y="67"/>
                  <a:pt x="6" y="69"/>
                  <a:pt x="9" y="70"/>
                </a:cubicBezTo>
                <a:cubicBezTo>
                  <a:pt x="4" y="69"/>
                  <a:pt x="0" y="65"/>
                  <a:pt x="0" y="6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286250" y="5381625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Q6 · </a:t>
            </a: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能接</a:t>
            </a:r>
            <a:r>
              <a:rPr lang="en-US" sz="1275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 ALM</a:t>
            </a: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（</a:t>
            </a:r>
            <a:r>
              <a:rPr lang="en-US" sz="1275" b="1">
                <a:solidFill>
                  <a:srgbClr val="F97316"/>
                </a:solidFill>
                <a:latin typeface="Microsoft YaHei"/>
                <a:ea typeface="Microsoft YaHei"/>
              </a:rPr>
              <a:t>Polarion</a:t>
            </a: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）</a:t>
            </a:r>
            <a:r>
              <a:rPr lang="en-US" sz="1275" b="1">
                <a:solidFill>
                  <a:srgbClr val="F97316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1275" b="1">
                <a:solidFill>
                  <a:srgbClr val="F97316"/>
                </a:solidFill>
                <a:latin typeface="Microsoft YaHei"/>
                <a:ea typeface="Microsoft YaHei"/>
              </a:rPr>
              <a:t>外部工具吗？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286250" y="5600700"/>
            <a:ext cx="7162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可以。</a:t>
            </a: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协同使用</a:t>
            </a:r>
            <a:r>
              <a:rPr lang="zh-CN" sz="1125">
                <a:solidFill>
                  <a:srgbClr val="E5EDF7"/>
                </a:solidFill>
                <a:latin typeface="Microsoft YaHei"/>
                <a:ea typeface="Microsoft YaHei"/>
              </a:rPr>
              <a:t>多个</a:t>
            </a:r>
            <a:r>
              <a:rPr lang="en-US" sz="1125">
                <a:solidFill>
                  <a:srgbClr val="E5EDF7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E5EDF7"/>
                </a:solidFill>
                <a:latin typeface="Microsoft YaHei"/>
                <a:ea typeface="Microsoft YaHei"/>
              </a:rPr>
              <a:t>服务器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，跨工具完成复杂用例。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190500"/>
            <a:ext cx="11029950" cy="952500"/>
          </a:xfrm>
          <a:custGeom>
            <a:pathLst>
              <a:path w="1158" h="100">
                <a:moveTo>
                  <a:pt x="0" y="0"/>
                </a:moveTo>
                <a:lnTo>
                  <a:pt x="6" y="0"/>
                </a:lnTo>
                <a:lnTo>
                  <a:pt x="6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38200" y="476250"/>
            <a:ext cx="10744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术语表</a:t>
            </a:r>
            <a:r>
              <a:rPr lang="en-US" sz="2550" b="1">
                <a:solidFill>
                  <a:srgbClr val="E5EDF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E5EDF7"/>
                </a:solidFill>
                <a:latin typeface="Microsoft YaHei"/>
                <a:ea typeface="Microsoft YaHei"/>
              </a:rPr>
              <a:t>不再被机翻误导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2771775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94A3B8"/>
                </a:solidFill>
                <a:latin typeface="Microsoft YaHei"/>
                <a:ea typeface="Microsoft YaHei"/>
              </a:rPr>
              <a:t>整理自研讨会口径，修正了转录中的机翻错译，便于团队统一用语。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47700" y="3800475"/>
            <a:ext cx="2771775" cy="1104900"/>
          </a:xfrm>
          <a:prstGeom prst="roundRect">
            <a:avLst>
              <a:gd name="adj" fmla="val 8621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47700" y="3800475"/>
            <a:ext cx="2771775" cy="1104900"/>
          </a:xfrm>
          <a:custGeom>
            <a:pathLst>
              <a:path w="291" h="116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10"/>
                </a:lnTo>
                <a:cubicBezTo>
                  <a:pt x="4" y="113"/>
                  <a:pt x="6" y="115"/>
                  <a:pt x="9" y="116"/>
                </a:cubicBezTo>
                <a:cubicBezTo>
                  <a:pt x="4" y="115"/>
                  <a:pt x="0" y="111"/>
                  <a:pt x="0" y="10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2428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5EDF7"/>
                </a:solidFill>
                <a:latin typeface="Microsoft YaHei"/>
                <a:ea typeface="Microsoft YaHei"/>
              </a:rPr>
              <a:t>读法提示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00100" y="4200525"/>
            <a:ext cx="24288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CANoe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读作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卡诺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读作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维克托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，不要按字面硬译。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686175" y="1143000"/>
            <a:ext cx="7896225" cy="5143500"/>
          </a:xfrm>
          <a:prstGeom prst="roundRect">
            <a:avLst>
              <a:gd name="adj" fmla="val 2222"/>
            </a:avLst>
          </a:prstGeom>
          <a:solidFill>
            <a:srgbClr val="16203A"/>
          </a:solidFill>
          <a:ln/>
        </p:spPr>
        <p:txBody>
          <a:bodyPr/>
          <a:p>
            <a:pPr/>
            <a:endParaRPr/>
          </a:p>
        </p:txBody>
      </p:sp>
      <p:graphicFrame>
        <p:nvGraphicFramePr>
          <p:cNvPr id="275" name=""/>
          <p:cNvGraphicFramePr/>
          <p:nvPr/>
        </p:nvGraphicFramePr>
        <p:xfrm rot="0" flipH="0" flipV="0">
          <a:off x="3838575" y="1295400"/>
          <a:ext cx="7591425" cy="4838700"/>
        </p:xfrm>
        <a:graphic>
          <a:graphicData uri="http://schemas.openxmlformats.org/drawingml/2006/table">
            <a:tbl>
              <a:tblGrid>
                <a:gridCol w="1617694">
                  <a:extLst>
                    <a:ext uri="{9D8B030D-6E8A-4147-A177-3AD203B41FA5}">
                      <a16:colId val="1"/>
                    </a:ext>
                  </a:extLst>
                </a:gridCol>
                <a:gridCol w="2192976">
                  <a:extLst>
                    <a:ext uri="{9D8B030D-6E8A-4147-A177-3AD203B41FA5}">
                      <a16:colId val="2"/>
                    </a:ext>
                  </a:extLst>
                </a:gridCol>
                <a:gridCol w="378075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</a:rPr>
                        <a:t>术语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</a:rPr>
                        <a:t>英文 / 缩写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CANoe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CANoe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Vector 汽车总线开发与测试软件（非"独木舟"）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Vector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Vector Informatik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德国汽车软件供应商，CANoe 出品方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MCP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Model Context Protocol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模型上下文协议：LLM 经标准接口读写 CANoe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LLM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Large Language Model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大语言模型（非"法学硕士"）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Token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Token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模型最小处理单元（非"手续费"）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Harness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AI Harness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AI 运行时/宿主，承载 LLM 与工具调用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Orchestrator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Orchestrator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编排器：协调多个代理完成复杂工作流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BYOM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Bring Your Own Model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自带模型：接入自有/第三方 LLM 端点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Knowledge Server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Vector Knowledge Server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知识服务器：为 LLM 提供领域检索增强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439882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AI Package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CANoe AI Package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E5EDF7"/>
                          </a:solidFill>
                          <a:latin typeface="Microsoft YaHei"/>
                          <a:ea typeface="Microsoft YaHei"/>
                        </a:rPr>
                        <a:t>插件包：代理 + 技能 + MCP 服务器 + 文档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03A"/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8382000" y="-762000"/>
            <a:ext cx="4572000" cy="4572000"/>
          </a:xfrm>
          <a:prstGeom prst="rect">
            <a:avLst/>
          </a:prstGeom>
          <a:gradFill>
            <a:gsLst>
              <a:gs pos="0">
                <a:srgbClr val="F97316">
                  <a:alpha val="14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-952500" y="3429000"/>
            <a:ext cx="4381500" cy="4381500"/>
          </a:xfrm>
          <a:prstGeom prst="rect">
            <a:avLst/>
          </a:prstGeom>
          <a:gradFill>
            <a:gsLst>
              <a:gs pos="0">
                <a:srgbClr val="38BDF8">
                  <a:alpha val="12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715000" y="2124075"/>
            <a:ext cx="7620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619500" y="2447925"/>
            <a:ext cx="49530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E5EDF7"/>
                </a:solidFill>
                <a:latin typeface="Microsoft YaHei"/>
                <a:ea typeface="Microsoft YaHei"/>
              </a:rPr>
              <a:t>把重复劳动交给代理，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867150" y="3286125"/>
            <a:ext cx="44577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900" b="1">
                <a:solidFill>
                  <a:srgbClr val="38BDF8"/>
                </a:solidFill>
                <a:latin typeface="Microsoft YaHei"/>
                <a:ea typeface="Microsoft YaHei"/>
              </a:rPr>
              <a:t>把判断留给工程师。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2466975" y="4333875"/>
            <a:ext cx="7258050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1650">
                <a:solidFill>
                  <a:srgbClr val="94A3B8"/>
                </a:solidFill>
                <a:latin typeface="Microsoft YaHei"/>
                <a:ea typeface="Microsoft YaHei"/>
              </a:rPr>
              <a:t xml:space="preserve">CANoe + AI + MCP </a:t>
            </a:r>
            <a:r>
              <a:rPr lang="zh-CN" sz="1650">
                <a:solidFill>
                  <a:srgbClr val="94A3B8"/>
                </a:solidFill>
                <a:latin typeface="Microsoft YaHei"/>
                <a:ea typeface="Microsoft YaHei"/>
              </a:rPr>
              <a:t>不是替代，而是把工程师从繁琐配置与脚本中解放出来。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6200775"/>
            <a:ext cx="10972800" cy="342900"/>
          </a:xfrm>
          <a:custGeom>
            <a:pathLst>
              <a:path w="1152" h="36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634365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Vector CANoe AI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研讨会分享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391775" y="6343650"/>
            <a:ext cx="1190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谢谢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Thank You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2026-10-13T20:07:01Z</dcterms:created>
  <dcterms:modified xsi:type="dcterms:W3CDTF">2026-10-13T20:07:01Z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{"AIGC":{"Label":"1","ContentProducer":"00119111010856365494821B355","ProduceID":"01a1346f8e657c1fb3e31601811bc0fb","ReservedCode1":"","ContentPropagator":"00119111010856365494821B355","PropagateID":"01a1346f8e657c1fb3e31601811bc0fb","ReservedCode2":""}}</vt:lpwstr>
  </property>
</Properties>
</file>